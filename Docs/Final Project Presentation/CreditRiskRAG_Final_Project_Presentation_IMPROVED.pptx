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CreditRiskRAG is our end-to-end credit-risk prototype. The core idea is simple: a risk score is only useful if the organization can explain it, govern it, and trace it back to evidence. In five minutes, we will cover why this matters, what prior work inspired us, how we processed data, what models and AI methods we used, what the system can do, and then show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Credit-risk modeling has a high bar because it touches real people and real money. A lender needs to rank default risk, but a borrower and a reviewer need to understand the principal reasons behind a decision. From a senior ML engineering perspective, the product is not just a classifier; it is a decision trace. Our system connects four layers: a leakage-aware default-risk model, calibrated probabilities for policy decisions, SHAP reason extraction for borrower-level drivers, and regulatory retrieval before drafting adverse-action-style text. We are deliberately positioning this as decision support and a research prototype, not as automated lending or compliance-approved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pieces of related work shaped our design. First, Lessmann and colleagues showed that credit-scoring models should be evaluated as a benchmarked decision problem, not a one-metric competition. That is why we compared several model families and also looked at PR-AUC, calibration, review volume, and economic operating policy. Second, Lewis and colleagues introduced retrieval-augmented generation: generate with external evidence instead of relying only on a language model’s memory. We adapted that idea to consumer-credit regulations. SHAP gave us the bridge between model behavior and applicant-readable reasons. In other words: credit-risk benchmarking guided the model layer; RAG guided the explanation layer; SHAP connected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work was built around one governance principle: only use information that would be available at decision time. We started with LendingClub accepted-loan records from 2007 through 2018. Rejected applications were not used for supervised default prediction because they do not have repayment outcomes. We removed current or unresolved loans, then created a target only from completed outcomes. Splits were chronological: training first, validation next, and a future-period test set last. We parsed percent fields, normalized term and employment length, created mean FICO and credit-history age, fit preprocessing only on the training period, and one-hot encoded low-cardinality categoricals. We excluded post-origination payments, recoveries, servicing, hardship, settlement, last-FICO, and last-credit-pull fields because those would leak future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methods layer is a controlled pipeline. We benchmarked logistic regression, random forest, histogram gradient boosting, LightGBM, XGBoost, and CatBoost. LightGBM was a strong statistical candidate, but we selected neutral XGBoost for the final governed workflow because it gave strong ranking, stable probabilities after calibration, and mature SHAP tooling. We removed LendingClub grade and subgrade to avoid over-reliance on explicit platform risk buckets, while retaining interest rate as an accepted-loan pricing signal. We used Platt calibration before thresholding, then capped the review or reject share around twenty percent so the operating policy stayed realistic. For the RAG layer, SHAP selected borrower-level reasons, retrieval searched 70 citation-preserving regulatory chunks using MiniLM plus BM25 and reciprocal-rank fusion, and a separate blind judge scored RAG against a no-RAG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model did what a good credit-risk triage model should do: concentrate losses in a limited review queue. On the future test period, the preferred model’s test PR-AUC was about 0.381. The more important operating result is that the riskiest 20 percent had about a 40 percent bad rate, compared with a 21 percent base bad rate. That is about 1.9 times concentration and captures about 38 percent of all defaults inside a manageable review segment. Under the capped policy, about 19.5 percent of loans were flagged, and the remaining approved group had a lower bad rate. The key lesson is that calibrated ranking plus policy constraints is more useful than a raw accuracy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explanation experiment, we generated five RAG letters and five no-RAG controls from the same SHAP-selected reasons. Both modes preserved the selected reasons and handled the FCRA sixty-day window and ECOA language. Retrieval improved the harder legal-specificity checks: agency naming and other legal-error checks moved from zero to 0.40. Overall statutory-accuracy score increased from 0.60 to 0.76. That is encouraging, but not a production claim. The sample is small, and some letters still had placeholder issues. The right conclusion is that retrieval improves grounding, but a production system would need deterministic validators, larger evaluation, and compliance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demo, I will switch to the live site. The first tab, Overview, shows the full chain: XGBoost risk score, SHAP reasons, regulatory retrieval, RAG letter generation, and blind evaluation. The Letters tab lets us compare a RAG and no-RAG letter for the same borrower using the same reasons, which is important for a fair comparison. The Evaluation tab shows the rubric-level result, including the 0.60 versus 0.76 statutory-accuracy score. The demo is static and reproducible: it renders saved project artifacts rather than making live API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takeaway is that the classifier was only one layer of the solution. What makes this project stronger is the decision trace: leakage-aware data, calibrated risk ranking, capped operating policy, SHAP explanations, regulatory retrieval, and explicit evaluation. If we were hardening this like a production credit-risk system, the next steps would be larger validation, fairness and proxy-risk review, deterministic legal-field validators, monitoring for drift, and human compliance sign-off. CreditRiskRAG shows how to turn a default-risk score into an auditable explanation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lindaperez.github.io/CreditRiskRAG/" TargetMode="Externa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024"/>
        </a:solidFill>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8D9F2">
              <a:alpha val="45000"/>
            </a:srgbClr>
          </a:solidFill>
          <a:ln w="12700">
            <a:solidFill>
              <a:srgbClr val="FFFFFF">
                <a:alpha val="0"/>
              </a:srgbClr>
            </a:solidFill>
            <a:prstDash val="solid"/>
          </a:ln>
        </p:spPr>
      </p:sp>
      <p:sp>
        <p:nvSpPr>
          <p:cNvPr id="3" name="Shape 1"/>
          <p:cNvSpPr/>
          <p:nvPr/>
        </p:nvSpPr>
        <p:spPr>
          <a:xfrm>
            <a:off x="0" y="6821424"/>
            <a:ext cx="12191695" cy="36576"/>
          </a:xfrm>
          <a:prstGeom prst="rect">
            <a:avLst/>
          </a:prstGeom>
          <a:solidFill>
            <a:srgbClr val="3A7AFE">
              <a:alpha val="30000"/>
            </a:srgbClr>
          </a:solidFill>
          <a:ln w="12700">
            <a:solidFill>
              <a:srgbClr val="FFFFFF">
                <a:alpha val="0"/>
              </a:srgbClr>
            </a:solidFill>
            <a:prstDash val="solid"/>
          </a:ln>
        </p:spPr>
      </p:sp>
      <p:sp>
        <p:nvSpPr>
          <p:cNvPr id="4" name="Text 2"/>
          <p:cNvSpPr/>
          <p:nvPr/>
        </p:nvSpPr>
        <p:spPr>
          <a:xfrm>
            <a:off x="594360" y="502920"/>
            <a:ext cx="2423160" cy="164592"/>
          </a:xfrm>
          <a:prstGeom prst="rect">
            <a:avLst/>
          </a:prstGeom>
          <a:noFill/>
          <a:ln/>
        </p:spPr>
        <p:txBody>
          <a:bodyPr wrap="square" lIns="0" tIns="0" rIns="0" bIns="0" rtlCol="0" anchor="ctr"/>
          <a:lstStyle/>
          <a:p>
            <a:pPr indent="0" marL="0">
              <a:buNone/>
            </a:pPr>
            <a:r>
              <a:rPr lang="en-US" sz="760" b="1" spc="125" kern="0" dirty="0">
                <a:solidFill>
                  <a:srgbClr val="38D9F2"/>
                </a:solidFill>
              </a:rPr>
              <a:t>CS 6140 FINAL PROJECT</a:t>
            </a:r>
            <a:endParaRPr lang="en-US" sz="760" dirty="0"/>
          </a:p>
        </p:txBody>
      </p:sp>
      <p:sp>
        <p:nvSpPr>
          <p:cNvPr id="5" name="Text 3"/>
          <p:cNvSpPr/>
          <p:nvPr/>
        </p:nvSpPr>
        <p:spPr>
          <a:xfrm>
            <a:off x="594360" y="1097280"/>
            <a:ext cx="5715000" cy="603504"/>
          </a:xfrm>
          <a:prstGeom prst="rect">
            <a:avLst/>
          </a:prstGeom>
          <a:noFill/>
          <a:ln/>
        </p:spPr>
        <p:txBody>
          <a:bodyPr wrap="square" lIns="0" tIns="0" rIns="0" bIns="0" rtlCol="0" anchor="ctr"/>
          <a:lstStyle/>
          <a:p>
            <a:pPr indent="0" marL="0">
              <a:buNone/>
            </a:pPr>
            <a:r>
              <a:rPr lang="en-US" sz="4200" b="1" dirty="0">
                <a:solidFill>
                  <a:srgbClr val="F8FAFF"/>
                </a:solidFill>
                <a:latin typeface="Aptos Display" pitchFamily="34" charset="0"/>
                <a:ea typeface="Aptos Display" pitchFamily="34" charset="-122"/>
                <a:cs typeface="Aptos Display" pitchFamily="34" charset="-120"/>
              </a:rPr>
              <a:t>CreditRiskRAG</a:t>
            </a:r>
            <a:endParaRPr lang="en-US" sz="4200" dirty="0"/>
          </a:p>
        </p:txBody>
      </p:sp>
      <p:sp>
        <p:nvSpPr>
          <p:cNvPr id="6" name="Text 4"/>
          <p:cNvSpPr/>
          <p:nvPr/>
        </p:nvSpPr>
        <p:spPr>
          <a:xfrm>
            <a:off x="621792" y="1828800"/>
            <a:ext cx="6720840" cy="384048"/>
          </a:xfrm>
          <a:prstGeom prst="rect">
            <a:avLst/>
          </a:prstGeom>
          <a:noFill/>
          <a:ln/>
        </p:spPr>
        <p:txBody>
          <a:bodyPr wrap="square" lIns="0" tIns="0" rIns="0" bIns="0" rtlCol="0" anchor="ctr"/>
          <a:lstStyle/>
          <a:p>
            <a:pPr indent="0" marL="0">
              <a:buNone/>
            </a:pPr>
            <a:r>
              <a:rPr lang="en-US" sz="2000" b="1" dirty="0">
                <a:solidFill>
                  <a:srgbClr val="E8EDFA"/>
                </a:solidFill>
              </a:rPr>
              <a:t>A credit-risk decision trace: score → reasons → evidence → auditable draft</a:t>
            </a:r>
            <a:endParaRPr lang="en-US" sz="2000" dirty="0"/>
          </a:p>
        </p:txBody>
      </p:sp>
      <p:sp>
        <p:nvSpPr>
          <p:cNvPr id="7" name="Shape 5"/>
          <p:cNvSpPr/>
          <p:nvPr/>
        </p:nvSpPr>
        <p:spPr>
          <a:xfrm>
            <a:off x="621792" y="2359152"/>
            <a:ext cx="5303520" cy="0"/>
          </a:xfrm>
          <a:prstGeom prst="line">
            <a:avLst/>
          </a:prstGeom>
          <a:noFill/>
          <a:ln w="25400">
            <a:solidFill>
              <a:srgbClr val="38D9F2">
                <a:alpha val="80000"/>
              </a:srgbClr>
            </a:solidFill>
            <a:prstDash val="solid"/>
          </a:ln>
        </p:spPr>
      </p:sp>
      <p:sp>
        <p:nvSpPr>
          <p:cNvPr id="8" name="Text 6"/>
          <p:cNvSpPr/>
          <p:nvPr/>
        </p:nvSpPr>
        <p:spPr>
          <a:xfrm>
            <a:off x="621792" y="5074920"/>
            <a:ext cx="6949440" cy="219456"/>
          </a:xfrm>
          <a:prstGeom prst="rect">
            <a:avLst/>
          </a:prstGeom>
          <a:noFill/>
          <a:ln/>
        </p:spPr>
        <p:txBody>
          <a:bodyPr wrap="square" lIns="0" tIns="0" rIns="0" bIns="0" rtlCol="0" anchor="ctr"/>
          <a:lstStyle/>
          <a:p>
            <a:pPr indent="0" marL="0">
              <a:buNone/>
            </a:pPr>
            <a:r>
              <a:rPr lang="en-US" sz="1350" b="1" dirty="0">
                <a:solidFill>
                  <a:srgbClr val="F8FAFF"/>
                </a:solidFill>
              </a:rPr>
              <a:t>Linda Perez Penaranda · Yashaswi Aryan · Siddharth Agarwal</a:t>
            </a:r>
            <a:endParaRPr lang="en-US" sz="1350" dirty="0"/>
          </a:p>
        </p:txBody>
      </p:sp>
      <p:sp>
        <p:nvSpPr>
          <p:cNvPr id="9" name="Text 7"/>
          <p:cNvSpPr/>
          <p:nvPr/>
        </p:nvSpPr>
        <p:spPr>
          <a:xfrm>
            <a:off x="621792" y="5413248"/>
            <a:ext cx="6217920" cy="182880"/>
          </a:xfrm>
          <a:prstGeom prst="rect">
            <a:avLst/>
          </a:prstGeom>
          <a:noFill/>
          <a:ln/>
        </p:spPr>
        <p:txBody>
          <a:bodyPr wrap="square" lIns="0" tIns="0" rIns="0" bIns="0" rtlCol="0" anchor="ctr"/>
          <a:lstStyle/>
          <a:p>
            <a:pPr indent="0" marL="0">
              <a:buNone/>
            </a:pPr>
            <a:r>
              <a:rPr lang="en-US" sz="980" dirty="0">
                <a:solidFill>
                  <a:srgbClr val="AAB5D6"/>
                </a:solidFill>
              </a:rPr>
              <a:t>Northeastern University · CS 6140 Machine Learning · Summer 2026</a:t>
            </a:r>
            <a:endParaRPr lang="en-US" sz="980" dirty="0"/>
          </a:p>
        </p:txBody>
      </p:sp>
      <p:sp>
        <p:nvSpPr>
          <p:cNvPr id="10" name="Shape 8"/>
          <p:cNvSpPr/>
          <p:nvPr/>
        </p:nvSpPr>
        <p:spPr>
          <a:xfrm>
            <a:off x="621792" y="5797296"/>
            <a:ext cx="1417320" cy="301752"/>
          </a:xfrm>
          <a:prstGeom prst="roundRect">
            <a:avLst>
              <a:gd name="adj" fmla="val 18182"/>
            </a:avLst>
          </a:prstGeom>
          <a:solidFill>
            <a:srgbClr val="F4C95D">
              <a:alpha val="25000"/>
            </a:srgbClr>
          </a:solidFill>
          <a:ln w="10160">
            <a:solidFill>
              <a:srgbClr val="F4C95D">
                <a:alpha val="55000"/>
              </a:srgbClr>
            </a:solidFill>
            <a:prstDash val="solid"/>
          </a:ln>
        </p:spPr>
      </p:sp>
      <p:sp>
        <p:nvSpPr>
          <p:cNvPr id="11" name="Text 9"/>
          <p:cNvSpPr/>
          <p:nvPr/>
        </p:nvSpPr>
        <p:spPr>
          <a:xfrm>
            <a:off x="676656" y="5865876"/>
            <a:ext cx="1307592" cy="137160"/>
          </a:xfrm>
          <a:prstGeom prst="rect">
            <a:avLst/>
          </a:prstGeom>
          <a:noFill/>
          <a:ln/>
        </p:spPr>
        <p:txBody>
          <a:bodyPr wrap="square" lIns="0" tIns="0" rIns="0" bIns="0" rtlCol="0" anchor="ctr"/>
          <a:lstStyle/>
          <a:p>
            <a:pPr algn="ctr" indent="0" marL="0">
              <a:buNone/>
            </a:pPr>
            <a:r>
              <a:rPr lang="en-US" sz="780" b="1" dirty="0">
                <a:solidFill>
                  <a:srgbClr val="F8FAFF"/>
                </a:solidFill>
              </a:rPr>
              <a:t>5 ± 1 MINUTES</a:t>
            </a:r>
            <a:endParaRPr lang="en-US" sz="780" dirty="0"/>
          </a:p>
        </p:txBody>
      </p:sp>
      <p:sp>
        <p:nvSpPr>
          <p:cNvPr id="12" name="Shape 10"/>
          <p:cNvSpPr/>
          <p:nvPr/>
        </p:nvSpPr>
        <p:spPr>
          <a:xfrm>
            <a:off x="7406640" y="914400"/>
            <a:ext cx="3977640" cy="4526280"/>
          </a:xfrm>
          <a:prstGeom prst="roundRect">
            <a:avLst>
              <a:gd name="adj" fmla="val 1379"/>
            </a:avLst>
          </a:prstGeom>
          <a:solidFill>
            <a:srgbClr val="111C42"/>
          </a:solidFill>
          <a:ln w="10160">
            <a:solidFill>
              <a:srgbClr val="3A7AFE">
                <a:alpha val="82000"/>
              </a:srgbClr>
            </a:solidFill>
            <a:prstDash val="solid"/>
          </a:ln>
          <a:effectLst>
            <a:outerShdw sx="100000" sy="100000" kx="0" ky="0" algn="bl" rotWithShape="0" blurRad="25400" dist="50800" dir="2700000">
              <a:srgbClr val="030716">
                <a:alpha val="18000"/>
              </a:srgbClr>
            </a:outerShdw>
          </a:effectLst>
        </p:spPr>
      </p:sp>
      <p:sp>
        <p:nvSpPr>
          <p:cNvPr id="13" name="Text 11"/>
          <p:cNvSpPr/>
          <p:nvPr/>
        </p:nvSpPr>
        <p:spPr>
          <a:xfrm>
            <a:off x="7818120" y="1325880"/>
            <a:ext cx="1920240" cy="201168"/>
          </a:xfrm>
          <a:prstGeom prst="rect">
            <a:avLst/>
          </a:prstGeom>
          <a:noFill/>
          <a:ln/>
        </p:spPr>
        <p:txBody>
          <a:bodyPr wrap="square" lIns="0" tIns="0" rIns="0" bIns="0" rtlCol="0" anchor="ctr"/>
          <a:lstStyle/>
          <a:p>
            <a:pPr indent="0" marL="0">
              <a:buNone/>
            </a:pPr>
            <a:r>
              <a:rPr lang="en-US" sz="1000" b="1" spc="120" kern="0" dirty="0">
                <a:solidFill>
                  <a:srgbClr val="38D9F2"/>
                </a:solidFill>
              </a:rPr>
              <a:t>decision trace</a:t>
            </a:r>
            <a:endParaRPr lang="en-US" sz="1000" dirty="0"/>
          </a:p>
        </p:txBody>
      </p:sp>
      <p:sp>
        <p:nvSpPr>
          <p:cNvPr id="14" name="Text 12"/>
          <p:cNvSpPr/>
          <p:nvPr/>
        </p:nvSpPr>
        <p:spPr>
          <a:xfrm>
            <a:off x="7818120" y="1783080"/>
            <a:ext cx="310896" cy="155448"/>
          </a:xfrm>
          <a:prstGeom prst="rect">
            <a:avLst/>
          </a:prstGeom>
          <a:noFill/>
          <a:ln/>
        </p:spPr>
        <p:txBody>
          <a:bodyPr wrap="square" lIns="0" tIns="0" rIns="0" bIns="0" rtlCol="0" anchor="ctr"/>
          <a:lstStyle/>
          <a:p>
            <a:pPr indent="0" marL="0">
              <a:buNone/>
            </a:pPr>
            <a:r>
              <a:rPr lang="en-US" sz="800" b="1" dirty="0">
                <a:solidFill>
                  <a:srgbClr val="38D9F2"/>
                </a:solidFill>
              </a:rPr>
              <a:t>01</a:t>
            </a:r>
            <a:endParaRPr lang="en-US" sz="800" dirty="0"/>
          </a:p>
        </p:txBody>
      </p:sp>
      <p:sp>
        <p:nvSpPr>
          <p:cNvPr id="15" name="Shape 13"/>
          <p:cNvSpPr/>
          <p:nvPr/>
        </p:nvSpPr>
        <p:spPr>
          <a:xfrm>
            <a:off x="8211312" y="1874520"/>
            <a:ext cx="365760" cy="0"/>
          </a:xfrm>
          <a:prstGeom prst="line">
            <a:avLst/>
          </a:prstGeom>
          <a:noFill/>
          <a:ln w="12700">
            <a:solidFill>
              <a:srgbClr val="2A3866"/>
            </a:solidFill>
            <a:prstDash val="solid"/>
          </a:ln>
        </p:spPr>
      </p:sp>
      <p:sp>
        <p:nvSpPr>
          <p:cNvPr id="16" name="Text 14"/>
          <p:cNvSpPr/>
          <p:nvPr/>
        </p:nvSpPr>
        <p:spPr>
          <a:xfrm>
            <a:off x="8668512" y="1746504"/>
            <a:ext cx="2194560" cy="201168"/>
          </a:xfrm>
          <a:prstGeom prst="rect">
            <a:avLst/>
          </a:prstGeom>
          <a:noFill/>
          <a:ln/>
        </p:spPr>
        <p:txBody>
          <a:bodyPr wrap="square" lIns="0" tIns="0" rIns="0" bIns="0" rtlCol="0" anchor="ctr"/>
          <a:lstStyle/>
          <a:p>
            <a:pPr indent="0" marL="0">
              <a:buNone/>
            </a:pPr>
            <a:r>
              <a:rPr lang="en-US" sz="1320" b="1" dirty="0">
                <a:solidFill>
                  <a:srgbClr val="F8FAFF"/>
                </a:solidFill>
              </a:rPr>
              <a:t>Risk score</a:t>
            </a:r>
            <a:endParaRPr lang="en-US" sz="1320" dirty="0"/>
          </a:p>
        </p:txBody>
      </p:sp>
      <p:sp>
        <p:nvSpPr>
          <p:cNvPr id="17" name="Text 15"/>
          <p:cNvSpPr/>
          <p:nvPr/>
        </p:nvSpPr>
        <p:spPr>
          <a:xfrm>
            <a:off x="7818120" y="2377440"/>
            <a:ext cx="310896" cy="155448"/>
          </a:xfrm>
          <a:prstGeom prst="rect">
            <a:avLst/>
          </a:prstGeom>
          <a:noFill/>
          <a:ln/>
        </p:spPr>
        <p:txBody>
          <a:bodyPr wrap="square" lIns="0" tIns="0" rIns="0" bIns="0" rtlCol="0" anchor="ctr"/>
          <a:lstStyle/>
          <a:p>
            <a:pPr indent="0" marL="0">
              <a:buNone/>
            </a:pPr>
            <a:r>
              <a:rPr lang="en-US" sz="800" b="1" dirty="0">
                <a:solidFill>
                  <a:srgbClr val="38D9F2"/>
                </a:solidFill>
              </a:rPr>
              <a:t>02</a:t>
            </a:r>
            <a:endParaRPr lang="en-US" sz="800" dirty="0"/>
          </a:p>
        </p:txBody>
      </p:sp>
      <p:sp>
        <p:nvSpPr>
          <p:cNvPr id="18" name="Shape 16"/>
          <p:cNvSpPr/>
          <p:nvPr/>
        </p:nvSpPr>
        <p:spPr>
          <a:xfrm>
            <a:off x="8211312" y="2468880"/>
            <a:ext cx="365760" cy="0"/>
          </a:xfrm>
          <a:prstGeom prst="line">
            <a:avLst/>
          </a:prstGeom>
          <a:noFill/>
          <a:ln w="12700">
            <a:solidFill>
              <a:srgbClr val="2A3866"/>
            </a:solidFill>
            <a:prstDash val="solid"/>
          </a:ln>
        </p:spPr>
      </p:sp>
      <p:sp>
        <p:nvSpPr>
          <p:cNvPr id="19" name="Text 17"/>
          <p:cNvSpPr/>
          <p:nvPr/>
        </p:nvSpPr>
        <p:spPr>
          <a:xfrm>
            <a:off x="8668512" y="2340864"/>
            <a:ext cx="2194560" cy="201168"/>
          </a:xfrm>
          <a:prstGeom prst="rect">
            <a:avLst/>
          </a:prstGeom>
          <a:noFill/>
          <a:ln/>
        </p:spPr>
        <p:txBody>
          <a:bodyPr wrap="square" lIns="0" tIns="0" rIns="0" bIns="0" rtlCol="0" anchor="ctr"/>
          <a:lstStyle/>
          <a:p>
            <a:pPr indent="0" marL="0">
              <a:buNone/>
            </a:pPr>
            <a:r>
              <a:rPr lang="en-US" sz="1320" b="1" dirty="0">
                <a:solidFill>
                  <a:srgbClr val="F8FAFF"/>
                </a:solidFill>
              </a:rPr>
              <a:t>SHAP reasons</a:t>
            </a:r>
            <a:endParaRPr lang="en-US" sz="1320" dirty="0"/>
          </a:p>
        </p:txBody>
      </p:sp>
      <p:sp>
        <p:nvSpPr>
          <p:cNvPr id="20" name="Text 18"/>
          <p:cNvSpPr/>
          <p:nvPr/>
        </p:nvSpPr>
        <p:spPr>
          <a:xfrm>
            <a:off x="7818120" y="2971800"/>
            <a:ext cx="310896" cy="155448"/>
          </a:xfrm>
          <a:prstGeom prst="rect">
            <a:avLst/>
          </a:prstGeom>
          <a:noFill/>
          <a:ln/>
        </p:spPr>
        <p:txBody>
          <a:bodyPr wrap="square" lIns="0" tIns="0" rIns="0" bIns="0" rtlCol="0" anchor="ctr"/>
          <a:lstStyle/>
          <a:p>
            <a:pPr indent="0" marL="0">
              <a:buNone/>
            </a:pPr>
            <a:r>
              <a:rPr lang="en-US" sz="800" b="1" dirty="0">
                <a:solidFill>
                  <a:srgbClr val="15C99B"/>
                </a:solidFill>
              </a:rPr>
              <a:t>03</a:t>
            </a:r>
            <a:endParaRPr lang="en-US" sz="800" dirty="0"/>
          </a:p>
        </p:txBody>
      </p:sp>
      <p:sp>
        <p:nvSpPr>
          <p:cNvPr id="21" name="Shape 19"/>
          <p:cNvSpPr/>
          <p:nvPr/>
        </p:nvSpPr>
        <p:spPr>
          <a:xfrm>
            <a:off x="8211312" y="3063240"/>
            <a:ext cx="365760" cy="0"/>
          </a:xfrm>
          <a:prstGeom prst="line">
            <a:avLst/>
          </a:prstGeom>
          <a:noFill/>
          <a:ln w="12700">
            <a:solidFill>
              <a:srgbClr val="2A3866"/>
            </a:solidFill>
            <a:prstDash val="solid"/>
          </a:ln>
        </p:spPr>
      </p:sp>
      <p:sp>
        <p:nvSpPr>
          <p:cNvPr id="22" name="Text 20"/>
          <p:cNvSpPr/>
          <p:nvPr/>
        </p:nvSpPr>
        <p:spPr>
          <a:xfrm>
            <a:off x="8668512" y="2935224"/>
            <a:ext cx="2194560" cy="201168"/>
          </a:xfrm>
          <a:prstGeom prst="rect">
            <a:avLst/>
          </a:prstGeom>
          <a:noFill/>
          <a:ln/>
        </p:spPr>
        <p:txBody>
          <a:bodyPr wrap="square" lIns="0" tIns="0" rIns="0" bIns="0" rtlCol="0" anchor="ctr"/>
          <a:lstStyle/>
          <a:p>
            <a:pPr indent="0" marL="0">
              <a:buNone/>
            </a:pPr>
            <a:r>
              <a:rPr lang="en-US" sz="1320" b="1" dirty="0">
                <a:solidFill>
                  <a:srgbClr val="F8FAFF"/>
                </a:solidFill>
              </a:rPr>
              <a:t>Regulatory evidence</a:t>
            </a:r>
            <a:endParaRPr lang="en-US" sz="1320" dirty="0"/>
          </a:p>
        </p:txBody>
      </p:sp>
      <p:sp>
        <p:nvSpPr>
          <p:cNvPr id="23" name="Text 21"/>
          <p:cNvSpPr/>
          <p:nvPr/>
        </p:nvSpPr>
        <p:spPr>
          <a:xfrm>
            <a:off x="7818120" y="3566160"/>
            <a:ext cx="310896" cy="155448"/>
          </a:xfrm>
          <a:prstGeom prst="rect">
            <a:avLst/>
          </a:prstGeom>
          <a:noFill/>
          <a:ln/>
        </p:spPr>
        <p:txBody>
          <a:bodyPr wrap="square" lIns="0" tIns="0" rIns="0" bIns="0" rtlCol="0" anchor="ctr"/>
          <a:lstStyle/>
          <a:p>
            <a:pPr indent="0" marL="0">
              <a:buNone/>
            </a:pPr>
            <a:r>
              <a:rPr lang="en-US" sz="800" b="1" dirty="0">
                <a:solidFill>
                  <a:srgbClr val="15C99B"/>
                </a:solidFill>
              </a:rPr>
              <a:t>04</a:t>
            </a:r>
            <a:endParaRPr lang="en-US" sz="800" dirty="0"/>
          </a:p>
        </p:txBody>
      </p:sp>
      <p:sp>
        <p:nvSpPr>
          <p:cNvPr id="24" name="Shape 22"/>
          <p:cNvSpPr/>
          <p:nvPr/>
        </p:nvSpPr>
        <p:spPr>
          <a:xfrm>
            <a:off x="8211312" y="3657600"/>
            <a:ext cx="365760" cy="0"/>
          </a:xfrm>
          <a:prstGeom prst="line">
            <a:avLst/>
          </a:prstGeom>
          <a:noFill/>
          <a:ln w="12700">
            <a:solidFill>
              <a:srgbClr val="2A3866"/>
            </a:solidFill>
            <a:prstDash val="solid"/>
          </a:ln>
        </p:spPr>
      </p:sp>
      <p:sp>
        <p:nvSpPr>
          <p:cNvPr id="25" name="Text 23"/>
          <p:cNvSpPr/>
          <p:nvPr/>
        </p:nvSpPr>
        <p:spPr>
          <a:xfrm>
            <a:off x="8668512" y="3529584"/>
            <a:ext cx="2194560" cy="201168"/>
          </a:xfrm>
          <a:prstGeom prst="rect">
            <a:avLst/>
          </a:prstGeom>
          <a:noFill/>
          <a:ln/>
        </p:spPr>
        <p:txBody>
          <a:bodyPr wrap="square" lIns="0" tIns="0" rIns="0" bIns="0" rtlCol="0" anchor="ctr"/>
          <a:lstStyle/>
          <a:p>
            <a:pPr indent="0" marL="0">
              <a:buNone/>
            </a:pPr>
            <a:r>
              <a:rPr lang="en-US" sz="1320" b="1" dirty="0">
                <a:solidFill>
                  <a:srgbClr val="F8FAFF"/>
                </a:solidFill>
              </a:rPr>
              <a:t>Letter draft</a:t>
            </a:r>
            <a:endParaRPr lang="en-US" sz="1320" dirty="0"/>
          </a:p>
        </p:txBody>
      </p:sp>
      <p:sp>
        <p:nvSpPr>
          <p:cNvPr id="26" name="Text 24"/>
          <p:cNvSpPr/>
          <p:nvPr/>
        </p:nvSpPr>
        <p:spPr>
          <a:xfrm>
            <a:off x="7818120" y="4160520"/>
            <a:ext cx="310896" cy="155448"/>
          </a:xfrm>
          <a:prstGeom prst="rect">
            <a:avLst/>
          </a:prstGeom>
          <a:noFill/>
          <a:ln/>
        </p:spPr>
        <p:txBody>
          <a:bodyPr wrap="square" lIns="0" tIns="0" rIns="0" bIns="0" rtlCol="0" anchor="ctr"/>
          <a:lstStyle/>
          <a:p>
            <a:pPr indent="0" marL="0">
              <a:buNone/>
            </a:pPr>
            <a:r>
              <a:rPr lang="en-US" sz="800" b="1" dirty="0">
                <a:solidFill>
                  <a:srgbClr val="F4C95D"/>
                </a:solidFill>
              </a:rPr>
              <a:t>05</a:t>
            </a:r>
            <a:endParaRPr lang="en-US" sz="800" dirty="0"/>
          </a:p>
        </p:txBody>
      </p:sp>
      <p:sp>
        <p:nvSpPr>
          <p:cNvPr id="27" name="Shape 25"/>
          <p:cNvSpPr/>
          <p:nvPr/>
        </p:nvSpPr>
        <p:spPr>
          <a:xfrm>
            <a:off x="8211312" y="4251960"/>
            <a:ext cx="365760" cy="0"/>
          </a:xfrm>
          <a:prstGeom prst="line">
            <a:avLst/>
          </a:prstGeom>
          <a:noFill/>
          <a:ln w="12700">
            <a:solidFill>
              <a:srgbClr val="2A3866"/>
            </a:solidFill>
            <a:prstDash val="solid"/>
          </a:ln>
        </p:spPr>
      </p:sp>
      <p:sp>
        <p:nvSpPr>
          <p:cNvPr id="28" name="Text 26"/>
          <p:cNvSpPr/>
          <p:nvPr/>
        </p:nvSpPr>
        <p:spPr>
          <a:xfrm>
            <a:off x="8668512" y="4123944"/>
            <a:ext cx="2194560" cy="201168"/>
          </a:xfrm>
          <a:prstGeom prst="rect">
            <a:avLst/>
          </a:prstGeom>
          <a:noFill/>
          <a:ln/>
        </p:spPr>
        <p:txBody>
          <a:bodyPr wrap="square" lIns="0" tIns="0" rIns="0" bIns="0" rtlCol="0" anchor="ctr"/>
          <a:lstStyle/>
          <a:p>
            <a:pPr indent="0" marL="0">
              <a:buNone/>
            </a:pPr>
            <a:r>
              <a:rPr lang="en-US" sz="1320" b="1" dirty="0">
                <a:solidFill>
                  <a:srgbClr val="F8FAFF"/>
                </a:solidFill>
              </a:rPr>
              <a:t>Quality checks</a:t>
            </a:r>
            <a:endParaRPr lang="en-US" sz="1320" dirty="0"/>
          </a:p>
        </p:txBody>
      </p:sp>
      <p:sp>
        <p:nvSpPr>
          <p:cNvPr id="29" name="Shape 27"/>
          <p:cNvSpPr/>
          <p:nvPr/>
        </p:nvSpPr>
        <p:spPr>
          <a:xfrm>
            <a:off x="7973568" y="1993392"/>
            <a:ext cx="0" cy="2331720"/>
          </a:xfrm>
          <a:prstGeom prst="line">
            <a:avLst/>
          </a:prstGeom>
          <a:noFill/>
          <a:ln w="20320">
            <a:solidFill>
              <a:srgbClr val="3A7AFE">
                <a:alpha val="70000"/>
              </a:srgbClr>
            </a:solidFill>
            <a:prstDash val="solid"/>
          </a:ln>
        </p:spPr>
      </p:sp>
      <p:sp>
        <p:nvSpPr>
          <p:cNvPr id="30" name="Text 28"/>
          <p:cNvSpPr/>
          <p:nvPr/>
        </p:nvSpPr>
        <p:spPr>
          <a:xfrm>
            <a:off x="7818120" y="5074920"/>
            <a:ext cx="2880360" cy="384048"/>
          </a:xfrm>
          <a:prstGeom prst="rect">
            <a:avLst/>
          </a:prstGeom>
          <a:noFill/>
          <a:ln/>
        </p:spPr>
        <p:txBody>
          <a:bodyPr wrap="square" lIns="0" tIns="0" rIns="0" bIns="0" rtlCol="0" anchor="ctr"/>
          <a:lstStyle/>
          <a:p>
            <a:pPr indent="0" marL="0">
              <a:buNone/>
            </a:pPr>
            <a:r>
              <a:rPr lang="en-US" sz="980" b="1" dirty="0">
                <a:solidFill>
                  <a:srgbClr val="F4C95D"/>
                </a:solidFill>
              </a:rPr>
              <a:t>Research prototype, not automated lending or compliance approval</a:t>
            </a:r>
            <a:endParaRPr lang="en-US" sz="980" dirty="0"/>
          </a:p>
        </p:txBody>
      </p:sp>
      <p:sp>
        <p:nvSpPr>
          <p:cNvPr id="31" name="Text 29"/>
          <p:cNvSpPr/>
          <p:nvPr/>
        </p:nvSpPr>
        <p:spPr>
          <a:xfrm>
            <a:off x="502920" y="6537960"/>
            <a:ext cx="10607040" cy="146304"/>
          </a:xfrm>
          <a:prstGeom prst="rect">
            <a:avLst/>
          </a:prstGeom>
          <a:noFill/>
          <a:ln/>
        </p:spPr>
        <p:txBody>
          <a:bodyPr wrap="square" lIns="0" tIns="0" rIns="0" bIns="0" rtlCol="0" anchor="ctr"/>
          <a:lstStyle/>
          <a:p>
            <a:pPr indent="0" marL="0">
              <a:buNone/>
            </a:pPr>
            <a:r>
              <a:rPr lang="en-US" sz="680" dirty="0">
                <a:solidFill>
                  <a:srgbClr val="7885AA"/>
                </a:solidFill>
              </a:rPr>
              <a:t>Repository: github.com/lindaperez/CreditRiskRAG</a:t>
            </a:r>
            <a:endParaRPr lang="en-US" sz="680" dirty="0"/>
          </a:p>
        </p:txBody>
      </p:sp>
      <p:sp>
        <p:nvSpPr>
          <p:cNvPr id="32" name="Text 30"/>
          <p:cNvSpPr/>
          <p:nvPr/>
        </p:nvSpPr>
        <p:spPr>
          <a:xfrm>
            <a:off x="11292840" y="6492240"/>
            <a:ext cx="320040" cy="146304"/>
          </a:xfrm>
          <a:prstGeom prst="rect">
            <a:avLst/>
          </a:prstGeom>
          <a:noFill/>
          <a:ln/>
        </p:spPr>
        <p:txBody>
          <a:bodyPr wrap="square" lIns="0" tIns="0" rIns="0" bIns="0" rtlCol="0" anchor="ctr"/>
          <a:lstStyle/>
          <a:p>
            <a:pPr algn="r" indent="0" marL="0">
              <a:buNone/>
            </a:pPr>
            <a:r>
              <a:rPr lang="en-US" sz="780" b="1" dirty="0">
                <a:solidFill>
                  <a:srgbClr val="7885AA"/>
                </a:solidFill>
              </a:rPr>
              <a:t>01</a:t>
            </a:r>
            <a:endParaRPr lang="en-US" sz="7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024"/>
        </a:solidFill>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8D9F2">
              <a:alpha val="45000"/>
            </a:srgbClr>
          </a:solidFill>
          <a:ln w="12700">
            <a:solidFill>
              <a:srgbClr val="FFFFFF">
                <a:alpha val="0"/>
              </a:srgbClr>
            </a:solidFill>
            <a:prstDash val="solid"/>
          </a:ln>
        </p:spPr>
      </p:sp>
      <p:sp>
        <p:nvSpPr>
          <p:cNvPr id="3" name="Shape 1"/>
          <p:cNvSpPr/>
          <p:nvPr/>
        </p:nvSpPr>
        <p:spPr>
          <a:xfrm>
            <a:off x="0" y="6821424"/>
            <a:ext cx="12191695" cy="36576"/>
          </a:xfrm>
          <a:prstGeom prst="rect">
            <a:avLst/>
          </a:prstGeom>
          <a:solidFill>
            <a:srgbClr val="3A7AFE">
              <a:alpha val="30000"/>
            </a:srgbClr>
          </a:solidFill>
          <a:ln w="12700">
            <a:solidFill>
              <a:srgbClr val="FFFFFF">
                <a:alpha val="0"/>
              </a:srgbClr>
            </a:solidFill>
            <a:prstDash val="solid"/>
          </a:ln>
        </p:spPr>
      </p:sp>
      <p:sp>
        <p:nvSpPr>
          <p:cNvPr id="4" name="Text 2"/>
          <p:cNvSpPr/>
          <p:nvPr/>
        </p:nvSpPr>
        <p:spPr>
          <a:xfrm>
            <a:off x="502920" y="228600"/>
            <a:ext cx="2606040" cy="164592"/>
          </a:xfrm>
          <a:prstGeom prst="rect">
            <a:avLst/>
          </a:prstGeom>
          <a:noFill/>
          <a:ln/>
        </p:spPr>
        <p:txBody>
          <a:bodyPr wrap="square" lIns="0" tIns="0" rIns="0" bIns="0" rtlCol="0" anchor="ctr"/>
          <a:lstStyle/>
          <a:p>
            <a:pPr indent="0" marL="0">
              <a:buNone/>
            </a:pPr>
            <a:r>
              <a:rPr lang="en-US" sz="830" b="1" spc="170" kern="0" dirty="0">
                <a:solidFill>
                  <a:srgbClr val="38D9F2"/>
                </a:solidFill>
              </a:rPr>
              <a:t>INTRODUCTION</a:t>
            </a:r>
            <a:endParaRPr lang="en-US" sz="830" dirty="0"/>
          </a:p>
        </p:txBody>
      </p:sp>
      <p:sp>
        <p:nvSpPr>
          <p:cNvPr id="5" name="Text 3"/>
          <p:cNvSpPr/>
          <p:nvPr/>
        </p:nvSpPr>
        <p:spPr>
          <a:xfrm>
            <a:off x="502920" y="502920"/>
            <a:ext cx="9509760" cy="457200"/>
          </a:xfrm>
          <a:prstGeom prst="rect">
            <a:avLst/>
          </a:prstGeom>
          <a:noFill/>
          <a:ln/>
        </p:spPr>
        <p:txBody>
          <a:bodyPr wrap="square" lIns="0" tIns="0" rIns="0" bIns="0" rtlCol="0" anchor="ctr"/>
          <a:lstStyle/>
          <a:p>
            <a:pPr indent="0" marL="0">
              <a:buNone/>
            </a:pPr>
            <a:r>
              <a:rPr lang="en-US" sz="2350" b="1" dirty="0">
                <a:solidFill>
                  <a:srgbClr val="F8FAFF"/>
                </a:solidFill>
                <a:latin typeface="Aptos Display" pitchFamily="34" charset="0"/>
                <a:ea typeface="Aptos Display" pitchFamily="34" charset="-122"/>
                <a:cs typeface="Aptos Display" pitchFamily="34" charset="-120"/>
              </a:rPr>
              <a:t>In credit, prediction without explanation is not deployable</a:t>
            </a:r>
            <a:endParaRPr lang="en-US" sz="2350" dirty="0"/>
          </a:p>
        </p:txBody>
      </p:sp>
      <p:sp>
        <p:nvSpPr>
          <p:cNvPr id="6" name="Text 4"/>
          <p:cNvSpPr/>
          <p:nvPr/>
        </p:nvSpPr>
        <p:spPr>
          <a:xfrm>
            <a:off x="9966960" y="292608"/>
            <a:ext cx="1719072" cy="164592"/>
          </a:xfrm>
          <a:prstGeom prst="rect">
            <a:avLst/>
          </a:prstGeom>
          <a:noFill/>
          <a:ln/>
        </p:spPr>
        <p:txBody>
          <a:bodyPr wrap="square" lIns="0" tIns="0" rIns="0" bIns="0" rtlCol="0" anchor="ctr"/>
          <a:lstStyle/>
          <a:p>
            <a:pPr algn="r" indent="0" marL="0">
              <a:buNone/>
            </a:pPr>
            <a:r>
              <a:rPr lang="en-US" sz="870" b="1" dirty="0">
                <a:solidFill>
                  <a:srgbClr val="AAB5D6"/>
                </a:solidFill>
              </a:rPr>
              <a:t>Linda · 0:10–0:50</a:t>
            </a:r>
            <a:endParaRPr lang="en-US" sz="870" dirty="0"/>
          </a:p>
        </p:txBody>
      </p:sp>
      <p:sp>
        <p:nvSpPr>
          <p:cNvPr id="7" name="Shape 5"/>
          <p:cNvSpPr/>
          <p:nvPr/>
        </p:nvSpPr>
        <p:spPr>
          <a:xfrm>
            <a:off x="502920" y="1042416"/>
            <a:ext cx="11109960" cy="0"/>
          </a:xfrm>
          <a:prstGeom prst="line">
            <a:avLst/>
          </a:prstGeom>
          <a:noFill/>
          <a:ln w="12700">
            <a:solidFill>
              <a:srgbClr val="2A3866"/>
            </a:solidFill>
            <a:prstDash val="solid"/>
          </a:ln>
        </p:spPr>
      </p:sp>
      <p:sp>
        <p:nvSpPr>
          <p:cNvPr id="8" name="Text 6"/>
          <p:cNvSpPr/>
          <p:nvPr/>
        </p:nvSpPr>
        <p:spPr>
          <a:xfrm>
            <a:off x="566928" y="1298448"/>
            <a:ext cx="9966960" cy="438912"/>
          </a:xfrm>
          <a:prstGeom prst="rect">
            <a:avLst/>
          </a:prstGeom>
          <a:noFill/>
          <a:ln/>
        </p:spPr>
        <p:txBody>
          <a:bodyPr wrap="square" lIns="0" tIns="0" rIns="0" bIns="0" rtlCol="0" anchor="ctr"/>
          <a:lstStyle/>
          <a:p>
            <a:pPr indent="0" marL="0">
              <a:buNone/>
            </a:pPr>
            <a:r>
              <a:rPr lang="en-US" sz="2150" b="1" dirty="0">
                <a:solidFill>
                  <a:srgbClr val="F8FAFF"/>
                </a:solidFill>
              </a:rPr>
              <a:t>The problem is not “can we score risk?”  It is “can we defend the decision trace?”</a:t>
            </a:r>
            <a:endParaRPr lang="en-US" sz="2150" dirty="0"/>
          </a:p>
        </p:txBody>
      </p:sp>
      <p:sp>
        <p:nvSpPr>
          <p:cNvPr id="9" name="Text 7"/>
          <p:cNvSpPr/>
          <p:nvPr/>
        </p:nvSpPr>
        <p:spPr>
          <a:xfrm>
            <a:off x="694944" y="2121408"/>
            <a:ext cx="2057400" cy="237744"/>
          </a:xfrm>
          <a:prstGeom prst="rect">
            <a:avLst/>
          </a:prstGeom>
          <a:noFill/>
          <a:ln/>
        </p:spPr>
        <p:txBody>
          <a:bodyPr wrap="square" lIns="0" tIns="0" rIns="0" bIns="0" rtlCol="0" anchor="ctr"/>
          <a:lstStyle/>
          <a:p>
            <a:pPr indent="0" marL="0">
              <a:buNone/>
            </a:pPr>
            <a:r>
              <a:rPr lang="en-US" sz="1550" b="1" dirty="0">
                <a:solidFill>
                  <a:srgbClr val="38D9F2"/>
                </a:solidFill>
              </a:rPr>
              <a:t>Credit risk team</a:t>
            </a:r>
            <a:endParaRPr lang="en-US" sz="1550" dirty="0"/>
          </a:p>
        </p:txBody>
      </p:sp>
      <p:sp>
        <p:nvSpPr>
          <p:cNvPr id="10" name="Shape 8"/>
          <p:cNvSpPr/>
          <p:nvPr/>
        </p:nvSpPr>
        <p:spPr>
          <a:xfrm>
            <a:off x="2852928" y="2258568"/>
            <a:ext cx="640080" cy="0"/>
          </a:xfrm>
          <a:prstGeom prst="line">
            <a:avLst/>
          </a:prstGeom>
          <a:noFill/>
          <a:ln w="15240">
            <a:solidFill>
              <a:srgbClr val="2A3866"/>
            </a:solidFill>
            <a:prstDash val="solid"/>
          </a:ln>
        </p:spPr>
      </p:sp>
      <p:sp>
        <p:nvSpPr>
          <p:cNvPr id="11" name="Text 9"/>
          <p:cNvSpPr/>
          <p:nvPr/>
        </p:nvSpPr>
        <p:spPr>
          <a:xfrm>
            <a:off x="3703320" y="2112264"/>
            <a:ext cx="3703320" cy="256032"/>
          </a:xfrm>
          <a:prstGeom prst="rect">
            <a:avLst/>
          </a:prstGeom>
          <a:noFill/>
          <a:ln/>
        </p:spPr>
        <p:txBody>
          <a:bodyPr wrap="square" lIns="0" tIns="0" rIns="0" bIns="0" rtlCol="0" anchor="ctr"/>
          <a:lstStyle/>
          <a:p>
            <a:pPr indent="0" marL="0">
              <a:buNone/>
            </a:pPr>
            <a:r>
              <a:rPr lang="en-US" sz="1300" b="1" dirty="0">
                <a:solidFill>
                  <a:srgbClr val="F8FAFF"/>
                </a:solidFill>
              </a:rPr>
              <a:t>Prioritize borrowers where loss is concentrated.</a:t>
            </a:r>
            <a:endParaRPr lang="en-US" sz="1300" dirty="0"/>
          </a:p>
        </p:txBody>
      </p:sp>
      <p:sp>
        <p:nvSpPr>
          <p:cNvPr id="12" name="Text 10"/>
          <p:cNvSpPr/>
          <p:nvPr/>
        </p:nvSpPr>
        <p:spPr>
          <a:xfrm>
            <a:off x="7726680" y="2121408"/>
            <a:ext cx="3246120" cy="219456"/>
          </a:xfrm>
          <a:prstGeom prst="rect">
            <a:avLst/>
          </a:prstGeom>
          <a:noFill/>
          <a:ln/>
        </p:spPr>
        <p:txBody>
          <a:bodyPr wrap="square" lIns="0" tIns="0" rIns="0" bIns="0" rtlCol="0" anchor="ctr"/>
          <a:lstStyle/>
          <a:p>
            <a:pPr indent="0" marL="0">
              <a:buNone/>
            </a:pPr>
            <a:r>
              <a:rPr lang="en-US" sz="1070" dirty="0">
                <a:solidFill>
                  <a:srgbClr val="AAB5D6"/>
                </a:solidFill>
              </a:rPr>
              <a:t>PR-AUC, calibration, review-cap policy</a:t>
            </a:r>
            <a:endParaRPr lang="en-US" sz="1070" dirty="0"/>
          </a:p>
        </p:txBody>
      </p:sp>
      <p:sp>
        <p:nvSpPr>
          <p:cNvPr id="13" name="Text 11"/>
          <p:cNvSpPr/>
          <p:nvPr/>
        </p:nvSpPr>
        <p:spPr>
          <a:xfrm>
            <a:off x="694944" y="3054096"/>
            <a:ext cx="2057400" cy="237744"/>
          </a:xfrm>
          <a:prstGeom prst="rect">
            <a:avLst/>
          </a:prstGeom>
          <a:noFill/>
          <a:ln/>
        </p:spPr>
        <p:txBody>
          <a:bodyPr wrap="square" lIns="0" tIns="0" rIns="0" bIns="0" rtlCol="0" anchor="ctr"/>
          <a:lstStyle/>
          <a:p>
            <a:pPr indent="0" marL="0">
              <a:buNone/>
            </a:pPr>
            <a:r>
              <a:rPr lang="en-US" sz="1550" b="1" dirty="0">
                <a:solidFill>
                  <a:srgbClr val="7C5CFF"/>
                </a:solidFill>
              </a:rPr>
              <a:t>Reviewer / borrower</a:t>
            </a:r>
            <a:endParaRPr lang="en-US" sz="1550" dirty="0"/>
          </a:p>
        </p:txBody>
      </p:sp>
      <p:sp>
        <p:nvSpPr>
          <p:cNvPr id="14" name="Shape 12"/>
          <p:cNvSpPr/>
          <p:nvPr/>
        </p:nvSpPr>
        <p:spPr>
          <a:xfrm>
            <a:off x="2852928" y="3191256"/>
            <a:ext cx="640080" cy="0"/>
          </a:xfrm>
          <a:prstGeom prst="line">
            <a:avLst/>
          </a:prstGeom>
          <a:noFill/>
          <a:ln w="15240">
            <a:solidFill>
              <a:srgbClr val="2A3866"/>
            </a:solidFill>
            <a:prstDash val="solid"/>
          </a:ln>
        </p:spPr>
      </p:sp>
      <p:sp>
        <p:nvSpPr>
          <p:cNvPr id="15" name="Text 13"/>
          <p:cNvSpPr/>
          <p:nvPr/>
        </p:nvSpPr>
        <p:spPr>
          <a:xfrm>
            <a:off x="3703320" y="3044952"/>
            <a:ext cx="3703320" cy="256032"/>
          </a:xfrm>
          <a:prstGeom prst="rect">
            <a:avLst/>
          </a:prstGeom>
          <a:noFill/>
          <a:ln/>
        </p:spPr>
        <p:txBody>
          <a:bodyPr wrap="square" lIns="0" tIns="0" rIns="0" bIns="0" rtlCol="0" anchor="ctr"/>
          <a:lstStyle/>
          <a:p>
            <a:pPr indent="0" marL="0">
              <a:buNone/>
            </a:pPr>
            <a:r>
              <a:rPr lang="en-US" sz="1300" b="1" dirty="0">
                <a:solidFill>
                  <a:srgbClr val="F8FAFF"/>
                </a:solidFill>
              </a:rPr>
              <a:t>Understand the principal reasons for a decision.</a:t>
            </a:r>
            <a:endParaRPr lang="en-US" sz="1300" dirty="0"/>
          </a:p>
        </p:txBody>
      </p:sp>
      <p:sp>
        <p:nvSpPr>
          <p:cNvPr id="16" name="Text 14"/>
          <p:cNvSpPr/>
          <p:nvPr/>
        </p:nvSpPr>
        <p:spPr>
          <a:xfrm>
            <a:off x="7726680" y="3054096"/>
            <a:ext cx="3246120" cy="219456"/>
          </a:xfrm>
          <a:prstGeom prst="rect">
            <a:avLst/>
          </a:prstGeom>
          <a:noFill/>
          <a:ln/>
        </p:spPr>
        <p:txBody>
          <a:bodyPr wrap="square" lIns="0" tIns="0" rIns="0" bIns="0" rtlCol="0" anchor="ctr"/>
          <a:lstStyle/>
          <a:p>
            <a:pPr indent="0" marL="0">
              <a:buNone/>
            </a:pPr>
            <a:r>
              <a:rPr lang="en-US" sz="1070" dirty="0">
                <a:solidFill>
                  <a:srgbClr val="AAB5D6"/>
                </a:solidFill>
              </a:rPr>
              <a:t>Local SHAP drivers mapped to reason codes</a:t>
            </a:r>
            <a:endParaRPr lang="en-US" sz="1070" dirty="0"/>
          </a:p>
        </p:txBody>
      </p:sp>
      <p:sp>
        <p:nvSpPr>
          <p:cNvPr id="17" name="Text 15"/>
          <p:cNvSpPr/>
          <p:nvPr/>
        </p:nvSpPr>
        <p:spPr>
          <a:xfrm>
            <a:off x="694944" y="3986784"/>
            <a:ext cx="2057400" cy="237744"/>
          </a:xfrm>
          <a:prstGeom prst="rect">
            <a:avLst/>
          </a:prstGeom>
          <a:noFill/>
          <a:ln/>
        </p:spPr>
        <p:txBody>
          <a:bodyPr wrap="square" lIns="0" tIns="0" rIns="0" bIns="0" rtlCol="0" anchor="ctr"/>
          <a:lstStyle/>
          <a:p>
            <a:pPr indent="0" marL="0">
              <a:buNone/>
            </a:pPr>
            <a:r>
              <a:rPr lang="en-US" sz="1550" b="1" dirty="0">
                <a:solidFill>
                  <a:srgbClr val="15C99B"/>
                </a:solidFill>
              </a:rPr>
              <a:t>Governance / compliance</a:t>
            </a:r>
            <a:endParaRPr lang="en-US" sz="1550" dirty="0"/>
          </a:p>
        </p:txBody>
      </p:sp>
      <p:sp>
        <p:nvSpPr>
          <p:cNvPr id="18" name="Shape 16"/>
          <p:cNvSpPr/>
          <p:nvPr/>
        </p:nvSpPr>
        <p:spPr>
          <a:xfrm>
            <a:off x="2852928" y="4123944"/>
            <a:ext cx="640080" cy="0"/>
          </a:xfrm>
          <a:prstGeom prst="line">
            <a:avLst/>
          </a:prstGeom>
          <a:noFill/>
          <a:ln w="15240">
            <a:solidFill>
              <a:srgbClr val="2A3866"/>
            </a:solidFill>
            <a:prstDash val="solid"/>
          </a:ln>
        </p:spPr>
      </p:sp>
      <p:sp>
        <p:nvSpPr>
          <p:cNvPr id="19" name="Text 17"/>
          <p:cNvSpPr/>
          <p:nvPr/>
        </p:nvSpPr>
        <p:spPr>
          <a:xfrm>
            <a:off x="3703320" y="3977640"/>
            <a:ext cx="3703320" cy="256032"/>
          </a:xfrm>
          <a:prstGeom prst="rect">
            <a:avLst/>
          </a:prstGeom>
          <a:noFill/>
          <a:ln/>
        </p:spPr>
        <p:txBody>
          <a:bodyPr wrap="square" lIns="0" tIns="0" rIns="0" bIns="0" rtlCol="0" anchor="ctr"/>
          <a:lstStyle/>
          <a:p>
            <a:pPr indent="0" marL="0">
              <a:buNone/>
            </a:pPr>
            <a:r>
              <a:rPr lang="en-US" sz="1300" b="1" dirty="0">
                <a:solidFill>
                  <a:srgbClr val="F8FAFF"/>
                </a:solidFill>
              </a:rPr>
              <a:t>Verify that generated text is grounded and auditable.</a:t>
            </a:r>
            <a:endParaRPr lang="en-US" sz="1300" dirty="0"/>
          </a:p>
        </p:txBody>
      </p:sp>
      <p:sp>
        <p:nvSpPr>
          <p:cNvPr id="20" name="Text 18"/>
          <p:cNvSpPr/>
          <p:nvPr/>
        </p:nvSpPr>
        <p:spPr>
          <a:xfrm>
            <a:off x="7726680" y="3986784"/>
            <a:ext cx="3246120" cy="219456"/>
          </a:xfrm>
          <a:prstGeom prst="rect">
            <a:avLst/>
          </a:prstGeom>
          <a:noFill/>
          <a:ln/>
        </p:spPr>
        <p:txBody>
          <a:bodyPr wrap="square" lIns="0" tIns="0" rIns="0" bIns="0" rtlCol="0" anchor="ctr"/>
          <a:lstStyle/>
          <a:p>
            <a:pPr indent="0" marL="0">
              <a:buNone/>
            </a:pPr>
            <a:r>
              <a:rPr lang="en-US" sz="1070" dirty="0">
                <a:solidFill>
                  <a:srgbClr val="AAB5D6"/>
                </a:solidFill>
              </a:rPr>
              <a:t>Regulatory retrieval + blind rubric scoring</a:t>
            </a:r>
            <a:endParaRPr lang="en-US" sz="1070" dirty="0"/>
          </a:p>
        </p:txBody>
      </p:sp>
      <p:sp>
        <p:nvSpPr>
          <p:cNvPr id="21" name="Shape 19"/>
          <p:cNvSpPr/>
          <p:nvPr/>
        </p:nvSpPr>
        <p:spPr>
          <a:xfrm>
            <a:off x="1143000" y="5376672"/>
            <a:ext cx="9921240" cy="676656"/>
          </a:xfrm>
          <a:prstGeom prst="roundRect">
            <a:avLst>
              <a:gd name="adj" fmla="val 8108"/>
            </a:avLst>
          </a:prstGeom>
          <a:solidFill>
            <a:srgbClr val="162657"/>
          </a:solidFill>
          <a:ln w="10160">
            <a:solidFill>
              <a:srgbClr val="F4C95D">
                <a:alpha val="82000"/>
              </a:srgbClr>
            </a:solidFill>
            <a:prstDash val="solid"/>
          </a:ln>
        </p:spPr>
      </p:sp>
      <p:sp>
        <p:nvSpPr>
          <p:cNvPr id="22" name="Text 20"/>
          <p:cNvSpPr/>
          <p:nvPr/>
        </p:nvSpPr>
        <p:spPr>
          <a:xfrm>
            <a:off x="1463040" y="5577840"/>
            <a:ext cx="1325880" cy="182880"/>
          </a:xfrm>
          <a:prstGeom prst="rect">
            <a:avLst/>
          </a:prstGeom>
          <a:noFill/>
          <a:ln/>
        </p:spPr>
        <p:txBody>
          <a:bodyPr wrap="square" lIns="0" tIns="0" rIns="0" bIns="0" rtlCol="0" anchor="ctr"/>
          <a:lstStyle/>
          <a:p>
            <a:pPr indent="0" marL="0">
              <a:buNone/>
            </a:pPr>
            <a:r>
              <a:rPr lang="en-US" sz="950" b="1" dirty="0">
                <a:solidFill>
                  <a:srgbClr val="F4C95D"/>
                </a:solidFill>
              </a:rPr>
              <a:t>Research boundary</a:t>
            </a:r>
            <a:endParaRPr lang="en-US" sz="950" dirty="0"/>
          </a:p>
        </p:txBody>
      </p:sp>
      <p:sp>
        <p:nvSpPr>
          <p:cNvPr id="23" name="Text 21"/>
          <p:cNvSpPr/>
          <p:nvPr/>
        </p:nvSpPr>
        <p:spPr>
          <a:xfrm>
            <a:off x="3035808" y="5550408"/>
            <a:ext cx="7223760" cy="228600"/>
          </a:xfrm>
          <a:prstGeom prst="rect">
            <a:avLst/>
          </a:prstGeom>
          <a:noFill/>
          <a:ln/>
        </p:spPr>
        <p:txBody>
          <a:bodyPr wrap="square" lIns="0" tIns="0" rIns="0" bIns="0" rtlCol="0" anchor="ctr"/>
          <a:lstStyle/>
          <a:p>
            <a:pPr indent="0" marL="0">
              <a:buNone/>
            </a:pPr>
            <a:r>
              <a:rPr lang="en-US" sz="1140" b="1" dirty="0">
                <a:solidFill>
                  <a:srgbClr val="E8EDFA"/>
                </a:solidFill>
              </a:rPr>
              <a:t>Decision-support prototype — not an automated or compliance-approved lending system.</a:t>
            </a:r>
            <a:endParaRPr lang="en-US" sz="1140" dirty="0"/>
          </a:p>
        </p:txBody>
      </p:sp>
      <p:sp>
        <p:nvSpPr>
          <p:cNvPr id="24" name="Text 22"/>
          <p:cNvSpPr/>
          <p:nvPr/>
        </p:nvSpPr>
        <p:spPr>
          <a:xfrm>
            <a:off x="502920" y="6537960"/>
            <a:ext cx="10607040" cy="146304"/>
          </a:xfrm>
          <a:prstGeom prst="rect">
            <a:avLst/>
          </a:prstGeom>
          <a:noFill/>
          <a:ln/>
        </p:spPr>
        <p:txBody>
          <a:bodyPr wrap="square" lIns="0" tIns="0" rIns="0" bIns="0" rtlCol="0" anchor="ctr"/>
          <a:lstStyle/>
          <a:p>
            <a:pPr indent="0" marL="0">
              <a:buNone/>
            </a:pPr>
            <a:r>
              <a:rPr lang="en-US" sz="680" dirty="0">
                <a:solidFill>
                  <a:srgbClr val="7885AA"/>
                </a:solidFill>
              </a:rPr>
              <a:t>Rubric: Introduction — why the problem matters and what real-world need it addresses.</a:t>
            </a:r>
            <a:endParaRPr lang="en-US" sz="680" dirty="0"/>
          </a:p>
        </p:txBody>
      </p:sp>
      <p:sp>
        <p:nvSpPr>
          <p:cNvPr id="25" name="Text 23"/>
          <p:cNvSpPr/>
          <p:nvPr/>
        </p:nvSpPr>
        <p:spPr>
          <a:xfrm>
            <a:off x="11292840" y="6492240"/>
            <a:ext cx="320040" cy="146304"/>
          </a:xfrm>
          <a:prstGeom prst="rect">
            <a:avLst/>
          </a:prstGeom>
          <a:noFill/>
          <a:ln/>
        </p:spPr>
        <p:txBody>
          <a:bodyPr wrap="square" lIns="0" tIns="0" rIns="0" bIns="0" rtlCol="0" anchor="ctr"/>
          <a:lstStyle/>
          <a:p>
            <a:pPr algn="r" indent="0" marL="0">
              <a:buNone/>
            </a:pPr>
            <a:r>
              <a:rPr lang="en-US" sz="780" b="1" dirty="0">
                <a:solidFill>
                  <a:srgbClr val="7885AA"/>
                </a:solidFill>
              </a:rPr>
              <a:t>02</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D"/>
        </a:solidFill>
      </p:bgPr>
    </p:bg>
    <p:spTree>
      <p:nvGrpSpPr>
        <p:cNvPr id="1" name=""/>
        <p:cNvGrpSpPr/>
        <p:nvPr/>
      </p:nvGrpSpPr>
      <p:grpSpPr>
        <a:xfrm>
          <a:off x="0" y="0"/>
          <a:ext cx="0" cy="0"/>
          <a:chOff x="0" y="0"/>
          <a:chExt cx="0" cy="0"/>
        </a:xfrm>
      </p:grpSpPr>
      <p:sp>
        <p:nvSpPr>
          <p:cNvPr id="2" name="Text 0"/>
          <p:cNvSpPr/>
          <p:nvPr/>
        </p:nvSpPr>
        <p:spPr>
          <a:xfrm>
            <a:off x="502920" y="228600"/>
            <a:ext cx="2606040" cy="164592"/>
          </a:xfrm>
          <a:prstGeom prst="rect">
            <a:avLst/>
          </a:prstGeom>
          <a:noFill/>
          <a:ln/>
        </p:spPr>
        <p:txBody>
          <a:bodyPr wrap="square" lIns="0" tIns="0" rIns="0" bIns="0" rtlCol="0" anchor="ctr"/>
          <a:lstStyle/>
          <a:p>
            <a:pPr indent="0" marL="0">
              <a:buNone/>
            </a:pPr>
            <a:r>
              <a:rPr lang="en-US" sz="830" b="1" spc="170" kern="0" dirty="0">
                <a:solidFill>
                  <a:srgbClr val="3A7AFE"/>
                </a:solidFill>
              </a:rPr>
              <a:t>RELATED WORK</a:t>
            </a:r>
            <a:endParaRPr lang="en-US" sz="830" dirty="0"/>
          </a:p>
        </p:txBody>
      </p:sp>
      <p:sp>
        <p:nvSpPr>
          <p:cNvPr id="3" name="Text 1"/>
          <p:cNvSpPr/>
          <p:nvPr/>
        </p:nvSpPr>
        <p:spPr>
          <a:xfrm>
            <a:off x="502920" y="502920"/>
            <a:ext cx="9509760" cy="457200"/>
          </a:xfrm>
          <a:prstGeom prst="rect">
            <a:avLst/>
          </a:prstGeom>
          <a:noFill/>
          <a:ln/>
        </p:spPr>
        <p:txBody>
          <a:bodyPr wrap="square" lIns="0" tIns="0" rIns="0" bIns="0" rtlCol="0" anchor="ctr"/>
          <a:lstStyle/>
          <a:p>
            <a:pPr indent="0" marL="0">
              <a:buNone/>
            </a:pPr>
            <a:r>
              <a:rPr lang="en-US" sz="2350" b="1" dirty="0">
                <a:solidFill>
                  <a:srgbClr val="17213F"/>
                </a:solidFill>
                <a:latin typeface="Aptos Display" pitchFamily="34" charset="0"/>
                <a:ea typeface="Aptos Display" pitchFamily="34" charset="-122"/>
                <a:cs typeface="Aptos Display" pitchFamily="34" charset="-120"/>
              </a:rPr>
              <a:t>Two prior ideas became design requirements</a:t>
            </a:r>
            <a:endParaRPr lang="en-US" sz="2350" dirty="0"/>
          </a:p>
        </p:txBody>
      </p:sp>
      <p:sp>
        <p:nvSpPr>
          <p:cNvPr id="4" name="Text 2"/>
          <p:cNvSpPr/>
          <p:nvPr/>
        </p:nvSpPr>
        <p:spPr>
          <a:xfrm>
            <a:off x="9966960" y="292608"/>
            <a:ext cx="1719072" cy="164592"/>
          </a:xfrm>
          <a:prstGeom prst="rect">
            <a:avLst/>
          </a:prstGeom>
          <a:noFill/>
          <a:ln/>
        </p:spPr>
        <p:txBody>
          <a:bodyPr wrap="square" lIns="0" tIns="0" rIns="0" bIns="0" rtlCol="0" anchor="ctr"/>
          <a:lstStyle/>
          <a:p>
            <a:pPr algn="r" indent="0" marL="0">
              <a:buNone/>
            </a:pPr>
            <a:r>
              <a:rPr lang="en-US" sz="870" b="1" dirty="0">
                <a:solidFill>
                  <a:srgbClr val="5F6F99"/>
                </a:solidFill>
              </a:rPr>
              <a:t>Linda · 0:50–1:30</a:t>
            </a:r>
            <a:endParaRPr lang="en-US" sz="870" dirty="0"/>
          </a:p>
        </p:txBody>
      </p:sp>
      <p:sp>
        <p:nvSpPr>
          <p:cNvPr id="5" name="Shape 3"/>
          <p:cNvSpPr/>
          <p:nvPr/>
        </p:nvSpPr>
        <p:spPr>
          <a:xfrm>
            <a:off x="502920" y="1042416"/>
            <a:ext cx="11109960" cy="0"/>
          </a:xfrm>
          <a:prstGeom prst="line">
            <a:avLst/>
          </a:prstGeom>
          <a:noFill/>
          <a:ln w="12700">
            <a:solidFill>
              <a:srgbClr val="DCE3F3"/>
            </a:solidFill>
            <a:prstDash val="solid"/>
          </a:ln>
        </p:spPr>
      </p:sp>
      <p:sp>
        <p:nvSpPr>
          <p:cNvPr id="6" name="Text 4"/>
          <p:cNvSpPr/>
          <p:nvPr/>
        </p:nvSpPr>
        <p:spPr>
          <a:xfrm>
            <a:off x="566928" y="1261872"/>
            <a:ext cx="8046720" cy="310896"/>
          </a:xfrm>
          <a:prstGeom prst="rect">
            <a:avLst/>
          </a:prstGeom>
          <a:noFill/>
          <a:ln/>
        </p:spPr>
        <p:txBody>
          <a:bodyPr wrap="square" lIns="0" tIns="0" rIns="0" bIns="0" rtlCol="0" anchor="ctr"/>
          <a:lstStyle/>
          <a:p>
            <a:pPr indent="0" marL="0">
              <a:buNone/>
            </a:pPr>
            <a:r>
              <a:rPr lang="en-US" sz="1700" b="1" dirty="0">
                <a:solidFill>
                  <a:srgbClr val="17213F"/>
                </a:solidFill>
              </a:rPr>
              <a:t>We treated related work as engineering constraints, not just citations.</a:t>
            </a:r>
            <a:endParaRPr lang="en-US" sz="1700" dirty="0"/>
          </a:p>
        </p:txBody>
      </p:sp>
      <p:sp>
        <p:nvSpPr>
          <p:cNvPr id="7" name="Shape 5"/>
          <p:cNvSpPr/>
          <p:nvPr/>
        </p:nvSpPr>
        <p:spPr>
          <a:xfrm>
            <a:off x="685800" y="1874520"/>
            <a:ext cx="5166360" cy="3611880"/>
          </a:xfrm>
          <a:prstGeom prst="roundRect">
            <a:avLst>
              <a:gd name="adj" fmla="val 1519"/>
            </a:avLst>
          </a:prstGeom>
          <a:solidFill>
            <a:srgbClr val="FFFFFF"/>
          </a:solidFill>
          <a:ln w="10160">
            <a:solidFill>
              <a:srgbClr val="D7DEEF">
                <a:alpha val="82000"/>
              </a:srgbClr>
            </a:solidFill>
            <a:prstDash val="solid"/>
          </a:ln>
          <a:effectLst>
            <a:outerShdw sx="100000" sy="100000" kx="0" ky="0" algn="bl" rotWithShape="0" blurRad="322580000" dist="645160000" dir="162000000000">
              <a:srgbClr val="030716">
                <a:alpha val="1800000000"/>
              </a:srgbClr>
            </a:outerShdw>
          </a:effectLst>
        </p:spPr>
      </p:sp>
      <p:sp>
        <p:nvSpPr>
          <p:cNvPr id="8" name="Shape 6"/>
          <p:cNvSpPr/>
          <p:nvPr/>
        </p:nvSpPr>
        <p:spPr>
          <a:xfrm>
            <a:off x="960120" y="2148840"/>
            <a:ext cx="2148840" cy="301752"/>
          </a:xfrm>
          <a:prstGeom prst="roundRect">
            <a:avLst>
              <a:gd name="adj" fmla="val 18182"/>
            </a:avLst>
          </a:prstGeom>
          <a:solidFill>
            <a:srgbClr val="3A7AFE">
              <a:alpha val="12000"/>
            </a:srgbClr>
          </a:solidFill>
          <a:ln w="10160">
            <a:solidFill>
              <a:srgbClr val="3A7AFE">
                <a:alpha val="55000"/>
              </a:srgbClr>
            </a:solidFill>
            <a:prstDash val="solid"/>
          </a:ln>
        </p:spPr>
      </p:sp>
      <p:sp>
        <p:nvSpPr>
          <p:cNvPr id="9" name="Text 7"/>
          <p:cNvSpPr/>
          <p:nvPr/>
        </p:nvSpPr>
        <p:spPr>
          <a:xfrm>
            <a:off x="1014984" y="2217420"/>
            <a:ext cx="2039112" cy="137160"/>
          </a:xfrm>
          <a:prstGeom prst="rect">
            <a:avLst/>
          </a:prstGeom>
          <a:noFill/>
          <a:ln/>
        </p:spPr>
        <p:txBody>
          <a:bodyPr wrap="square" lIns="0" tIns="0" rIns="0" bIns="0" rtlCol="0" anchor="ctr"/>
          <a:lstStyle/>
          <a:p>
            <a:pPr algn="ctr" indent="0" marL="0">
              <a:buNone/>
            </a:pPr>
            <a:r>
              <a:rPr lang="en-US" sz="780" b="1" dirty="0">
                <a:solidFill>
                  <a:srgbClr val="17213F"/>
                </a:solidFill>
              </a:rPr>
              <a:t>CREDIT-SCORING BENCHMARKS</a:t>
            </a:r>
            <a:endParaRPr lang="en-US" sz="780" dirty="0"/>
          </a:p>
        </p:txBody>
      </p:sp>
      <p:sp>
        <p:nvSpPr>
          <p:cNvPr id="10" name="Text 8"/>
          <p:cNvSpPr/>
          <p:nvPr/>
        </p:nvSpPr>
        <p:spPr>
          <a:xfrm>
            <a:off x="960120" y="2651760"/>
            <a:ext cx="2743200" cy="274320"/>
          </a:xfrm>
          <a:prstGeom prst="rect">
            <a:avLst/>
          </a:prstGeom>
          <a:noFill/>
          <a:ln/>
        </p:spPr>
        <p:txBody>
          <a:bodyPr wrap="square" lIns="0" tIns="0" rIns="0" bIns="0" rtlCol="0" anchor="ctr"/>
          <a:lstStyle/>
          <a:p>
            <a:pPr indent="0" marL="0">
              <a:buNone/>
            </a:pPr>
            <a:r>
              <a:rPr lang="en-US" sz="1850" b="1" dirty="0">
                <a:solidFill>
                  <a:srgbClr val="17213F"/>
                </a:solidFill>
              </a:rPr>
              <a:t>Lessmann et al. (2015)</a:t>
            </a:r>
            <a:endParaRPr lang="en-US" sz="1850" dirty="0"/>
          </a:p>
        </p:txBody>
      </p:sp>
      <p:sp>
        <p:nvSpPr>
          <p:cNvPr id="11" name="Text 9"/>
          <p:cNvSpPr/>
          <p:nvPr/>
        </p:nvSpPr>
        <p:spPr>
          <a:xfrm>
            <a:off x="960120" y="3154680"/>
            <a:ext cx="1005840" cy="164592"/>
          </a:xfrm>
          <a:prstGeom prst="rect">
            <a:avLst/>
          </a:prstGeom>
          <a:noFill/>
          <a:ln/>
        </p:spPr>
        <p:txBody>
          <a:bodyPr wrap="square" lIns="0" tIns="0" rIns="0" bIns="0" rtlCol="0" anchor="ctr"/>
          <a:lstStyle/>
          <a:p>
            <a:pPr indent="0" marL="0">
              <a:buNone/>
            </a:pPr>
            <a:r>
              <a:rPr lang="en-US" sz="840" b="1" dirty="0">
                <a:solidFill>
                  <a:srgbClr val="3A7AFE"/>
                </a:solidFill>
              </a:rPr>
              <a:t>Core insight</a:t>
            </a:r>
            <a:endParaRPr lang="en-US" sz="840" dirty="0"/>
          </a:p>
        </p:txBody>
      </p:sp>
      <p:sp>
        <p:nvSpPr>
          <p:cNvPr id="12" name="Text 10"/>
          <p:cNvSpPr/>
          <p:nvPr/>
        </p:nvSpPr>
        <p:spPr>
          <a:xfrm>
            <a:off x="960120" y="3401568"/>
            <a:ext cx="4480560" cy="493776"/>
          </a:xfrm>
          <a:prstGeom prst="rect">
            <a:avLst/>
          </a:prstGeom>
          <a:noFill/>
          <a:ln/>
        </p:spPr>
        <p:txBody>
          <a:bodyPr wrap="square" lIns="0" tIns="0" rIns="0" bIns="0" rtlCol="0" anchor="ctr"/>
          <a:lstStyle/>
          <a:p>
            <a:pPr indent="0" marL="0">
              <a:buNone/>
            </a:pPr>
            <a:r>
              <a:rPr lang="en-US" sz="1200" dirty="0">
                <a:solidFill>
                  <a:srgbClr val="506082"/>
                </a:solidFill>
              </a:rPr>
              <a:t>Evaluate classifiers with multiple metrics and business impact.</a:t>
            </a:r>
            <a:endParaRPr lang="en-US" sz="1200" dirty="0"/>
          </a:p>
        </p:txBody>
      </p:sp>
      <p:sp>
        <p:nvSpPr>
          <p:cNvPr id="13" name="Shape 11"/>
          <p:cNvSpPr/>
          <p:nvPr/>
        </p:nvSpPr>
        <p:spPr>
          <a:xfrm>
            <a:off x="960120" y="4160520"/>
            <a:ext cx="4526280" cy="0"/>
          </a:xfrm>
          <a:prstGeom prst="line">
            <a:avLst/>
          </a:prstGeom>
          <a:noFill/>
          <a:ln w="12700">
            <a:solidFill>
              <a:srgbClr val="E3E8F4"/>
            </a:solidFill>
            <a:prstDash val="solid"/>
          </a:ln>
        </p:spPr>
      </p:sp>
      <p:sp>
        <p:nvSpPr>
          <p:cNvPr id="14" name="Text 12"/>
          <p:cNvSpPr/>
          <p:nvPr/>
        </p:nvSpPr>
        <p:spPr>
          <a:xfrm>
            <a:off x="960120" y="4425696"/>
            <a:ext cx="1463040" cy="164592"/>
          </a:xfrm>
          <a:prstGeom prst="rect">
            <a:avLst/>
          </a:prstGeom>
          <a:noFill/>
          <a:ln/>
        </p:spPr>
        <p:txBody>
          <a:bodyPr wrap="square" lIns="0" tIns="0" rIns="0" bIns="0" rtlCol="0" anchor="ctr"/>
          <a:lstStyle/>
          <a:p>
            <a:pPr indent="0" marL="0">
              <a:buNone/>
            </a:pPr>
            <a:r>
              <a:rPr lang="en-US" sz="840" b="1" dirty="0">
                <a:solidFill>
                  <a:srgbClr val="3A7AFE"/>
                </a:solidFill>
              </a:rPr>
              <a:t>Design requirement</a:t>
            </a:r>
            <a:endParaRPr lang="en-US" sz="840" dirty="0"/>
          </a:p>
        </p:txBody>
      </p:sp>
      <p:sp>
        <p:nvSpPr>
          <p:cNvPr id="15" name="Text 13"/>
          <p:cNvSpPr/>
          <p:nvPr/>
        </p:nvSpPr>
        <p:spPr>
          <a:xfrm>
            <a:off x="960120" y="4681728"/>
            <a:ext cx="4480560" cy="493776"/>
          </a:xfrm>
          <a:prstGeom prst="rect">
            <a:avLst/>
          </a:prstGeom>
          <a:noFill/>
          <a:ln/>
        </p:spPr>
        <p:txBody>
          <a:bodyPr wrap="square" lIns="0" tIns="0" rIns="0" bIns="0" rtlCol="0" anchor="ctr"/>
          <a:lstStyle/>
          <a:p>
            <a:pPr indent="0" marL="0">
              <a:buNone/>
            </a:pPr>
            <a:r>
              <a:rPr lang="en-US" sz="1200" b="1" dirty="0">
                <a:solidFill>
                  <a:srgbClr val="17213F"/>
                </a:solidFill>
              </a:rPr>
              <a:t>Multi-model benchmark; PR-AUC over accuracy; calibration and operating-policy analysis.</a:t>
            </a:r>
            <a:endParaRPr lang="en-US" sz="1200" dirty="0"/>
          </a:p>
        </p:txBody>
      </p:sp>
      <p:sp>
        <p:nvSpPr>
          <p:cNvPr id="16" name="Shape 14"/>
          <p:cNvSpPr/>
          <p:nvPr/>
        </p:nvSpPr>
        <p:spPr>
          <a:xfrm>
            <a:off x="6327648" y="1874520"/>
            <a:ext cx="5166360" cy="3611880"/>
          </a:xfrm>
          <a:prstGeom prst="roundRect">
            <a:avLst>
              <a:gd name="adj" fmla="val 1519"/>
            </a:avLst>
          </a:prstGeom>
          <a:solidFill>
            <a:srgbClr val="FFFFFF"/>
          </a:solidFill>
          <a:ln w="10160">
            <a:solidFill>
              <a:srgbClr val="D7DEEF">
                <a:alpha val="82000"/>
              </a:srgbClr>
            </a:solidFill>
            <a:prstDash val="solid"/>
          </a:ln>
          <a:effectLst>
            <a:outerShdw sx="100000" sy="100000" kx="0" ky="0" algn="bl" rotWithShape="0" blurRad="4096766000000" dist="8193532000000" dir="9720000000000000">
              <a:srgbClr val="030716">
                <a:alpha val="180000000000000"/>
              </a:srgbClr>
            </a:outerShdw>
          </a:effectLst>
        </p:spPr>
      </p:sp>
      <p:sp>
        <p:nvSpPr>
          <p:cNvPr id="17" name="Shape 15"/>
          <p:cNvSpPr/>
          <p:nvPr/>
        </p:nvSpPr>
        <p:spPr>
          <a:xfrm>
            <a:off x="6601968" y="2148840"/>
            <a:ext cx="2148840" cy="301752"/>
          </a:xfrm>
          <a:prstGeom prst="roundRect">
            <a:avLst>
              <a:gd name="adj" fmla="val 18182"/>
            </a:avLst>
          </a:prstGeom>
          <a:solidFill>
            <a:srgbClr val="15C99B">
              <a:alpha val="12000"/>
            </a:srgbClr>
          </a:solidFill>
          <a:ln w="10160">
            <a:solidFill>
              <a:srgbClr val="15C99B">
                <a:alpha val="55000"/>
              </a:srgbClr>
            </a:solidFill>
            <a:prstDash val="solid"/>
          </a:ln>
        </p:spPr>
      </p:sp>
      <p:sp>
        <p:nvSpPr>
          <p:cNvPr id="18" name="Text 16"/>
          <p:cNvSpPr/>
          <p:nvPr/>
        </p:nvSpPr>
        <p:spPr>
          <a:xfrm>
            <a:off x="6656832" y="2217420"/>
            <a:ext cx="2039112" cy="137160"/>
          </a:xfrm>
          <a:prstGeom prst="rect">
            <a:avLst/>
          </a:prstGeom>
          <a:noFill/>
          <a:ln/>
        </p:spPr>
        <p:txBody>
          <a:bodyPr wrap="square" lIns="0" tIns="0" rIns="0" bIns="0" rtlCol="0" anchor="ctr"/>
          <a:lstStyle/>
          <a:p>
            <a:pPr algn="ctr" indent="0" marL="0">
              <a:buNone/>
            </a:pPr>
            <a:r>
              <a:rPr lang="en-US" sz="780" b="1" dirty="0">
                <a:solidFill>
                  <a:srgbClr val="17213F"/>
                </a:solidFill>
              </a:rPr>
              <a:t>RETRIEVAL-AUGMENTED GENERATION</a:t>
            </a:r>
            <a:endParaRPr lang="en-US" sz="780" dirty="0"/>
          </a:p>
        </p:txBody>
      </p:sp>
      <p:sp>
        <p:nvSpPr>
          <p:cNvPr id="19" name="Text 17"/>
          <p:cNvSpPr/>
          <p:nvPr/>
        </p:nvSpPr>
        <p:spPr>
          <a:xfrm>
            <a:off x="6601968" y="2651760"/>
            <a:ext cx="2743200" cy="274320"/>
          </a:xfrm>
          <a:prstGeom prst="rect">
            <a:avLst/>
          </a:prstGeom>
          <a:noFill/>
          <a:ln/>
        </p:spPr>
        <p:txBody>
          <a:bodyPr wrap="square" lIns="0" tIns="0" rIns="0" bIns="0" rtlCol="0" anchor="ctr"/>
          <a:lstStyle/>
          <a:p>
            <a:pPr indent="0" marL="0">
              <a:buNone/>
            </a:pPr>
            <a:r>
              <a:rPr lang="en-US" sz="1850" b="1" dirty="0">
                <a:solidFill>
                  <a:srgbClr val="17213F"/>
                </a:solidFill>
              </a:rPr>
              <a:t>Lewis et al. (2020)</a:t>
            </a:r>
            <a:endParaRPr lang="en-US" sz="1850" dirty="0"/>
          </a:p>
        </p:txBody>
      </p:sp>
      <p:sp>
        <p:nvSpPr>
          <p:cNvPr id="20" name="Text 18"/>
          <p:cNvSpPr/>
          <p:nvPr/>
        </p:nvSpPr>
        <p:spPr>
          <a:xfrm>
            <a:off x="6601968" y="3154680"/>
            <a:ext cx="1005840" cy="164592"/>
          </a:xfrm>
          <a:prstGeom prst="rect">
            <a:avLst/>
          </a:prstGeom>
          <a:noFill/>
          <a:ln/>
        </p:spPr>
        <p:txBody>
          <a:bodyPr wrap="square" lIns="0" tIns="0" rIns="0" bIns="0" rtlCol="0" anchor="ctr"/>
          <a:lstStyle/>
          <a:p>
            <a:pPr indent="0" marL="0">
              <a:buNone/>
            </a:pPr>
            <a:r>
              <a:rPr lang="en-US" sz="840" b="1" dirty="0">
                <a:solidFill>
                  <a:srgbClr val="15C99B"/>
                </a:solidFill>
              </a:rPr>
              <a:t>Core insight</a:t>
            </a:r>
            <a:endParaRPr lang="en-US" sz="840" dirty="0"/>
          </a:p>
        </p:txBody>
      </p:sp>
      <p:sp>
        <p:nvSpPr>
          <p:cNvPr id="21" name="Text 19"/>
          <p:cNvSpPr/>
          <p:nvPr/>
        </p:nvSpPr>
        <p:spPr>
          <a:xfrm>
            <a:off x="6601968" y="3401568"/>
            <a:ext cx="4480560" cy="493776"/>
          </a:xfrm>
          <a:prstGeom prst="rect">
            <a:avLst/>
          </a:prstGeom>
          <a:noFill/>
          <a:ln/>
        </p:spPr>
        <p:txBody>
          <a:bodyPr wrap="square" lIns="0" tIns="0" rIns="0" bIns="0" rtlCol="0" anchor="ctr"/>
          <a:lstStyle/>
          <a:p>
            <a:pPr indent="0" marL="0">
              <a:buNone/>
            </a:pPr>
            <a:r>
              <a:rPr lang="en-US" sz="1200" dirty="0">
                <a:solidFill>
                  <a:srgbClr val="506082"/>
                </a:solidFill>
              </a:rPr>
              <a:t>Ground generation in retrieved evidence instead of model memory alone.</a:t>
            </a:r>
            <a:endParaRPr lang="en-US" sz="1200" dirty="0"/>
          </a:p>
        </p:txBody>
      </p:sp>
      <p:sp>
        <p:nvSpPr>
          <p:cNvPr id="22" name="Shape 20"/>
          <p:cNvSpPr/>
          <p:nvPr/>
        </p:nvSpPr>
        <p:spPr>
          <a:xfrm>
            <a:off x="6601968" y="4160520"/>
            <a:ext cx="4526280" cy="0"/>
          </a:xfrm>
          <a:prstGeom prst="line">
            <a:avLst/>
          </a:prstGeom>
          <a:noFill/>
          <a:ln w="12700">
            <a:solidFill>
              <a:srgbClr val="E3E8F4"/>
            </a:solidFill>
            <a:prstDash val="solid"/>
          </a:ln>
        </p:spPr>
      </p:sp>
      <p:sp>
        <p:nvSpPr>
          <p:cNvPr id="23" name="Text 21"/>
          <p:cNvSpPr/>
          <p:nvPr/>
        </p:nvSpPr>
        <p:spPr>
          <a:xfrm>
            <a:off x="6601968" y="4425696"/>
            <a:ext cx="1463040" cy="164592"/>
          </a:xfrm>
          <a:prstGeom prst="rect">
            <a:avLst/>
          </a:prstGeom>
          <a:noFill/>
          <a:ln/>
        </p:spPr>
        <p:txBody>
          <a:bodyPr wrap="square" lIns="0" tIns="0" rIns="0" bIns="0" rtlCol="0" anchor="ctr"/>
          <a:lstStyle/>
          <a:p>
            <a:pPr indent="0" marL="0">
              <a:buNone/>
            </a:pPr>
            <a:r>
              <a:rPr lang="en-US" sz="840" b="1" dirty="0">
                <a:solidFill>
                  <a:srgbClr val="15C99B"/>
                </a:solidFill>
              </a:rPr>
              <a:t>Design requirement</a:t>
            </a:r>
            <a:endParaRPr lang="en-US" sz="840" dirty="0"/>
          </a:p>
        </p:txBody>
      </p:sp>
      <p:sp>
        <p:nvSpPr>
          <p:cNvPr id="24" name="Text 22"/>
          <p:cNvSpPr/>
          <p:nvPr/>
        </p:nvSpPr>
        <p:spPr>
          <a:xfrm>
            <a:off x="6601968" y="4681728"/>
            <a:ext cx="4480560" cy="493776"/>
          </a:xfrm>
          <a:prstGeom prst="rect">
            <a:avLst/>
          </a:prstGeom>
          <a:noFill/>
          <a:ln/>
        </p:spPr>
        <p:txBody>
          <a:bodyPr wrap="square" lIns="0" tIns="0" rIns="0" bIns="0" rtlCol="0" anchor="ctr"/>
          <a:lstStyle/>
          <a:p>
            <a:pPr indent="0" marL="0">
              <a:buNone/>
            </a:pPr>
            <a:r>
              <a:rPr lang="en-US" sz="1200" b="1" dirty="0">
                <a:solidFill>
                  <a:srgbClr val="17213F"/>
                </a:solidFill>
              </a:rPr>
              <a:t>Regulatory corpus; RAG vs no-RAG control; blind statutory-accuracy judging.</a:t>
            </a:r>
            <a:endParaRPr lang="en-US" sz="1200" dirty="0"/>
          </a:p>
        </p:txBody>
      </p:sp>
      <p:sp>
        <p:nvSpPr>
          <p:cNvPr id="25" name="Shape 23"/>
          <p:cNvSpPr/>
          <p:nvPr/>
        </p:nvSpPr>
        <p:spPr>
          <a:xfrm>
            <a:off x="2834640" y="5779008"/>
            <a:ext cx="6537960" cy="411480"/>
          </a:xfrm>
          <a:prstGeom prst="roundRect">
            <a:avLst>
              <a:gd name="adj" fmla="val 13333"/>
            </a:avLst>
          </a:prstGeom>
          <a:solidFill>
            <a:srgbClr val="EDEAFF"/>
          </a:solidFill>
          <a:ln w="10160">
            <a:solidFill>
              <a:srgbClr val="D7D0FF">
                <a:alpha val="82000"/>
              </a:srgbClr>
            </a:solidFill>
            <a:prstDash val="solid"/>
          </a:ln>
        </p:spPr>
      </p:sp>
      <p:sp>
        <p:nvSpPr>
          <p:cNvPr id="26" name="Text 24"/>
          <p:cNvSpPr/>
          <p:nvPr/>
        </p:nvSpPr>
        <p:spPr>
          <a:xfrm>
            <a:off x="2971800" y="5897880"/>
            <a:ext cx="6263640" cy="146304"/>
          </a:xfrm>
          <a:prstGeom prst="rect">
            <a:avLst/>
          </a:prstGeom>
          <a:noFill/>
          <a:ln/>
        </p:spPr>
        <p:txBody>
          <a:bodyPr wrap="square" lIns="0" tIns="0" rIns="0" bIns="0" rtlCol="0" anchor="ctr"/>
          <a:lstStyle/>
          <a:p>
            <a:pPr algn="ctr" indent="0" marL="0">
              <a:buNone/>
            </a:pPr>
            <a:r>
              <a:rPr lang="en-US" sz="920" b="1" dirty="0">
                <a:solidFill>
                  <a:srgbClr val="514395"/>
                </a:solidFill>
              </a:rPr>
              <a:t>SHAP (Lundberg &amp; Lee, 2017) supplied the bridge from model behavior to borrower-level reasons.</a:t>
            </a:r>
            <a:endParaRPr lang="en-US" sz="920" dirty="0"/>
          </a:p>
        </p:txBody>
      </p:sp>
      <p:sp>
        <p:nvSpPr>
          <p:cNvPr id="27" name="Text 25"/>
          <p:cNvSpPr/>
          <p:nvPr/>
        </p:nvSpPr>
        <p:spPr>
          <a:xfrm>
            <a:off x="502920" y="6537960"/>
            <a:ext cx="10607040" cy="146304"/>
          </a:xfrm>
          <a:prstGeom prst="rect">
            <a:avLst/>
          </a:prstGeom>
          <a:noFill/>
          <a:ln/>
        </p:spPr>
        <p:txBody>
          <a:bodyPr wrap="square" lIns="0" tIns="0" rIns="0" bIns="0" rtlCol="0" anchor="ctr"/>
          <a:lstStyle/>
          <a:p>
            <a:pPr indent="0" marL="0">
              <a:buNone/>
            </a:pPr>
            <a:r>
              <a:rPr lang="en-US" sz="680" dirty="0">
                <a:solidFill>
                  <a:srgbClr val="7280A2"/>
                </a:solidFill>
              </a:rPr>
              <a:t>Rubric: Related Work — 1–2 similar projects or papers that inspired the approach.</a:t>
            </a:r>
            <a:endParaRPr lang="en-US" sz="680" dirty="0"/>
          </a:p>
        </p:txBody>
      </p:sp>
      <p:sp>
        <p:nvSpPr>
          <p:cNvPr id="28" name="Text 26"/>
          <p:cNvSpPr/>
          <p:nvPr/>
        </p:nvSpPr>
        <p:spPr>
          <a:xfrm>
            <a:off x="11292840" y="6492240"/>
            <a:ext cx="320040" cy="146304"/>
          </a:xfrm>
          <a:prstGeom prst="rect">
            <a:avLst/>
          </a:prstGeom>
          <a:noFill/>
          <a:ln/>
        </p:spPr>
        <p:txBody>
          <a:bodyPr wrap="square" lIns="0" tIns="0" rIns="0" bIns="0" rtlCol="0" anchor="ctr"/>
          <a:lstStyle/>
          <a:p>
            <a:pPr algn="r" indent="0" marL="0">
              <a:buNone/>
            </a:pPr>
            <a:r>
              <a:rPr lang="en-US" sz="780" b="1" dirty="0">
                <a:solidFill>
                  <a:srgbClr val="7280A2"/>
                </a:solidFill>
              </a:rPr>
              <a:t>03</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024"/>
        </a:solidFill>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8D9F2">
              <a:alpha val="45000"/>
            </a:srgbClr>
          </a:solidFill>
          <a:ln w="12700">
            <a:solidFill>
              <a:srgbClr val="FFFFFF">
                <a:alpha val="0"/>
              </a:srgbClr>
            </a:solidFill>
            <a:prstDash val="solid"/>
          </a:ln>
        </p:spPr>
      </p:sp>
      <p:sp>
        <p:nvSpPr>
          <p:cNvPr id="3" name="Shape 1"/>
          <p:cNvSpPr/>
          <p:nvPr/>
        </p:nvSpPr>
        <p:spPr>
          <a:xfrm>
            <a:off x="0" y="6821424"/>
            <a:ext cx="12191695" cy="36576"/>
          </a:xfrm>
          <a:prstGeom prst="rect">
            <a:avLst/>
          </a:prstGeom>
          <a:solidFill>
            <a:srgbClr val="3A7AFE">
              <a:alpha val="30000"/>
            </a:srgbClr>
          </a:solidFill>
          <a:ln w="12700">
            <a:solidFill>
              <a:srgbClr val="FFFFFF">
                <a:alpha val="0"/>
              </a:srgbClr>
            </a:solidFill>
            <a:prstDash val="solid"/>
          </a:ln>
        </p:spPr>
      </p:sp>
      <p:sp>
        <p:nvSpPr>
          <p:cNvPr id="4" name="Text 2"/>
          <p:cNvSpPr/>
          <p:nvPr/>
        </p:nvSpPr>
        <p:spPr>
          <a:xfrm>
            <a:off x="502920" y="228600"/>
            <a:ext cx="2606040" cy="164592"/>
          </a:xfrm>
          <a:prstGeom prst="rect">
            <a:avLst/>
          </a:prstGeom>
          <a:noFill/>
          <a:ln/>
        </p:spPr>
        <p:txBody>
          <a:bodyPr wrap="square" lIns="0" tIns="0" rIns="0" bIns="0" rtlCol="0" anchor="ctr"/>
          <a:lstStyle/>
          <a:p>
            <a:pPr indent="0" marL="0">
              <a:buNone/>
            </a:pPr>
            <a:r>
              <a:rPr lang="en-US" sz="830" b="1" spc="170" kern="0" dirty="0">
                <a:solidFill>
                  <a:srgbClr val="38D9F2"/>
                </a:solidFill>
              </a:rPr>
              <a:t>DATA &amp; FEATURES</a:t>
            </a:r>
            <a:endParaRPr lang="en-US" sz="830" dirty="0"/>
          </a:p>
        </p:txBody>
      </p:sp>
      <p:sp>
        <p:nvSpPr>
          <p:cNvPr id="5" name="Text 3"/>
          <p:cNvSpPr/>
          <p:nvPr/>
        </p:nvSpPr>
        <p:spPr>
          <a:xfrm>
            <a:off x="502920" y="502920"/>
            <a:ext cx="9509760" cy="457200"/>
          </a:xfrm>
          <a:prstGeom prst="rect">
            <a:avLst/>
          </a:prstGeom>
          <a:noFill/>
          <a:ln/>
        </p:spPr>
        <p:txBody>
          <a:bodyPr wrap="square" lIns="0" tIns="0" rIns="0" bIns="0" rtlCol="0" anchor="ctr"/>
          <a:lstStyle/>
          <a:p>
            <a:pPr indent="0" marL="0">
              <a:buNone/>
            </a:pPr>
            <a:r>
              <a:rPr lang="en-US" sz="2350" b="1" dirty="0">
                <a:solidFill>
                  <a:srgbClr val="F8FAFF"/>
                </a:solidFill>
                <a:latin typeface="Aptos Display" pitchFamily="34" charset="0"/>
                <a:ea typeface="Aptos Display" pitchFamily="34" charset="-122"/>
                <a:cs typeface="Aptos Display" pitchFamily="34" charset="-120"/>
              </a:rPr>
              <a:t>The dataset was engineered to prevent future information leakage</a:t>
            </a:r>
            <a:endParaRPr lang="en-US" sz="2350" dirty="0"/>
          </a:p>
        </p:txBody>
      </p:sp>
      <p:sp>
        <p:nvSpPr>
          <p:cNvPr id="6" name="Text 4"/>
          <p:cNvSpPr/>
          <p:nvPr/>
        </p:nvSpPr>
        <p:spPr>
          <a:xfrm>
            <a:off x="9966960" y="292608"/>
            <a:ext cx="1719072" cy="164592"/>
          </a:xfrm>
          <a:prstGeom prst="rect">
            <a:avLst/>
          </a:prstGeom>
          <a:noFill/>
          <a:ln/>
        </p:spPr>
        <p:txBody>
          <a:bodyPr wrap="square" lIns="0" tIns="0" rIns="0" bIns="0" rtlCol="0" anchor="ctr"/>
          <a:lstStyle/>
          <a:p>
            <a:pPr algn="r" indent="0" marL="0">
              <a:buNone/>
            </a:pPr>
            <a:r>
              <a:rPr lang="en-US" sz="870" b="1" dirty="0">
                <a:solidFill>
                  <a:srgbClr val="AAB5D6"/>
                </a:solidFill>
              </a:rPr>
              <a:t>Yash · 1:30–2:20</a:t>
            </a:r>
            <a:endParaRPr lang="en-US" sz="870" dirty="0"/>
          </a:p>
        </p:txBody>
      </p:sp>
      <p:sp>
        <p:nvSpPr>
          <p:cNvPr id="7" name="Shape 5"/>
          <p:cNvSpPr/>
          <p:nvPr/>
        </p:nvSpPr>
        <p:spPr>
          <a:xfrm>
            <a:off x="502920" y="1042416"/>
            <a:ext cx="11109960" cy="0"/>
          </a:xfrm>
          <a:prstGeom prst="line">
            <a:avLst/>
          </a:prstGeom>
          <a:noFill/>
          <a:ln w="12700">
            <a:solidFill>
              <a:srgbClr val="2A3866"/>
            </a:solidFill>
            <a:prstDash val="solid"/>
          </a:ln>
        </p:spPr>
      </p:sp>
      <p:sp>
        <p:nvSpPr>
          <p:cNvPr id="8" name="Text 6"/>
          <p:cNvSpPr/>
          <p:nvPr/>
        </p:nvSpPr>
        <p:spPr>
          <a:xfrm>
            <a:off x="621792" y="1298448"/>
            <a:ext cx="2286000" cy="164592"/>
          </a:xfrm>
          <a:prstGeom prst="rect">
            <a:avLst/>
          </a:prstGeom>
          <a:noFill/>
          <a:ln/>
        </p:spPr>
        <p:txBody>
          <a:bodyPr wrap="square" lIns="0" tIns="0" rIns="0" bIns="0" rtlCol="0" anchor="ctr"/>
          <a:lstStyle/>
          <a:p>
            <a:pPr indent="0" marL="0">
              <a:buNone/>
            </a:pPr>
            <a:r>
              <a:rPr lang="en-US" sz="760" b="1" spc="125" kern="0" dirty="0">
                <a:solidFill>
                  <a:srgbClr val="38D9F2"/>
                </a:solidFill>
              </a:rPr>
              <a:t>POPULATION AND TARGET</a:t>
            </a:r>
            <a:endParaRPr lang="en-US" sz="760" dirty="0"/>
          </a:p>
        </p:txBody>
      </p:sp>
      <p:sp>
        <p:nvSpPr>
          <p:cNvPr id="9" name="Shape 7"/>
          <p:cNvSpPr/>
          <p:nvPr/>
        </p:nvSpPr>
        <p:spPr>
          <a:xfrm>
            <a:off x="685800" y="1627632"/>
            <a:ext cx="2148840" cy="987552"/>
          </a:xfrm>
          <a:prstGeom prst="roundRect">
            <a:avLst>
              <a:gd name="adj" fmla="val 5556"/>
            </a:avLst>
          </a:prstGeom>
          <a:solidFill>
            <a:srgbClr val="162657"/>
          </a:solidFill>
          <a:ln w="10160">
            <a:solidFill>
              <a:srgbClr val="3A7AFE">
                <a:alpha val="82000"/>
              </a:srgbClr>
            </a:solidFill>
            <a:prstDash val="solid"/>
          </a:ln>
        </p:spPr>
      </p:sp>
      <p:sp>
        <p:nvSpPr>
          <p:cNvPr id="10" name="Text 8"/>
          <p:cNvSpPr/>
          <p:nvPr/>
        </p:nvSpPr>
        <p:spPr>
          <a:xfrm>
            <a:off x="850392" y="1828800"/>
            <a:ext cx="1819656" cy="274320"/>
          </a:xfrm>
          <a:prstGeom prst="rect">
            <a:avLst/>
          </a:prstGeom>
          <a:noFill/>
          <a:ln/>
        </p:spPr>
        <p:txBody>
          <a:bodyPr wrap="square" lIns="0" tIns="0" rIns="0" bIns="0" rtlCol="0" anchor="ctr"/>
          <a:lstStyle/>
          <a:p>
            <a:pPr algn="ctr" indent="0" marL="0">
              <a:buNone/>
            </a:pPr>
            <a:r>
              <a:rPr lang="en-US" sz="1900" b="1" dirty="0">
                <a:solidFill>
                  <a:srgbClr val="F8FAFF"/>
                </a:solidFill>
              </a:rPr>
              <a:t>2.26M</a:t>
            </a:r>
            <a:endParaRPr lang="en-US" sz="1900" dirty="0"/>
          </a:p>
        </p:txBody>
      </p:sp>
      <p:sp>
        <p:nvSpPr>
          <p:cNvPr id="11" name="Text 9"/>
          <p:cNvSpPr/>
          <p:nvPr/>
        </p:nvSpPr>
        <p:spPr>
          <a:xfrm>
            <a:off x="832104" y="2148840"/>
            <a:ext cx="1856232" cy="146304"/>
          </a:xfrm>
          <a:prstGeom prst="rect">
            <a:avLst/>
          </a:prstGeom>
          <a:noFill/>
          <a:ln/>
        </p:spPr>
        <p:txBody>
          <a:bodyPr wrap="square" lIns="0" tIns="0" rIns="0" bIns="0" rtlCol="0" anchor="ctr"/>
          <a:lstStyle/>
          <a:p>
            <a:pPr algn="ctr" indent="0" marL="0">
              <a:buNone/>
            </a:pPr>
            <a:r>
              <a:rPr lang="en-US" sz="870" b="1" dirty="0">
                <a:solidFill>
                  <a:srgbClr val="E8EDFA"/>
                </a:solidFill>
              </a:rPr>
              <a:t>raw accepted-loan rows</a:t>
            </a:r>
            <a:endParaRPr lang="en-US" sz="870" dirty="0"/>
          </a:p>
        </p:txBody>
      </p:sp>
      <p:sp>
        <p:nvSpPr>
          <p:cNvPr id="12" name="Text 10"/>
          <p:cNvSpPr/>
          <p:nvPr/>
        </p:nvSpPr>
        <p:spPr>
          <a:xfrm>
            <a:off x="832104" y="2359152"/>
            <a:ext cx="1856232" cy="137160"/>
          </a:xfrm>
          <a:prstGeom prst="rect">
            <a:avLst/>
          </a:prstGeom>
          <a:noFill/>
          <a:ln/>
        </p:spPr>
        <p:txBody>
          <a:bodyPr wrap="square" lIns="0" tIns="0" rIns="0" bIns="0" rtlCol="0" anchor="ctr"/>
          <a:lstStyle/>
          <a:p>
            <a:pPr algn="ctr" indent="0" marL="0">
              <a:buNone/>
            </a:pPr>
            <a:r>
              <a:rPr lang="en-US" sz="720" dirty="0">
                <a:solidFill>
                  <a:srgbClr val="AAB5D6"/>
                </a:solidFill>
              </a:rPr>
              <a:t>2007–2018 · 151 columns</a:t>
            </a:r>
            <a:endParaRPr lang="en-US" sz="720" dirty="0"/>
          </a:p>
        </p:txBody>
      </p:sp>
      <p:sp>
        <p:nvSpPr>
          <p:cNvPr id="13" name="Shape 11"/>
          <p:cNvSpPr/>
          <p:nvPr/>
        </p:nvSpPr>
        <p:spPr>
          <a:xfrm>
            <a:off x="2999232" y="2130552"/>
            <a:ext cx="384048" cy="0"/>
          </a:xfrm>
          <a:prstGeom prst="line">
            <a:avLst/>
          </a:prstGeom>
          <a:noFill/>
          <a:ln w="15240">
            <a:solidFill>
              <a:srgbClr val="7885AA"/>
            </a:solidFill>
            <a:prstDash val="solid"/>
            <a:tailEnd type="triangle"/>
          </a:ln>
        </p:spPr>
      </p:sp>
      <p:sp>
        <p:nvSpPr>
          <p:cNvPr id="14" name="Shape 12"/>
          <p:cNvSpPr/>
          <p:nvPr/>
        </p:nvSpPr>
        <p:spPr>
          <a:xfrm>
            <a:off x="3401568" y="1627632"/>
            <a:ext cx="2148840" cy="987552"/>
          </a:xfrm>
          <a:prstGeom prst="roundRect">
            <a:avLst>
              <a:gd name="adj" fmla="val 5556"/>
            </a:avLst>
          </a:prstGeom>
          <a:solidFill>
            <a:srgbClr val="162657"/>
          </a:solidFill>
          <a:ln w="10160">
            <a:solidFill>
              <a:srgbClr val="7C5CFF">
                <a:alpha val="82000"/>
              </a:srgbClr>
            </a:solidFill>
            <a:prstDash val="solid"/>
          </a:ln>
        </p:spPr>
      </p:sp>
      <p:sp>
        <p:nvSpPr>
          <p:cNvPr id="15" name="Text 13"/>
          <p:cNvSpPr/>
          <p:nvPr/>
        </p:nvSpPr>
        <p:spPr>
          <a:xfrm>
            <a:off x="3566160" y="1828800"/>
            <a:ext cx="1819656" cy="274320"/>
          </a:xfrm>
          <a:prstGeom prst="rect">
            <a:avLst/>
          </a:prstGeom>
          <a:noFill/>
          <a:ln/>
        </p:spPr>
        <p:txBody>
          <a:bodyPr wrap="square" lIns="0" tIns="0" rIns="0" bIns="0" rtlCol="0" anchor="ctr"/>
          <a:lstStyle/>
          <a:p>
            <a:pPr algn="ctr" indent="0" marL="0">
              <a:buNone/>
            </a:pPr>
            <a:r>
              <a:rPr lang="en-US" sz="1900" b="1" dirty="0">
                <a:solidFill>
                  <a:srgbClr val="F8FAFF"/>
                </a:solidFill>
              </a:rPr>
              <a:t>completed</a:t>
            </a:r>
            <a:endParaRPr lang="en-US" sz="1900" dirty="0"/>
          </a:p>
        </p:txBody>
      </p:sp>
      <p:sp>
        <p:nvSpPr>
          <p:cNvPr id="16" name="Text 14"/>
          <p:cNvSpPr/>
          <p:nvPr/>
        </p:nvSpPr>
        <p:spPr>
          <a:xfrm>
            <a:off x="3547872" y="2148840"/>
            <a:ext cx="1856232" cy="146304"/>
          </a:xfrm>
          <a:prstGeom prst="rect">
            <a:avLst/>
          </a:prstGeom>
          <a:noFill/>
          <a:ln/>
        </p:spPr>
        <p:txBody>
          <a:bodyPr wrap="square" lIns="0" tIns="0" rIns="0" bIns="0" rtlCol="0" anchor="ctr"/>
          <a:lstStyle/>
          <a:p>
            <a:pPr algn="ctr" indent="0" marL="0">
              <a:buNone/>
            </a:pPr>
            <a:r>
              <a:rPr lang="en-US" sz="870" b="1" dirty="0">
                <a:solidFill>
                  <a:srgbClr val="E8EDFA"/>
                </a:solidFill>
              </a:rPr>
              <a:t>observed repayment only</a:t>
            </a:r>
            <a:endParaRPr lang="en-US" sz="870" dirty="0"/>
          </a:p>
        </p:txBody>
      </p:sp>
      <p:sp>
        <p:nvSpPr>
          <p:cNvPr id="17" name="Text 15"/>
          <p:cNvSpPr/>
          <p:nvPr/>
        </p:nvSpPr>
        <p:spPr>
          <a:xfrm>
            <a:off x="3547872" y="2359152"/>
            <a:ext cx="1856232" cy="137160"/>
          </a:xfrm>
          <a:prstGeom prst="rect">
            <a:avLst/>
          </a:prstGeom>
          <a:noFill/>
          <a:ln/>
        </p:spPr>
        <p:txBody>
          <a:bodyPr wrap="square" lIns="0" tIns="0" rIns="0" bIns="0" rtlCol="0" anchor="ctr"/>
          <a:lstStyle/>
          <a:p>
            <a:pPr algn="ctr" indent="0" marL="0">
              <a:buNone/>
            </a:pPr>
            <a:r>
              <a:rPr lang="en-US" sz="720" dirty="0">
                <a:solidFill>
                  <a:srgbClr val="AAB5D6"/>
                </a:solidFill>
              </a:rPr>
              <a:t>current/unresolved removed</a:t>
            </a:r>
            <a:endParaRPr lang="en-US" sz="720" dirty="0"/>
          </a:p>
        </p:txBody>
      </p:sp>
      <p:sp>
        <p:nvSpPr>
          <p:cNvPr id="18" name="Shape 16"/>
          <p:cNvSpPr/>
          <p:nvPr/>
        </p:nvSpPr>
        <p:spPr>
          <a:xfrm>
            <a:off x="5715000" y="2130552"/>
            <a:ext cx="384048" cy="0"/>
          </a:xfrm>
          <a:prstGeom prst="line">
            <a:avLst/>
          </a:prstGeom>
          <a:noFill/>
          <a:ln w="15240">
            <a:solidFill>
              <a:srgbClr val="7885AA"/>
            </a:solidFill>
            <a:prstDash val="solid"/>
            <a:tailEnd type="triangle"/>
          </a:ln>
        </p:spPr>
      </p:sp>
      <p:sp>
        <p:nvSpPr>
          <p:cNvPr id="19" name="Shape 17"/>
          <p:cNvSpPr/>
          <p:nvPr/>
        </p:nvSpPr>
        <p:spPr>
          <a:xfrm>
            <a:off x="6126480" y="1627632"/>
            <a:ext cx="2148840" cy="987552"/>
          </a:xfrm>
          <a:prstGeom prst="roundRect">
            <a:avLst>
              <a:gd name="adj" fmla="val 5556"/>
            </a:avLst>
          </a:prstGeom>
          <a:solidFill>
            <a:srgbClr val="162657"/>
          </a:solidFill>
          <a:ln w="10160">
            <a:solidFill>
              <a:srgbClr val="15C99B">
                <a:alpha val="82000"/>
              </a:srgbClr>
            </a:solidFill>
            <a:prstDash val="solid"/>
          </a:ln>
        </p:spPr>
      </p:sp>
      <p:sp>
        <p:nvSpPr>
          <p:cNvPr id="20" name="Text 18"/>
          <p:cNvSpPr/>
          <p:nvPr/>
        </p:nvSpPr>
        <p:spPr>
          <a:xfrm>
            <a:off x="6291072" y="1828800"/>
            <a:ext cx="1819656" cy="274320"/>
          </a:xfrm>
          <a:prstGeom prst="rect">
            <a:avLst/>
          </a:prstGeom>
          <a:noFill/>
          <a:ln/>
        </p:spPr>
        <p:txBody>
          <a:bodyPr wrap="square" lIns="0" tIns="0" rIns="0" bIns="0" rtlCol="0" anchor="ctr"/>
          <a:lstStyle/>
          <a:p>
            <a:pPr algn="ctr" indent="0" marL="0">
              <a:buNone/>
            </a:pPr>
            <a:r>
              <a:rPr lang="en-US" sz="1900" b="1" dirty="0">
                <a:solidFill>
                  <a:srgbClr val="F8FAFF"/>
                </a:solidFill>
              </a:rPr>
              <a:t>1.35M</a:t>
            </a:r>
            <a:endParaRPr lang="en-US" sz="1900" dirty="0"/>
          </a:p>
        </p:txBody>
      </p:sp>
      <p:sp>
        <p:nvSpPr>
          <p:cNvPr id="21" name="Text 19"/>
          <p:cNvSpPr/>
          <p:nvPr/>
        </p:nvSpPr>
        <p:spPr>
          <a:xfrm>
            <a:off x="6272784" y="2148840"/>
            <a:ext cx="1856232" cy="146304"/>
          </a:xfrm>
          <a:prstGeom prst="rect">
            <a:avLst/>
          </a:prstGeom>
          <a:noFill/>
          <a:ln/>
        </p:spPr>
        <p:txBody>
          <a:bodyPr wrap="square" lIns="0" tIns="0" rIns="0" bIns="0" rtlCol="0" anchor="ctr"/>
          <a:lstStyle/>
          <a:p>
            <a:pPr algn="ctr" indent="0" marL="0">
              <a:buNone/>
            </a:pPr>
            <a:r>
              <a:rPr lang="en-US" sz="870" b="1" dirty="0">
                <a:solidFill>
                  <a:srgbClr val="E8EDFA"/>
                </a:solidFill>
              </a:rPr>
              <a:t>modeling frame</a:t>
            </a:r>
            <a:endParaRPr lang="en-US" sz="870" dirty="0"/>
          </a:p>
        </p:txBody>
      </p:sp>
      <p:sp>
        <p:nvSpPr>
          <p:cNvPr id="22" name="Text 20"/>
          <p:cNvSpPr/>
          <p:nvPr/>
        </p:nvSpPr>
        <p:spPr>
          <a:xfrm>
            <a:off x="6272784" y="2359152"/>
            <a:ext cx="1856232" cy="137160"/>
          </a:xfrm>
          <a:prstGeom prst="rect">
            <a:avLst/>
          </a:prstGeom>
          <a:noFill/>
          <a:ln/>
        </p:spPr>
        <p:txBody>
          <a:bodyPr wrap="square" lIns="0" tIns="0" rIns="0" bIns="0" rtlCol="0" anchor="ctr"/>
          <a:lstStyle/>
          <a:p>
            <a:pPr algn="ctr" indent="0" marL="0">
              <a:buNone/>
            </a:pPr>
            <a:r>
              <a:rPr lang="en-US" sz="720" dirty="0">
                <a:solidFill>
                  <a:srgbClr val="AAB5D6"/>
                </a:solidFill>
              </a:rPr>
              <a:t>train · validation · test</a:t>
            </a:r>
            <a:endParaRPr lang="en-US" sz="720" dirty="0"/>
          </a:p>
        </p:txBody>
      </p:sp>
      <p:sp>
        <p:nvSpPr>
          <p:cNvPr id="23" name="Shape 21"/>
          <p:cNvSpPr/>
          <p:nvPr/>
        </p:nvSpPr>
        <p:spPr>
          <a:xfrm>
            <a:off x="8439912" y="2130552"/>
            <a:ext cx="384048" cy="0"/>
          </a:xfrm>
          <a:prstGeom prst="line">
            <a:avLst/>
          </a:prstGeom>
          <a:noFill/>
          <a:ln w="15240">
            <a:solidFill>
              <a:srgbClr val="7885AA"/>
            </a:solidFill>
            <a:prstDash val="solid"/>
            <a:tailEnd type="triangle"/>
          </a:ln>
        </p:spPr>
      </p:sp>
      <p:sp>
        <p:nvSpPr>
          <p:cNvPr id="24" name="Shape 22"/>
          <p:cNvSpPr/>
          <p:nvPr/>
        </p:nvSpPr>
        <p:spPr>
          <a:xfrm>
            <a:off x="8851392" y="1627632"/>
            <a:ext cx="2148840" cy="987552"/>
          </a:xfrm>
          <a:prstGeom prst="roundRect">
            <a:avLst>
              <a:gd name="adj" fmla="val 5556"/>
            </a:avLst>
          </a:prstGeom>
          <a:solidFill>
            <a:srgbClr val="162657"/>
          </a:solidFill>
          <a:ln w="10160">
            <a:solidFill>
              <a:srgbClr val="F4C95D">
                <a:alpha val="82000"/>
              </a:srgbClr>
            </a:solidFill>
            <a:prstDash val="solid"/>
          </a:ln>
        </p:spPr>
      </p:sp>
      <p:sp>
        <p:nvSpPr>
          <p:cNvPr id="25" name="Text 23"/>
          <p:cNvSpPr/>
          <p:nvPr/>
        </p:nvSpPr>
        <p:spPr>
          <a:xfrm>
            <a:off x="9015984" y="1828800"/>
            <a:ext cx="1819656" cy="274320"/>
          </a:xfrm>
          <a:prstGeom prst="rect">
            <a:avLst/>
          </a:prstGeom>
          <a:noFill/>
          <a:ln/>
        </p:spPr>
        <p:txBody>
          <a:bodyPr wrap="square" lIns="0" tIns="0" rIns="0" bIns="0" rtlCol="0" anchor="ctr"/>
          <a:lstStyle/>
          <a:p>
            <a:pPr algn="ctr" indent="0" marL="0">
              <a:buNone/>
            </a:pPr>
            <a:r>
              <a:rPr lang="en-US" sz="1900" b="1" dirty="0">
                <a:solidFill>
                  <a:srgbClr val="F8FAFF"/>
                </a:solidFill>
              </a:rPr>
              <a:t>37–38</a:t>
            </a:r>
            <a:endParaRPr lang="en-US" sz="1900" dirty="0"/>
          </a:p>
        </p:txBody>
      </p:sp>
      <p:sp>
        <p:nvSpPr>
          <p:cNvPr id="26" name="Text 24"/>
          <p:cNvSpPr/>
          <p:nvPr/>
        </p:nvSpPr>
        <p:spPr>
          <a:xfrm>
            <a:off x="8997696" y="2148840"/>
            <a:ext cx="1856232" cy="146304"/>
          </a:xfrm>
          <a:prstGeom prst="rect">
            <a:avLst/>
          </a:prstGeom>
          <a:noFill/>
          <a:ln/>
        </p:spPr>
        <p:txBody>
          <a:bodyPr wrap="square" lIns="0" tIns="0" rIns="0" bIns="0" rtlCol="0" anchor="ctr"/>
          <a:lstStyle/>
          <a:p>
            <a:pPr algn="ctr" indent="0" marL="0">
              <a:buNone/>
            </a:pPr>
            <a:r>
              <a:rPr lang="en-US" sz="870" b="1" dirty="0">
                <a:solidFill>
                  <a:srgbClr val="E8EDFA"/>
                </a:solidFill>
              </a:rPr>
              <a:t>reviewed features</a:t>
            </a:r>
            <a:endParaRPr lang="en-US" sz="870" dirty="0"/>
          </a:p>
        </p:txBody>
      </p:sp>
      <p:sp>
        <p:nvSpPr>
          <p:cNvPr id="27" name="Text 25"/>
          <p:cNvSpPr/>
          <p:nvPr/>
        </p:nvSpPr>
        <p:spPr>
          <a:xfrm>
            <a:off x="8997696" y="2359152"/>
            <a:ext cx="1856232" cy="137160"/>
          </a:xfrm>
          <a:prstGeom prst="rect">
            <a:avLst/>
          </a:prstGeom>
          <a:noFill/>
          <a:ln/>
        </p:spPr>
        <p:txBody>
          <a:bodyPr wrap="square" lIns="0" tIns="0" rIns="0" bIns="0" rtlCol="0" anchor="ctr"/>
          <a:lstStyle/>
          <a:p>
            <a:pPr algn="ctr" indent="0" marL="0">
              <a:buNone/>
            </a:pPr>
            <a:r>
              <a:rPr lang="en-US" sz="720" dirty="0">
                <a:solidFill>
                  <a:srgbClr val="AAB5D6"/>
                </a:solidFill>
              </a:rPr>
              <a:t>baseline + challenger</a:t>
            </a:r>
            <a:endParaRPr lang="en-US" sz="720" dirty="0"/>
          </a:p>
        </p:txBody>
      </p:sp>
      <p:sp>
        <p:nvSpPr>
          <p:cNvPr id="28" name="Shape 26"/>
          <p:cNvSpPr/>
          <p:nvPr/>
        </p:nvSpPr>
        <p:spPr>
          <a:xfrm>
            <a:off x="685800" y="3154680"/>
            <a:ext cx="4663440" cy="2377440"/>
          </a:xfrm>
          <a:prstGeom prst="roundRect">
            <a:avLst>
              <a:gd name="adj" fmla="val 2308"/>
            </a:avLst>
          </a:prstGeom>
          <a:solidFill>
            <a:srgbClr val="111C42"/>
          </a:solidFill>
          <a:ln w="10160">
            <a:solidFill>
              <a:srgbClr val="2A3866">
                <a:alpha val="82000"/>
              </a:srgbClr>
            </a:solidFill>
            <a:prstDash val="solid"/>
          </a:ln>
        </p:spPr>
      </p:sp>
      <p:sp>
        <p:nvSpPr>
          <p:cNvPr id="29" name="Text 27"/>
          <p:cNvSpPr/>
          <p:nvPr/>
        </p:nvSpPr>
        <p:spPr>
          <a:xfrm>
            <a:off x="960120" y="3456432"/>
            <a:ext cx="2468880" cy="164592"/>
          </a:xfrm>
          <a:prstGeom prst="rect">
            <a:avLst/>
          </a:prstGeom>
          <a:noFill/>
          <a:ln/>
        </p:spPr>
        <p:txBody>
          <a:bodyPr wrap="square" lIns="0" tIns="0" rIns="0" bIns="0" rtlCol="0" anchor="ctr"/>
          <a:lstStyle/>
          <a:p>
            <a:pPr indent="0" marL="0">
              <a:buNone/>
            </a:pPr>
            <a:r>
              <a:rPr lang="en-US" sz="760" b="1" spc="125" kern="0" dirty="0">
                <a:solidFill>
                  <a:srgbClr val="38D9F2"/>
                </a:solidFill>
              </a:rPr>
              <a:t>CHRONOLOGICAL VALIDATION</a:t>
            </a:r>
            <a:endParaRPr lang="en-US" sz="760" dirty="0"/>
          </a:p>
        </p:txBody>
      </p:sp>
      <p:sp>
        <p:nvSpPr>
          <p:cNvPr id="30" name="Shape 28"/>
          <p:cNvSpPr/>
          <p:nvPr/>
        </p:nvSpPr>
        <p:spPr>
          <a:xfrm>
            <a:off x="987552" y="4069080"/>
            <a:ext cx="2911427" cy="411480"/>
          </a:xfrm>
          <a:prstGeom prst="rect">
            <a:avLst/>
          </a:prstGeom>
          <a:solidFill>
            <a:srgbClr val="3A7AFE"/>
          </a:solidFill>
          <a:ln w="12700">
            <a:solidFill>
              <a:srgbClr val="FFFFFF">
                <a:alpha val="0"/>
              </a:srgbClr>
            </a:solidFill>
            <a:prstDash val="solid"/>
          </a:ln>
        </p:spPr>
      </p:sp>
      <p:sp>
        <p:nvSpPr>
          <p:cNvPr id="31" name="Text 29"/>
          <p:cNvSpPr/>
          <p:nvPr/>
        </p:nvSpPr>
        <p:spPr>
          <a:xfrm>
            <a:off x="987552" y="4599432"/>
            <a:ext cx="2911427" cy="146304"/>
          </a:xfrm>
          <a:prstGeom prst="rect">
            <a:avLst/>
          </a:prstGeom>
          <a:noFill/>
          <a:ln/>
        </p:spPr>
        <p:txBody>
          <a:bodyPr wrap="square" lIns="0" tIns="0" rIns="0" bIns="0" rtlCol="0" anchor="ctr"/>
          <a:lstStyle/>
          <a:p>
            <a:pPr algn="ctr" indent="0" marL="0">
              <a:buNone/>
            </a:pPr>
            <a:r>
              <a:rPr lang="en-US" sz="770" b="1" dirty="0">
                <a:solidFill>
                  <a:srgbClr val="E8EDFA"/>
                </a:solidFill>
              </a:rPr>
              <a:t>Train</a:t>
            </a:r>
            <a:endParaRPr lang="en-US" sz="770" dirty="0"/>
          </a:p>
        </p:txBody>
      </p:sp>
      <p:sp>
        <p:nvSpPr>
          <p:cNvPr id="32" name="Text 30"/>
          <p:cNvSpPr/>
          <p:nvPr/>
        </p:nvSpPr>
        <p:spPr>
          <a:xfrm>
            <a:off x="987552" y="4828032"/>
            <a:ext cx="2911427" cy="146304"/>
          </a:xfrm>
          <a:prstGeom prst="rect">
            <a:avLst/>
          </a:prstGeom>
          <a:noFill/>
          <a:ln/>
        </p:spPr>
        <p:txBody>
          <a:bodyPr wrap="square" lIns="0" tIns="0" rIns="0" bIns="0" rtlCol="0" anchor="ctr"/>
          <a:lstStyle/>
          <a:p>
            <a:pPr algn="ctr" indent="0" marL="0">
              <a:buNone/>
            </a:pPr>
            <a:r>
              <a:rPr lang="en-US" sz="750" dirty="0">
                <a:solidFill>
                  <a:srgbClr val="AAB5D6"/>
                </a:solidFill>
              </a:rPr>
              <a:t>71.6%</a:t>
            </a:r>
            <a:endParaRPr lang="en-US" sz="750" dirty="0"/>
          </a:p>
        </p:txBody>
      </p:sp>
      <p:sp>
        <p:nvSpPr>
          <p:cNvPr id="33" name="Text 31"/>
          <p:cNvSpPr/>
          <p:nvPr/>
        </p:nvSpPr>
        <p:spPr>
          <a:xfrm>
            <a:off x="987552" y="5038344"/>
            <a:ext cx="2911427" cy="128016"/>
          </a:xfrm>
          <a:prstGeom prst="rect">
            <a:avLst/>
          </a:prstGeom>
          <a:noFill/>
          <a:ln/>
        </p:spPr>
        <p:txBody>
          <a:bodyPr wrap="square" lIns="0" tIns="0" rIns="0" bIns="0" rtlCol="0" anchor="ctr"/>
          <a:lstStyle/>
          <a:p>
            <a:pPr algn="ctr" indent="0" marL="0">
              <a:buNone/>
            </a:pPr>
            <a:r>
              <a:rPr lang="en-US" sz="660" dirty="0">
                <a:solidFill>
                  <a:srgbClr val="7885AA"/>
                </a:solidFill>
              </a:rPr>
              <a:t>2007–2016</a:t>
            </a:r>
            <a:endParaRPr lang="en-US" sz="660" dirty="0"/>
          </a:p>
        </p:txBody>
      </p:sp>
      <p:sp>
        <p:nvSpPr>
          <p:cNvPr id="34" name="Shape 32"/>
          <p:cNvSpPr/>
          <p:nvPr/>
        </p:nvSpPr>
        <p:spPr>
          <a:xfrm>
            <a:off x="3898979" y="4069080"/>
            <a:ext cx="565195" cy="411480"/>
          </a:xfrm>
          <a:prstGeom prst="rect">
            <a:avLst/>
          </a:prstGeom>
          <a:solidFill>
            <a:srgbClr val="7C5CFF"/>
          </a:solidFill>
          <a:ln w="12700">
            <a:solidFill>
              <a:srgbClr val="FFFFFF">
                <a:alpha val="0"/>
              </a:srgbClr>
            </a:solidFill>
            <a:prstDash val="solid"/>
          </a:ln>
        </p:spPr>
      </p:sp>
      <p:sp>
        <p:nvSpPr>
          <p:cNvPr id="35" name="Text 33"/>
          <p:cNvSpPr/>
          <p:nvPr/>
        </p:nvSpPr>
        <p:spPr>
          <a:xfrm>
            <a:off x="3898979" y="4599432"/>
            <a:ext cx="565195" cy="146304"/>
          </a:xfrm>
          <a:prstGeom prst="rect">
            <a:avLst/>
          </a:prstGeom>
          <a:noFill/>
          <a:ln/>
        </p:spPr>
        <p:txBody>
          <a:bodyPr wrap="square" lIns="0" tIns="0" rIns="0" bIns="0" rtlCol="0" anchor="ctr"/>
          <a:lstStyle/>
          <a:p>
            <a:pPr algn="ctr" indent="0" marL="0">
              <a:buNone/>
            </a:pPr>
            <a:r>
              <a:rPr lang="en-US" sz="770" b="1" dirty="0">
                <a:solidFill>
                  <a:srgbClr val="E8EDFA"/>
                </a:solidFill>
              </a:rPr>
              <a:t>Validation</a:t>
            </a:r>
            <a:endParaRPr lang="en-US" sz="770" dirty="0"/>
          </a:p>
        </p:txBody>
      </p:sp>
      <p:sp>
        <p:nvSpPr>
          <p:cNvPr id="36" name="Text 34"/>
          <p:cNvSpPr/>
          <p:nvPr/>
        </p:nvSpPr>
        <p:spPr>
          <a:xfrm>
            <a:off x="3898979" y="4828032"/>
            <a:ext cx="565195" cy="146304"/>
          </a:xfrm>
          <a:prstGeom prst="rect">
            <a:avLst/>
          </a:prstGeom>
          <a:noFill/>
          <a:ln/>
        </p:spPr>
        <p:txBody>
          <a:bodyPr wrap="square" lIns="0" tIns="0" rIns="0" bIns="0" rtlCol="0" anchor="ctr"/>
          <a:lstStyle/>
          <a:p>
            <a:pPr algn="ctr" indent="0" marL="0">
              <a:buNone/>
            </a:pPr>
            <a:r>
              <a:rPr lang="en-US" sz="750" dirty="0">
                <a:solidFill>
                  <a:srgbClr val="AAB5D6"/>
                </a:solidFill>
              </a:rPr>
              <a:t>13.9%</a:t>
            </a:r>
            <a:endParaRPr lang="en-US" sz="750" dirty="0"/>
          </a:p>
        </p:txBody>
      </p:sp>
      <p:sp>
        <p:nvSpPr>
          <p:cNvPr id="37" name="Text 35"/>
          <p:cNvSpPr/>
          <p:nvPr/>
        </p:nvSpPr>
        <p:spPr>
          <a:xfrm>
            <a:off x="3898979" y="5038344"/>
            <a:ext cx="565195" cy="128016"/>
          </a:xfrm>
          <a:prstGeom prst="rect">
            <a:avLst/>
          </a:prstGeom>
          <a:noFill/>
          <a:ln/>
        </p:spPr>
        <p:txBody>
          <a:bodyPr wrap="square" lIns="0" tIns="0" rIns="0" bIns="0" rtlCol="0" anchor="ctr"/>
          <a:lstStyle/>
          <a:p>
            <a:pPr algn="ctr" indent="0" marL="0">
              <a:buNone/>
            </a:pPr>
            <a:r>
              <a:rPr lang="en-US" sz="660" dirty="0">
                <a:solidFill>
                  <a:srgbClr val="7885AA"/>
                </a:solidFill>
              </a:rPr>
              <a:t>2016–2017</a:t>
            </a:r>
            <a:endParaRPr lang="en-US" sz="660" dirty="0"/>
          </a:p>
        </p:txBody>
      </p:sp>
      <p:sp>
        <p:nvSpPr>
          <p:cNvPr id="38" name="Shape 36"/>
          <p:cNvSpPr/>
          <p:nvPr/>
        </p:nvSpPr>
        <p:spPr>
          <a:xfrm>
            <a:off x="4464174" y="4069080"/>
            <a:ext cx="592051" cy="411480"/>
          </a:xfrm>
          <a:prstGeom prst="rect">
            <a:avLst/>
          </a:prstGeom>
          <a:solidFill>
            <a:srgbClr val="15C99B"/>
          </a:solidFill>
          <a:ln w="12700">
            <a:solidFill>
              <a:srgbClr val="FFFFFF">
                <a:alpha val="0"/>
              </a:srgbClr>
            </a:solidFill>
            <a:prstDash val="solid"/>
          </a:ln>
        </p:spPr>
      </p:sp>
      <p:sp>
        <p:nvSpPr>
          <p:cNvPr id="39" name="Text 37"/>
          <p:cNvSpPr/>
          <p:nvPr/>
        </p:nvSpPr>
        <p:spPr>
          <a:xfrm>
            <a:off x="4464174" y="4599432"/>
            <a:ext cx="592051" cy="146304"/>
          </a:xfrm>
          <a:prstGeom prst="rect">
            <a:avLst/>
          </a:prstGeom>
          <a:noFill/>
          <a:ln/>
        </p:spPr>
        <p:txBody>
          <a:bodyPr wrap="square" lIns="0" tIns="0" rIns="0" bIns="0" rtlCol="0" anchor="ctr"/>
          <a:lstStyle/>
          <a:p>
            <a:pPr algn="ctr" indent="0" marL="0">
              <a:buNone/>
            </a:pPr>
            <a:r>
              <a:rPr lang="en-US" sz="770" b="1" dirty="0">
                <a:solidFill>
                  <a:srgbClr val="E8EDFA"/>
                </a:solidFill>
              </a:rPr>
              <a:t>Test</a:t>
            </a:r>
            <a:endParaRPr lang="en-US" sz="770" dirty="0"/>
          </a:p>
        </p:txBody>
      </p:sp>
      <p:sp>
        <p:nvSpPr>
          <p:cNvPr id="40" name="Text 38"/>
          <p:cNvSpPr/>
          <p:nvPr/>
        </p:nvSpPr>
        <p:spPr>
          <a:xfrm>
            <a:off x="4464174" y="4828032"/>
            <a:ext cx="592051" cy="146304"/>
          </a:xfrm>
          <a:prstGeom prst="rect">
            <a:avLst/>
          </a:prstGeom>
          <a:noFill/>
          <a:ln/>
        </p:spPr>
        <p:txBody>
          <a:bodyPr wrap="square" lIns="0" tIns="0" rIns="0" bIns="0" rtlCol="0" anchor="ctr"/>
          <a:lstStyle/>
          <a:p>
            <a:pPr algn="ctr" indent="0" marL="0">
              <a:buNone/>
            </a:pPr>
            <a:r>
              <a:rPr lang="en-US" sz="750" dirty="0">
                <a:solidFill>
                  <a:srgbClr val="AAB5D6"/>
                </a:solidFill>
              </a:rPr>
              <a:t>14.6%</a:t>
            </a:r>
            <a:endParaRPr lang="en-US" sz="750" dirty="0"/>
          </a:p>
        </p:txBody>
      </p:sp>
      <p:sp>
        <p:nvSpPr>
          <p:cNvPr id="41" name="Text 39"/>
          <p:cNvSpPr/>
          <p:nvPr/>
        </p:nvSpPr>
        <p:spPr>
          <a:xfrm>
            <a:off x="4464174" y="5038344"/>
            <a:ext cx="592051" cy="128016"/>
          </a:xfrm>
          <a:prstGeom prst="rect">
            <a:avLst/>
          </a:prstGeom>
          <a:noFill/>
          <a:ln/>
        </p:spPr>
        <p:txBody>
          <a:bodyPr wrap="square" lIns="0" tIns="0" rIns="0" bIns="0" rtlCol="0" anchor="ctr"/>
          <a:lstStyle/>
          <a:p>
            <a:pPr algn="ctr" indent="0" marL="0">
              <a:buNone/>
            </a:pPr>
            <a:r>
              <a:rPr lang="en-US" sz="660" dirty="0">
                <a:solidFill>
                  <a:srgbClr val="7885AA"/>
                </a:solidFill>
              </a:rPr>
              <a:t>2017–2018</a:t>
            </a:r>
            <a:endParaRPr lang="en-US" sz="660" dirty="0"/>
          </a:p>
        </p:txBody>
      </p:sp>
      <p:sp>
        <p:nvSpPr>
          <p:cNvPr id="42" name="Shape 40"/>
          <p:cNvSpPr/>
          <p:nvPr/>
        </p:nvSpPr>
        <p:spPr>
          <a:xfrm>
            <a:off x="5623560" y="3154680"/>
            <a:ext cx="5532120" cy="2377440"/>
          </a:xfrm>
          <a:prstGeom prst="roundRect">
            <a:avLst>
              <a:gd name="adj" fmla="val 2308"/>
            </a:avLst>
          </a:prstGeom>
          <a:solidFill>
            <a:srgbClr val="111C42"/>
          </a:solidFill>
          <a:ln w="10160">
            <a:solidFill>
              <a:srgbClr val="2A3866">
                <a:alpha val="82000"/>
              </a:srgbClr>
            </a:solidFill>
            <a:prstDash val="solid"/>
          </a:ln>
        </p:spPr>
      </p:sp>
      <p:sp>
        <p:nvSpPr>
          <p:cNvPr id="43" name="Text 41"/>
          <p:cNvSpPr/>
          <p:nvPr/>
        </p:nvSpPr>
        <p:spPr>
          <a:xfrm>
            <a:off x="5897880" y="3456432"/>
            <a:ext cx="2286000" cy="164592"/>
          </a:xfrm>
          <a:prstGeom prst="rect">
            <a:avLst/>
          </a:prstGeom>
          <a:noFill/>
          <a:ln/>
        </p:spPr>
        <p:txBody>
          <a:bodyPr wrap="square" lIns="0" tIns="0" rIns="0" bIns="0" rtlCol="0" anchor="ctr"/>
          <a:lstStyle/>
          <a:p>
            <a:pPr indent="0" marL="0">
              <a:buNone/>
            </a:pPr>
            <a:r>
              <a:rPr lang="en-US" sz="760" b="1" spc="125" kern="0" dirty="0">
                <a:solidFill>
                  <a:srgbClr val="38D9F2"/>
                </a:solidFill>
              </a:rPr>
              <a:t>FEATURE GOVERNANCE</a:t>
            </a:r>
            <a:endParaRPr lang="en-US" sz="760" dirty="0"/>
          </a:p>
        </p:txBody>
      </p:sp>
      <p:sp>
        <p:nvSpPr>
          <p:cNvPr id="44" name="Text 42"/>
          <p:cNvSpPr/>
          <p:nvPr/>
        </p:nvSpPr>
        <p:spPr>
          <a:xfrm>
            <a:off x="5897880" y="3858768"/>
            <a:ext cx="1051560" cy="155448"/>
          </a:xfrm>
          <a:prstGeom prst="rect">
            <a:avLst/>
          </a:prstGeom>
          <a:noFill/>
          <a:ln/>
        </p:spPr>
        <p:txBody>
          <a:bodyPr wrap="square" lIns="0" tIns="0" rIns="0" bIns="0" rtlCol="0" anchor="ctr"/>
          <a:lstStyle/>
          <a:p>
            <a:pPr indent="0" marL="0">
              <a:buNone/>
            </a:pPr>
            <a:r>
              <a:rPr lang="en-US" sz="870" b="1" dirty="0">
                <a:solidFill>
                  <a:srgbClr val="15C99B"/>
                </a:solidFill>
              </a:rPr>
              <a:t>Kept</a:t>
            </a:r>
            <a:endParaRPr lang="en-US" sz="870" dirty="0"/>
          </a:p>
        </p:txBody>
      </p:sp>
      <p:sp>
        <p:nvSpPr>
          <p:cNvPr id="45" name="Text 43"/>
          <p:cNvSpPr/>
          <p:nvPr/>
        </p:nvSpPr>
        <p:spPr>
          <a:xfrm>
            <a:off x="6967728" y="3858768"/>
            <a:ext cx="3566160" cy="155448"/>
          </a:xfrm>
          <a:prstGeom prst="rect">
            <a:avLst/>
          </a:prstGeom>
          <a:noFill/>
          <a:ln/>
        </p:spPr>
        <p:txBody>
          <a:bodyPr wrap="square" lIns="0" tIns="0" rIns="0" bIns="0" rtlCol="0" anchor="ctr"/>
          <a:lstStyle/>
          <a:p>
            <a:pPr indent="0" marL="0">
              <a:buNone/>
            </a:pPr>
            <a:r>
              <a:rPr lang="en-US" sz="880" dirty="0">
                <a:solidFill>
                  <a:srgbClr val="E8EDFA"/>
                </a:solidFill>
              </a:rPr>
              <a:t>application-time and bureau-style attributes</a:t>
            </a:r>
            <a:endParaRPr lang="en-US" sz="880" dirty="0"/>
          </a:p>
        </p:txBody>
      </p:sp>
      <p:sp>
        <p:nvSpPr>
          <p:cNvPr id="46" name="Text 44"/>
          <p:cNvSpPr/>
          <p:nvPr/>
        </p:nvSpPr>
        <p:spPr>
          <a:xfrm>
            <a:off x="5897880" y="4242816"/>
            <a:ext cx="1051560" cy="155448"/>
          </a:xfrm>
          <a:prstGeom prst="rect">
            <a:avLst/>
          </a:prstGeom>
          <a:noFill/>
          <a:ln/>
        </p:spPr>
        <p:txBody>
          <a:bodyPr wrap="square" lIns="0" tIns="0" rIns="0" bIns="0" rtlCol="0" anchor="ctr"/>
          <a:lstStyle/>
          <a:p>
            <a:pPr indent="0" marL="0">
              <a:buNone/>
            </a:pPr>
            <a:r>
              <a:rPr lang="en-US" sz="870" b="1" dirty="0">
                <a:solidFill>
                  <a:srgbClr val="15C99B"/>
                </a:solidFill>
              </a:rPr>
              <a:t>Derived</a:t>
            </a:r>
            <a:endParaRPr lang="en-US" sz="870" dirty="0"/>
          </a:p>
        </p:txBody>
      </p:sp>
      <p:sp>
        <p:nvSpPr>
          <p:cNvPr id="47" name="Text 45"/>
          <p:cNvSpPr/>
          <p:nvPr/>
        </p:nvSpPr>
        <p:spPr>
          <a:xfrm>
            <a:off x="6967728" y="4242816"/>
            <a:ext cx="3566160" cy="155448"/>
          </a:xfrm>
          <a:prstGeom prst="rect">
            <a:avLst/>
          </a:prstGeom>
          <a:noFill/>
          <a:ln/>
        </p:spPr>
        <p:txBody>
          <a:bodyPr wrap="square" lIns="0" tIns="0" rIns="0" bIns="0" rtlCol="0" anchor="ctr"/>
          <a:lstStyle/>
          <a:p>
            <a:pPr indent="0" marL="0">
              <a:buNone/>
            </a:pPr>
            <a:r>
              <a:rPr lang="en-US" sz="880" dirty="0">
                <a:solidFill>
                  <a:srgbClr val="E8EDFA"/>
                </a:solidFill>
              </a:rPr>
              <a:t>term_months, emp_length_years, fico_mean, credit-history age</a:t>
            </a:r>
            <a:endParaRPr lang="en-US" sz="880" dirty="0"/>
          </a:p>
        </p:txBody>
      </p:sp>
      <p:sp>
        <p:nvSpPr>
          <p:cNvPr id="48" name="Text 46"/>
          <p:cNvSpPr/>
          <p:nvPr/>
        </p:nvSpPr>
        <p:spPr>
          <a:xfrm>
            <a:off x="5897880" y="4626864"/>
            <a:ext cx="1051560" cy="155448"/>
          </a:xfrm>
          <a:prstGeom prst="rect">
            <a:avLst/>
          </a:prstGeom>
          <a:noFill/>
          <a:ln/>
        </p:spPr>
        <p:txBody>
          <a:bodyPr wrap="square" lIns="0" tIns="0" rIns="0" bIns="0" rtlCol="0" anchor="ctr"/>
          <a:lstStyle/>
          <a:p>
            <a:pPr indent="0" marL="0">
              <a:buNone/>
            </a:pPr>
            <a:r>
              <a:rPr lang="en-US" sz="870" b="1" dirty="0">
                <a:solidFill>
                  <a:srgbClr val="FF627A"/>
                </a:solidFill>
              </a:rPr>
              <a:t>Excluded</a:t>
            </a:r>
            <a:endParaRPr lang="en-US" sz="870" dirty="0"/>
          </a:p>
        </p:txBody>
      </p:sp>
      <p:sp>
        <p:nvSpPr>
          <p:cNvPr id="49" name="Text 47"/>
          <p:cNvSpPr/>
          <p:nvPr/>
        </p:nvSpPr>
        <p:spPr>
          <a:xfrm>
            <a:off x="6967728" y="4626864"/>
            <a:ext cx="3566160" cy="155448"/>
          </a:xfrm>
          <a:prstGeom prst="rect">
            <a:avLst/>
          </a:prstGeom>
          <a:noFill/>
          <a:ln/>
        </p:spPr>
        <p:txBody>
          <a:bodyPr wrap="square" lIns="0" tIns="0" rIns="0" bIns="0" rtlCol="0" anchor="ctr"/>
          <a:lstStyle/>
          <a:p>
            <a:pPr indent="0" marL="0">
              <a:buNone/>
            </a:pPr>
            <a:r>
              <a:rPr lang="en-US" sz="880" dirty="0">
                <a:solidFill>
                  <a:srgbClr val="E8EDFA"/>
                </a:solidFill>
              </a:rPr>
              <a:t>payments, recoveries, servicing, hardship, last-FICO, last-credit-pull</a:t>
            </a:r>
            <a:endParaRPr lang="en-US" sz="880" dirty="0"/>
          </a:p>
        </p:txBody>
      </p:sp>
      <p:sp>
        <p:nvSpPr>
          <p:cNvPr id="50" name="Text 48"/>
          <p:cNvSpPr/>
          <p:nvPr/>
        </p:nvSpPr>
        <p:spPr>
          <a:xfrm>
            <a:off x="5897880" y="5010912"/>
            <a:ext cx="1051560" cy="155448"/>
          </a:xfrm>
          <a:prstGeom prst="rect">
            <a:avLst/>
          </a:prstGeom>
          <a:noFill/>
          <a:ln/>
        </p:spPr>
        <p:txBody>
          <a:bodyPr wrap="square" lIns="0" tIns="0" rIns="0" bIns="0" rtlCol="0" anchor="ctr"/>
          <a:lstStyle/>
          <a:p>
            <a:pPr indent="0" marL="0">
              <a:buNone/>
            </a:pPr>
            <a:r>
              <a:rPr lang="en-US" sz="870" b="1" dirty="0">
                <a:solidFill>
                  <a:srgbClr val="F4C95D"/>
                </a:solidFill>
              </a:rPr>
              <a:t>Out of scope</a:t>
            </a:r>
            <a:endParaRPr lang="en-US" sz="870" dirty="0"/>
          </a:p>
        </p:txBody>
      </p:sp>
      <p:sp>
        <p:nvSpPr>
          <p:cNvPr id="51" name="Text 49"/>
          <p:cNvSpPr/>
          <p:nvPr/>
        </p:nvSpPr>
        <p:spPr>
          <a:xfrm>
            <a:off x="6967728" y="5010912"/>
            <a:ext cx="3566160" cy="155448"/>
          </a:xfrm>
          <a:prstGeom prst="rect">
            <a:avLst/>
          </a:prstGeom>
          <a:noFill/>
          <a:ln/>
        </p:spPr>
        <p:txBody>
          <a:bodyPr wrap="square" lIns="0" tIns="0" rIns="0" bIns="0" rtlCol="0" anchor="ctr"/>
          <a:lstStyle/>
          <a:p>
            <a:pPr indent="0" marL="0">
              <a:buNone/>
            </a:pPr>
            <a:r>
              <a:rPr lang="en-US" sz="880" dirty="0">
                <a:solidFill>
                  <a:srgbClr val="E8EDFA"/>
                </a:solidFill>
              </a:rPr>
              <a:t>rejected applicants as default labels</a:t>
            </a:r>
            <a:endParaRPr lang="en-US" sz="880" dirty="0"/>
          </a:p>
        </p:txBody>
      </p:sp>
      <p:sp>
        <p:nvSpPr>
          <p:cNvPr id="52" name="Text 50"/>
          <p:cNvSpPr/>
          <p:nvPr/>
        </p:nvSpPr>
        <p:spPr>
          <a:xfrm>
            <a:off x="804672" y="5897880"/>
            <a:ext cx="10515600" cy="256032"/>
          </a:xfrm>
          <a:prstGeom prst="rect">
            <a:avLst/>
          </a:prstGeom>
          <a:noFill/>
          <a:ln/>
        </p:spPr>
        <p:txBody>
          <a:bodyPr wrap="square" lIns="0" tIns="0" rIns="0" bIns="0" rtlCol="0" anchor="ctr"/>
          <a:lstStyle/>
          <a:p>
            <a:pPr algn="ctr" indent="0" marL="0">
              <a:buNone/>
            </a:pPr>
            <a:r>
              <a:rPr lang="en-US" sz="1200" b="1" dirty="0">
                <a:solidFill>
                  <a:srgbClr val="F8FAFF"/>
                </a:solidFill>
              </a:rPr>
              <a:t>Senior-data-science lens: target definition, censoring, leakage control, and temporal validation come before algorithms.</a:t>
            </a:r>
            <a:endParaRPr lang="en-US" sz="1200" dirty="0"/>
          </a:p>
        </p:txBody>
      </p:sp>
      <p:sp>
        <p:nvSpPr>
          <p:cNvPr id="53" name="Text 51"/>
          <p:cNvSpPr/>
          <p:nvPr/>
        </p:nvSpPr>
        <p:spPr>
          <a:xfrm>
            <a:off x="502920" y="6537960"/>
            <a:ext cx="10607040" cy="146304"/>
          </a:xfrm>
          <a:prstGeom prst="rect">
            <a:avLst/>
          </a:prstGeom>
          <a:noFill/>
          <a:ln/>
        </p:spPr>
        <p:txBody>
          <a:bodyPr wrap="square" lIns="0" tIns="0" rIns="0" bIns="0" rtlCol="0" anchor="ctr"/>
          <a:lstStyle/>
          <a:p>
            <a:pPr indent="0" marL="0">
              <a:buNone/>
            </a:pPr>
            <a:r>
              <a:rPr lang="en-US" sz="680" dirty="0">
                <a:solidFill>
                  <a:srgbClr val="7885AA"/>
                </a:solidFill>
              </a:rPr>
              <a:t>Artifacts: accepted-loan EDA, cleaning decisions, preprocessing split summary, feature-set summary.</a:t>
            </a:r>
            <a:endParaRPr lang="en-US" sz="680" dirty="0"/>
          </a:p>
        </p:txBody>
      </p:sp>
      <p:sp>
        <p:nvSpPr>
          <p:cNvPr id="54" name="Text 52"/>
          <p:cNvSpPr/>
          <p:nvPr/>
        </p:nvSpPr>
        <p:spPr>
          <a:xfrm>
            <a:off x="11292840" y="6492240"/>
            <a:ext cx="320040" cy="146304"/>
          </a:xfrm>
          <a:prstGeom prst="rect">
            <a:avLst/>
          </a:prstGeom>
          <a:noFill/>
          <a:ln/>
        </p:spPr>
        <p:txBody>
          <a:bodyPr wrap="square" lIns="0" tIns="0" rIns="0" bIns="0" rtlCol="0" anchor="ctr"/>
          <a:lstStyle/>
          <a:p>
            <a:pPr algn="r" indent="0" marL="0">
              <a:buNone/>
            </a:pPr>
            <a:r>
              <a:rPr lang="en-US" sz="780" b="1" dirty="0">
                <a:solidFill>
                  <a:srgbClr val="7885AA"/>
                </a:solidFill>
              </a:rPr>
              <a:t>04</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024"/>
        </a:solidFill>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8D9F2">
              <a:alpha val="45000"/>
            </a:srgbClr>
          </a:solidFill>
          <a:ln w="12700">
            <a:solidFill>
              <a:srgbClr val="FFFFFF">
                <a:alpha val="0"/>
              </a:srgbClr>
            </a:solidFill>
            <a:prstDash val="solid"/>
          </a:ln>
        </p:spPr>
      </p:sp>
      <p:sp>
        <p:nvSpPr>
          <p:cNvPr id="3" name="Shape 1"/>
          <p:cNvSpPr/>
          <p:nvPr/>
        </p:nvSpPr>
        <p:spPr>
          <a:xfrm>
            <a:off x="0" y="6821424"/>
            <a:ext cx="12191695" cy="36576"/>
          </a:xfrm>
          <a:prstGeom prst="rect">
            <a:avLst/>
          </a:prstGeom>
          <a:solidFill>
            <a:srgbClr val="3A7AFE">
              <a:alpha val="30000"/>
            </a:srgbClr>
          </a:solidFill>
          <a:ln w="12700">
            <a:solidFill>
              <a:srgbClr val="FFFFFF">
                <a:alpha val="0"/>
              </a:srgbClr>
            </a:solidFill>
            <a:prstDash val="solid"/>
          </a:ln>
        </p:spPr>
      </p:sp>
      <p:sp>
        <p:nvSpPr>
          <p:cNvPr id="4" name="Text 2"/>
          <p:cNvSpPr/>
          <p:nvPr/>
        </p:nvSpPr>
        <p:spPr>
          <a:xfrm>
            <a:off x="502920" y="228600"/>
            <a:ext cx="2606040" cy="164592"/>
          </a:xfrm>
          <a:prstGeom prst="rect">
            <a:avLst/>
          </a:prstGeom>
          <a:noFill/>
          <a:ln/>
        </p:spPr>
        <p:txBody>
          <a:bodyPr wrap="square" lIns="0" tIns="0" rIns="0" bIns="0" rtlCol="0" anchor="ctr"/>
          <a:lstStyle/>
          <a:p>
            <a:pPr indent="0" marL="0">
              <a:buNone/>
            </a:pPr>
            <a:r>
              <a:rPr lang="en-US" sz="830" b="1" spc="170" kern="0" dirty="0">
                <a:solidFill>
                  <a:srgbClr val="38D9F2"/>
                </a:solidFill>
              </a:rPr>
              <a:t>METHODS</a:t>
            </a:r>
            <a:endParaRPr lang="en-US" sz="830" dirty="0"/>
          </a:p>
        </p:txBody>
      </p:sp>
      <p:sp>
        <p:nvSpPr>
          <p:cNvPr id="5" name="Text 3"/>
          <p:cNvSpPr/>
          <p:nvPr/>
        </p:nvSpPr>
        <p:spPr>
          <a:xfrm>
            <a:off x="502920" y="502920"/>
            <a:ext cx="9509760" cy="457200"/>
          </a:xfrm>
          <a:prstGeom prst="rect">
            <a:avLst/>
          </a:prstGeom>
          <a:noFill/>
          <a:ln/>
        </p:spPr>
        <p:txBody>
          <a:bodyPr wrap="square" lIns="0" tIns="0" rIns="0" bIns="0" rtlCol="0" anchor="ctr"/>
          <a:lstStyle/>
          <a:p>
            <a:pPr indent="0" marL="0">
              <a:buNone/>
            </a:pPr>
            <a:r>
              <a:rPr lang="en-US" sz="2350" b="1" dirty="0">
                <a:solidFill>
                  <a:srgbClr val="F8FAFF"/>
                </a:solidFill>
                <a:latin typeface="Aptos Display" pitchFamily="34" charset="0"/>
                <a:ea typeface="Aptos Display" pitchFamily="34" charset="-122"/>
                <a:cs typeface="Aptos Display" pitchFamily="34" charset="-120"/>
              </a:rPr>
              <a:t>A governed model-to-explanation pipeline</a:t>
            </a:r>
            <a:endParaRPr lang="en-US" sz="2350" dirty="0"/>
          </a:p>
        </p:txBody>
      </p:sp>
      <p:sp>
        <p:nvSpPr>
          <p:cNvPr id="6" name="Text 4"/>
          <p:cNvSpPr/>
          <p:nvPr/>
        </p:nvSpPr>
        <p:spPr>
          <a:xfrm>
            <a:off x="9966960" y="292608"/>
            <a:ext cx="1719072" cy="164592"/>
          </a:xfrm>
          <a:prstGeom prst="rect">
            <a:avLst/>
          </a:prstGeom>
          <a:noFill/>
          <a:ln/>
        </p:spPr>
        <p:txBody>
          <a:bodyPr wrap="square" lIns="0" tIns="0" rIns="0" bIns="0" rtlCol="0" anchor="ctr"/>
          <a:lstStyle/>
          <a:p>
            <a:pPr algn="r" indent="0" marL="0">
              <a:buNone/>
            </a:pPr>
            <a:r>
              <a:rPr lang="en-US" sz="870" b="1" dirty="0">
                <a:solidFill>
                  <a:srgbClr val="AAB5D6"/>
                </a:solidFill>
              </a:rPr>
              <a:t>Yash · 2:20–3:15</a:t>
            </a:r>
            <a:endParaRPr lang="en-US" sz="870" dirty="0"/>
          </a:p>
        </p:txBody>
      </p:sp>
      <p:sp>
        <p:nvSpPr>
          <p:cNvPr id="7" name="Shape 5"/>
          <p:cNvSpPr/>
          <p:nvPr/>
        </p:nvSpPr>
        <p:spPr>
          <a:xfrm>
            <a:off x="502920" y="1042416"/>
            <a:ext cx="11109960" cy="0"/>
          </a:xfrm>
          <a:prstGeom prst="line">
            <a:avLst/>
          </a:prstGeom>
          <a:noFill/>
          <a:ln w="12700">
            <a:solidFill>
              <a:srgbClr val="2A3866"/>
            </a:solidFill>
            <a:prstDash val="solid"/>
          </a:ln>
        </p:spPr>
      </p:sp>
      <p:sp>
        <p:nvSpPr>
          <p:cNvPr id="8" name="Text 6"/>
          <p:cNvSpPr/>
          <p:nvPr/>
        </p:nvSpPr>
        <p:spPr>
          <a:xfrm>
            <a:off x="566928" y="1243584"/>
            <a:ext cx="10149840" cy="292608"/>
          </a:xfrm>
          <a:prstGeom prst="rect">
            <a:avLst/>
          </a:prstGeom>
          <a:noFill/>
          <a:ln/>
        </p:spPr>
        <p:txBody>
          <a:bodyPr wrap="square" lIns="0" tIns="0" rIns="0" bIns="0" rtlCol="0" anchor="ctr"/>
          <a:lstStyle/>
          <a:p>
            <a:pPr indent="0" marL="0">
              <a:buNone/>
            </a:pPr>
            <a:r>
              <a:rPr lang="en-US" sz="1680" b="1" dirty="0">
                <a:solidFill>
                  <a:srgbClr val="F8FAFF"/>
                </a:solidFill>
              </a:rPr>
              <a:t>Design principle: every generated sentence must be traceable to both model evidence and regulatory evidence.</a:t>
            </a:r>
            <a:endParaRPr lang="en-US" sz="1680" dirty="0"/>
          </a:p>
        </p:txBody>
      </p:sp>
      <p:sp>
        <p:nvSpPr>
          <p:cNvPr id="9" name="Shape 7"/>
          <p:cNvSpPr/>
          <p:nvPr/>
        </p:nvSpPr>
        <p:spPr>
          <a:xfrm>
            <a:off x="594360" y="1874520"/>
            <a:ext cx="1554480" cy="1444752"/>
          </a:xfrm>
          <a:prstGeom prst="roundRect">
            <a:avLst>
              <a:gd name="adj" fmla="val 3797"/>
            </a:avLst>
          </a:prstGeom>
          <a:solidFill>
            <a:srgbClr val="162657"/>
          </a:solidFill>
          <a:ln w="10160">
            <a:solidFill>
              <a:srgbClr val="3A7AFE">
                <a:alpha val="82000"/>
              </a:srgbClr>
            </a:solidFill>
            <a:prstDash val="solid"/>
          </a:ln>
        </p:spPr>
      </p:sp>
      <p:sp>
        <p:nvSpPr>
          <p:cNvPr id="10" name="Text 8"/>
          <p:cNvSpPr/>
          <p:nvPr/>
        </p:nvSpPr>
        <p:spPr>
          <a:xfrm>
            <a:off x="722376" y="2121408"/>
            <a:ext cx="1298448" cy="219456"/>
          </a:xfrm>
          <a:prstGeom prst="rect">
            <a:avLst/>
          </a:prstGeom>
          <a:noFill/>
          <a:ln/>
        </p:spPr>
        <p:txBody>
          <a:bodyPr wrap="square" lIns="0" tIns="0" rIns="0" bIns="0" rtlCol="0" anchor="ctr"/>
          <a:lstStyle/>
          <a:p>
            <a:pPr algn="ctr" indent="0" marL="0">
              <a:buNone/>
            </a:pPr>
            <a:r>
              <a:rPr lang="en-US" sz="1280" b="1" dirty="0">
                <a:solidFill>
                  <a:srgbClr val="F8FAFF"/>
                </a:solidFill>
              </a:rPr>
              <a:t>Benchmark</a:t>
            </a:r>
            <a:endParaRPr lang="en-US" sz="1280" dirty="0"/>
          </a:p>
        </p:txBody>
      </p:sp>
      <p:sp>
        <p:nvSpPr>
          <p:cNvPr id="11" name="Text 9"/>
          <p:cNvSpPr/>
          <p:nvPr/>
        </p:nvSpPr>
        <p:spPr>
          <a:xfrm>
            <a:off x="704088" y="2587752"/>
            <a:ext cx="1325880" cy="347472"/>
          </a:xfrm>
          <a:prstGeom prst="rect">
            <a:avLst/>
          </a:prstGeom>
          <a:noFill/>
          <a:ln/>
        </p:spPr>
        <p:txBody>
          <a:bodyPr wrap="square" lIns="0" tIns="0" rIns="0" bIns="0" rtlCol="0" anchor="ctr"/>
          <a:lstStyle/>
          <a:p>
            <a:pPr algn="ctr" indent="0" marL="0">
              <a:buNone/>
            </a:pPr>
            <a:r>
              <a:rPr lang="en-US" sz="760" dirty="0">
                <a:solidFill>
                  <a:srgbClr val="AAB5D6"/>
                </a:solidFill>
              </a:rPr>
              <a:t>LR / RF / HGB</a:t>
            </a:r>
            <a:endParaRPr lang="en-US" sz="760" dirty="0"/>
          </a:p>
          <a:p>
            <a:pPr algn="ctr" indent="0" marL="0">
              <a:buNone/>
            </a:pPr>
            <a:r>
              <a:rPr lang="en-US" sz="760" dirty="0">
                <a:solidFill>
                  <a:srgbClr val="AAB5D6"/>
                </a:solidFill>
              </a:rPr>
              <a:t>LightGBM / XGB / CatBoost</a:t>
            </a:r>
            <a:endParaRPr lang="en-US" sz="760" dirty="0"/>
          </a:p>
        </p:txBody>
      </p:sp>
      <p:sp>
        <p:nvSpPr>
          <p:cNvPr id="12" name="Shape 10"/>
          <p:cNvSpPr/>
          <p:nvPr/>
        </p:nvSpPr>
        <p:spPr>
          <a:xfrm>
            <a:off x="2185416" y="2587752"/>
            <a:ext cx="292608" cy="0"/>
          </a:xfrm>
          <a:prstGeom prst="line">
            <a:avLst/>
          </a:prstGeom>
          <a:noFill/>
          <a:ln w="15240">
            <a:solidFill>
              <a:srgbClr val="7885AA"/>
            </a:solidFill>
            <a:prstDash val="solid"/>
            <a:tailEnd type="triangle"/>
          </a:ln>
        </p:spPr>
      </p:sp>
      <p:sp>
        <p:nvSpPr>
          <p:cNvPr id="13" name="Shape 11"/>
          <p:cNvSpPr/>
          <p:nvPr/>
        </p:nvSpPr>
        <p:spPr>
          <a:xfrm>
            <a:off x="2496312" y="1874520"/>
            <a:ext cx="1554480" cy="1444752"/>
          </a:xfrm>
          <a:prstGeom prst="roundRect">
            <a:avLst>
              <a:gd name="adj" fmla="val 3797"/>
            </a:avLst>
          </a:prstGeom>
          <a:solidFill>
            <a:srgbClr val="162657"/>
          </a:solidFill>
          <a:ln w="10160">
            <a:solidFill>
              <a:srgbClr val="F4C95D">
                <a:alpha val="82000"/>
              </a:srgbClr>
            </a:solidFill>
            <a:prstDash val="solid"/>
          </a:ln>
        </p:spPr>
      </p:sp>
      <p:sp>
        <p:nvSpPr>
          <p:cNvPr id="14" name="Text 12"/>
          <p:cNvSpPr/>
          <p:nvPr/>
        </p:nvSpPr>
        <p:spPr>
          <a:xfrm>
            <a:off x="2624328" y="2121408"/>
            <a:ext cx="1298448" cy="219456"/>
          </a:xfrm>
          <a:prstGeom prst="rect">
            <a:avLst/>
          </a:prstGeom>
          <a:noFill/>
          <a:ln/>
        </p:spPr>
        <p:txBody>
          <a:bodyPr wrap="square" lIns="0" tIns="0" rIns="0" bIns="0" rtlCol="0" anchor="ctr"/>
          <a:lstStyle/>
          <a:p>
            <a:pPr algn="ctr" indent="0" marL="0">
              <a:buNone/>
            </a:pPr>
            <a:r>
              <a:rPr lang="en-US" sz="1280" b="1" dirty="0">
                <a:solidFill>
                  <a:srgbClr val="F8FAFF"/>
                </a:solidFill>
              </a:rPr>
              <a:t>Calibrate</a:t>
            </a:r>
            <a:endParaRPr lang="en-US" sz="1280" dirty="0"/>
          </a:p>
        </p:txBody>
      </p:sp>
      <p:sp>
        <p:nvSpPr>
          <p:cNvPr id="15" name="Text 13"/>
          <p:cNvSpPr/>
          <p:nvPr/>
        </p:nvSpPr>
        <p:spPr>
          <a:xfrm>
            <a:off x="2606040" y="2587752"/>
            <a:ext cx="1325880" cy="347472"/>
          </a:xfrm>
          <a:prstGeom prst="rect">
            <a:avLst/>
          </a:prstGeom>
          <a:noFill/>
          <a:ln/>
        </p:spPr>
        <p:txBody>
          <a:bodyPr wrap="square" lIns="0" tIns="0" rIns="0" bIns="0" rtlCol="0" anchor="ctr"/>
          <a:lstStyle/>
          <a:p>
            <a:pPr algn="ctr" indent="0" marL="0">
              <a:buNone/>
            </a:pPr>
            <a:r>
              <a:rPr lang="en-US" sz="760" dirty="0">
                <a:solidFill>
                  <a:srgbClr val="AAB5D6"/>
                </a:solidFill>
              </a:rPr>
              <a:t>Platt sigmoid</a:t>
            </a:r>
            <a:endParaRPr lang="en-US" sz="760" dirty="0"/>
          </a:p>
          <a:p>
            <a:pPr algn="ctr" indent="0" marL="0">
              <a:buNone/>
            </a:pPr>
            <a:r>
              <a:rPr lang="en-US" sz="760" dirty="0">
                <a:solidFill>
                  <a:srgbClr val="AAB5D6"/>
                </a:solidFill>
              </a:rPr>
              <a:t>policy thresholds</a:t>
            </a:r>
            <a:endParaRPr lang="en-US" sz="760" dirty="0"/>
          </a:p>
        </p:txBody>
      </p:sp>
      <p:sp>
        <p:nvSpPr>
          <p:cNvPr id="16" name="Shape 14"/>
          <p:cNvSpPr/>
          <p:nvPr/>
        </p:nvSpPr>
        <p:spPr>
          <a:xfrm>
            <a:off x="4087368" y="2587752"/>
            <a:ext cx="292608" cy="0"/>
          </a:xfrm>
          <a:prstGeom prst="line">
            <a:avLst/>
          </a:prstGeom>
          <a:noFill/>
          <a:ln w="15240">
            <a:solidFill>
              <a:srgbClr val="7885AA"/>
            </a:solidFill>
            <a:prstDash val="solid"/>
            <a:tailEnd type="triangle"/>
          </a:ln>
        </p:spPr>
      </p:sp>
      <p:sp>
        <p:nvSpPr>
          <p:cNvPr id="17" name="Shape 15"/>
          <p:cNvSpPr/>
          <p:nvPr/>
        </p:nvSpPr>
        <p:spPr>
          <a:xfrm>
            <a:off x="4398264" y="1874520"/>
            <a:ext cx="1554480" cy="1444752"/>
          </a:xfrm>
          <a:prstGeom prst="roundRect">
            <a:avLst>
              <a:gd name="adj" fmla="val 3797"/>
            </a:avLst>
          </a:prstGeom>
          <a:solidFill>
            <a:srgbClr val="162657"/>
          </a:solidFill>
          <a:ln w="10160">
            <a:solidFill>
              <a:srgbClr val="7C5CFF">
                <a:alpha val="82000"/>
              </a:srgbClr>
            </a:solidFill>
            <a:prstDash val="solid"/>
          </a:ln>
        </p:spPr>
      </p:sp>
      <p:sp>
        <p:nvSpPr>
          <p:cNvPr id="18" name="Text 16"/>
          <p:cNvSpPr/>
          <p:nvPr/>
        </p:nvSpPr>
        <p:spPr>
          <a:xfrm>
            <a:off x="4526280" y="2121408"/>
            <a:ext cx="1298448" cy="219456"/>
          </a:xfrm>
          <a:prstGeom prst="rect">
            <a:avLst/>
          </a:prstGeom>
          <a:noFill/>
          <a:ln/>
        </p:spPr>
        <p:txBody>
          <a:bodyPr wrap="square" lIns="0" tIns="0" rIns="0" bIns="0" rtlCol="0" anchor="ctr"/>
          <a:lstStyle/>
          <a:p>
            <a:pPr algn="ctr" indent="0" marL="0">
              <a:buNone/>
            </a:pPr>
            <a:r>
              <a:rPr lang="en-US" sz="1280" b="1" dirty="0">
                <a:solidFill>
                  <a:srgbClr val="F8FAFF"/>
                </a:solidFill>
              </a:rPr>
              <a:t>Explain</a:t>
            </a:r>
            <a:endParaRPr lang="en-US" sz="1280" dirty="0"/>
          </a:p>
        </p:txBody>
      </p:sp>
      <p:sp>
        <p:nvSpPr>
          <p:cNvPr id="19" name="Text 17"/>
          <p:cNvSpPr/>
          <p:nvPr/>
        </p:nvSpPr>
        <p:spPr>
          <a:xfrm>
            <a:off x="4507992" y="2587752"/>
            <a:ext cx="1325880" cy="347472"/>
          </a:xfrm>
          <a:prstGeom prst="rect">
            <a:avLst/>
          </a:prstGeom>
          <a:noFill/>
          <a:ln/>
        </p:spPr>
        <p:txBody>
          <a:bodyPr wrap="square" lIns="0" tIns="0" rIns="0" bIns="0" rtlCol="0" anchor="ctr"/>
          <a:lstStyle/>
          <a:p>
            <a:pPr algn="ctr" indent="0" marL="0">
              <a:buNone/>
            </a:pPr>
            <a:r>
              <a:rPr lang="en-US" sz="760" dirty="0">
                <a:solidFill>
                  <a:srgbClr val="AAB5D6"/>
                </a:solidFill>
              </a:rPr>
              <a:t>local SHAP</a:t>
            </a:r>
            <a:endParaRPr lang="en-US" sz="760" dirty="0"/>
          </a:p>
          <a:p>
            <a:pPr algn="ctr" indent="0" marL="0">
              <a:buNone/>
            </a:pPr>
            <a:r>
              <a:rPr lang="en-US" sz="760" dirty="0">
                <a:solidFill>
                  <a:srgbClr val="AAB5D6"/>
                </a:solidFill>
              </a:rPr>
              <a:t>reason-code mapping</a:t>
            </a:r>
            <a:endParaRPr lang="en-US" sz="760" dirty="0"/>
          </a:p>
        </p:txBody>
      </p:sp>
      <p:sp>
        <p:nvSpPr>
          <p:cNvPr id="20" name="Shape 18"/>
          <p:cNvSpPr/>
          <p:nvPr/>
        </p:nvSpPr>
        <p:spPr>
          <a:xfrm>
            <a:off x="5989320" y="2587752"/>
            <a:ext cx="292608" cy="0"/>
          </a:xfrm>
          <a:prstGeom prst="line">
            <a:avLst/>
          </a:prstGeom>
          <a:noFill/>
          <a:ln w="15240">
            <a:solidFill>
              <a:srgbClr val="7885AA"/>
            </a:solidFill>
            <a:prstDash val="solid"/>
            <a:tailEnd type="triangle"/>
          </a:ln>
        </p:spPr>
      </p:sp>
      <p:sp>
        <p:nvSpPr>
          <p:cNvPr id="21" name="Shape 19"/>
          <p:cNvSpPr/>
          <p:nvPr/>
        </p:nvSpPr>
        <p:spPr>
          <a:xfrm>
            <a:off x="6300216" y="1874520"/>
            <a:ext cx="1554480" cy="1444752"/>
          </a:xfrm>
          <a:prstGeom prst="roundRect">
            <a:avLst>
              <a:gd name="adj" fmla="val 3797"/>
            </a:avLst>
          </a:prstGeom>
          <a:solidFill>
            <a:srgbClr val="162657"/>
          </a:solidFill>
          <a:ln w="10160">
            <a:solidFill>
              <a:srgbClr val="15C99B">
                <a:alpha val="82000"/>
              </a:srgbClr>
            </a:solidFill>
            <a:prstDash val="solid"/>
          </a:ln>
        </p:spPr>
      </p:sp>
      <p:sp>
        <p:nvSpPr>
          <p:cNvPr id="22" name="Text 20"/>
          <p:cNvSpPr/>
          <p:nvPr/>
        </p:nvSpPr>
        <p:spPr>
          <a:xfrm>
            <a:off x="6428232" y="2121408"/>
            <a:ext cx="1298448" cy="219456"/>
          </a:xfrm>
          <a:prstGeom prst="rect">
            <a:avLst/>
          </a:prstGeom>
          <a:noFill/>
          <a:ln/>
        </p:spPr>
        <p:txBody>
          <a:bodyPr wrap="square" lIns="0" tIns="0" rIns="0" bIns="0" rtlCol="0" anchor="ctr"/>
          <a:lstStyle/>
          <a:p>
            <a:pPr algn="ctr" indent="0" marL="0">
              <a:buNone/>
            </a:pPr>
            <a:r>
              <a:rPr lang="en-US" sz="1280" b="1" dirty="0">
                <a:solidFill>
                  <a:srgbClr val="F8FAFF"/>
                </a:solidFill>
              </a:rPr>
              <a:t>Retrieve</a:t>
            </a:r>
            <a:endParaRPr lang="en-US" sz="1280" dirty="0"/>
          </a:p>
        </p:txBody>
      </p:sp>
      <p:sp>
        <p:nvSpPr>
          <p:cNvPr id="23" name="Text 21"/>
          <p:cNvSpPr/>
          <p:nvPr/>
        </p:nvSpPr>
        <p:spPr>
          <a:xfrm>
            <a:off x="6409944" y="2587752"/>
            <a:ext cx="1325880" cy="347472"/>
          </a:xfrm>
          <a:prstGeom prst="rect">
            <a:avLst/>
          </a:prstGeom>
          <a:noFill/>
          <a:ln/>
        </p:spPr>
        <p:txBody>
          <a:bodyPr wrap="square" lIns="0" tIns="0" rIns="0" bIns="0" rtlCol="0" anchor="ctr"/>
          <a:lstStyle/>
          <a:p>
            <a:pPr algn="ctr" indent="0" marL="0">
              <a:buNone/>
            </a:pPr>
            <a:r>
              <a:rPr lang="en-US" sz="760" dirty="0">
                <a:solidFill>
                  <a:srgbClr val="AAB5D6"/>
                </a:solidFill>
              </a:rPr>
              <a:t>MiniLM + BM25</a:t>
            </a:r>
            <a:endParaRPr lang="en-US" sz="760" dirty="0"/>
          </a:p>
          <a:p>
            <a:pPr algn="ctr" indent="0" marL="0">
              <a:buNone/>
            </a:pPr>
            <a:r>
              <a:rPr lang="en-US" sz="760" dirty="0">
                <a:solidFill>
                  <a:srgbClr val="AAB5D6"/>
                </a:solidFill>
              </a:rPr>
              <a:t>RRF over 70 chunks</a:t>
            </a:r>
            <a:endParaRPr lang="en-US" sz="760" dirty="0"/>
          </a:p>
        </p:txBody>
      </p:sp>
      <p:sp>
        <p:nvSpPr>
          <p:cNvPr id="24" name="Shape 22"/>
          <p:cNvSpPr/>
          <p:nvPr/>
        </p:nvSpPr>
        <p:spPr>
          <a:xfrm>
            <a:off x="7891272" y="2587752"/>
            <a:ext cx="292608" cy="0"/>
          </a:xfrm>
          <a:prstGeom prst="line">
            <a:avLst/>
          </a:prstGeom>
          <a:noFill/>
          <a:ln w="15240">
            <a:solidFill>
              <a:srgbClr val="7885AA"/>
            </a:solidFill>
            <a:prstDash val="solid"/>
            <a:tailEnd type="triangle"/>
          </a:ln>
        </p:spPr>
      </p:sp>
      <p:sp>
        <p:nvSpPr>
          <p:cNvPr id="25" name="Shape 23"/>
          <p:cNvSpPr/>
          <p:nvPr/>
        </p:nvSpPr>
        <p:spPr>
          <a:xfrm>
            <a:off x="8202168" y="1874520"/>
            <a:ext cx="1554480" cy="1444752"/>
          </a:xfrm>
          <a:prstGeom prst="roundRect">
            <a:avLst>
              <a:gd name="adj" fmla="val 3797"/>
            </a:avLst>
          </a:prstGeom>
          <a:solidFill>
            <a:srgbClr val="162657"/>
          </a:solidFill>
          <a:ln w="10160">
            <a:solidFill>
              <a:srgbClr val="38D9F2">
                <a:alpha val="82000"/>
              </a:srgbClr>
            </a:solidFill>
            <a:prstDash val="solid"/>
          </a:ln>
        </p:spPr>
      </p:sp>
      <p:sp>
        <p:nvSpPr>
          <p:cNvPr id="26" name="Text 24"/>
          <p:cNvSpPr/>
          <p:nvPr/>
        </p:nvSpPr>
        <p:spPr>
          <a:xfrm>
            <a:off x="8330184" y="2121408"/>
            <a:ext cx="1298448" cy="219456"/>
          </a:xfrm>
          <a:prstGeom prst="rect">
            <a:avLst/>
          </a:prstGeom>
          <a:noFill/>
          <a:ln/>
        </p:spPr>
        <p:txBody>
          <a:bodyPr wrap="square" lIns="0" tIns="0" rIns="0" bIns="0" rtlCol="0" anchor="ctr"/>
          <a:lstStyle/>
          <a:p>
            <a:pPr algn="ctr" indent="0" marL="0">
              <a:buNone/>
            </a:pPr>
            <a:r>
              <a:rPr lang="en-US" sz="1280" b="1" dirty="0">
                <a:solidFill>
                  <a:srgbClr val="F8FAFF"/>
                </a:solidFill>
              </a:rPr>
              <a:t>Generate</a:t>
            </a:r>
            <a:endParaRPr lang="en-US" sz="1280" dirty="0"/>
          </a:p>
        </p:txBody>
      </p:sp>
      <p:sp>
        <p:nvSpPr>
          <p:cNvPr id="27" name="Text 25"/>
          <p:cNvSpPr/>
          <p:nvPr/>
        </p:nvSpPr>
        <p:spPr>
          <a:xfrm>
            <a:off x="8311896" y="2587752"/>
            <a:ext cx="1325880" cy="347472"/>
          </a:xfrm>
          <a:prstGeom prst="rect">
            <a:avLst/>
          </a:prstGeom>
          <a:noFill/>
          <a:ln/>
        </p:spPr>
        <p:txBody>
          <a:bodyPr wrap="square" lIns="0" tIns="0" rIns="0" bIns="0" rtlCol="0" anchor="ctr"/>
          <a:lstStyle/>
          <a:p>
            <a:pPr algn="ctr" indent="0" marL="0">
              <a:buNone/>
            </a:pPr>
            <a:r>
              <a:rPr lang="en-US" sz="760" dirty="0">
                <a:solidFill>
                  <a:srgbClr val="AAB5D6"/>
                </a:solidFill>
              </a:rPr>
              <a:t>RAG vs no-RAG</a:t>
            </a:r>
            <a:endParaRPr lang="en-US" sz="760" dirty="0"/>
          </a:p>
          <a:p>
            <a:pPr algn="ctr" indent="0" marL="0">
              <a:buNone/>
            </a:pPr>
            <a:r>
              <a:rPr lang="en-US" sz="760" dirty="0">
                <a:solidFill>
                  <a:srgbClr val="AAB5D6"/>
                </a:solidFill>
              </a:rPr>
              <a:t>controlled prompts</a:t>
            </a:r>
            <a:endParaRPr lang="en-US" sz="760" dirty="0"/>
          </a:p>
        </p:txBody>
      </p:sp>
      <p:sp>
        <p:nvSpPr>
          <p:cNvPr id="28" name="Shape 26"/>
          <p:cNvSpPr/>
          <p:nvPr/>
        </p:nvSpPr>
        <p:spPr>
          <a:xfrm>
            <a:off x="9793224" y="2587752"/>
            <a:ext cx="292608" cy="0"/>
          </a:xfrm>
          <a:prstGeom prst="line">
            <a:avLst/>
          </a:prstGeom>
          <a:noFill/>
          <a:ln w="15240">
            <a:solidFill>
              <a:srgbClr val="7885AA"/>
            </a:solidFill>
            <a:prstDash val="solid"/>
            <a:tailEnd type="triangle"/>
          </a:ln>
        </p:spPr>
      </p:sp>
      <p:sp>
        <p:nvSpPr>
          <p:cNvPr id="29" name="Shape 27"/>
          <p:cNvSpPr/>
          <p:nvPr/>
        </p:nvSpPr>
        <p:spPr>
          <a:xfrm>
            <a:off x="10104120" y="1874520"/>
            <a:ext cx="1554480" cy="1444752"/>
          </a:xfrm>
          <a:prstGeom prst="roundRect">
            <a:avLst>
              <a:gd name="adj" fmla="val 3797"/>
            </a:avLst>
          </a:prstGeom>
          <a:solidFill>
            <a:srgbClr val="162657"/>
          </a:solidFill>
          <a:ln w="10160">
            <a:solidFill>
              <a:srgbClr val="4DD98B">
                <a:alpha val="82000"/>
              </a:srgbClr>
            </a:solidFill>
            <a:prstDash val="solid"/>
          </a:ln>
        </p:spPr>
      </p:sp>
      <p:sp>
        <p:nvSpPr>
          <p:cNvPr id="30" name="Text 28"/>
          <p:cNvSpPr/>
          <p:nvPr/>
        </p:nvSpPr>
        <p:spPr>
          <a:xfrm>
            <a:off x="10232136" y="2121408"/>
            <a:ext cx="1298448" cy="219456"/>
          </a:xfrm>
          <a:prstGeom prst="rect">
            <a:avLst/>
          </a:prstGeom>
          <a:noFill/>
          <a:ln/>
        </p:spPr>
        <p:txBody>
          <a:bodyPr wrap="square" lIns="0" tIns="0" rIns="0" bIns="0" rtlCol="0" anchor="ctr"/>
          <a:lstStyle/>
          <a:p>
            <a:pPr algn="ctr" indent="0" marL="0">
              <a:buNone/>
            </a:pPr>
            <a:r>
              <a:rPr lang="en-US" sz="1280" b="1" dirty="0">
                <a:solidFill>
                  <a:srgbClr val="F8FAFF"/>
                </a:solidFill>
              </a:rPr>
              <a:t>Verify</a:t>
            </a:r>
            <a:endParaRPr lang="en-US" sz="1280" dirty="0"/>
          </a:p>
        </p:txBody>
      </p:sp>
      <p:sp>
        <p:nvSpPr>
          <p:cNvPr id="31" name="Text 29"/>
          <p:cNvSpPr/>
          <p:nvPr/>
        </p:nvSpPr>
        <p:spPr>
          <a:xfrm>
            <a:off x="10213848" y="2587752"/>
            <a:ext cx="1325880" cy="347472"/>
          </a:xfrm>
          <a:prstGeom prst="rect">
            <a:avLst/>
          </a:prstGeom>
          <a:noFill/>
          <a:ln/>
        </p:spPr>
        <p:txBody>
          <a:bodyPr wrap="square" lIns="0" tIns="0" rIns="0" bIns="0" rtlCol="0" anchor="ctr"/>
          <a:lstStyle/>
          <a:p>
            <a:pPr algn="ctr" indent="0" marL="0">
              <a:buNone/>
            </a:pPr>
            <a:r>
              <a:rPr lang="en-US" sz="760" dirty="0">
                <a:solidFill>
                  <a:srgbClr val="AAB5D6"/>
                </a:solidFill>
              </a:rPr>
              <a:t>blind judge</a:t>
            </a:r>
            <a:endParaRPr lang="en-US" sz="760" dirty="0"/>
          </a:p>
          <a:p>
            <a:pPr algn="ctr" indent="0" marL="0">
              <a:buNone/>
            </a:pPr>
            <a:r>
              <a:rPr lang="en-US" sz="760" dirty="0">
                <a:solidFill>
                  <a:srgbClr val="AAB5D6"/>
                </a:solidFill>
              </a:rPr>
              <a:t>5 binary checks</a:t>
            </a:r>
            <a:endParaRPr lang="en-US" sz="760" dirty="0"/>
          </a:p>
        </p:txBody>
      </p:sp>
      <p:sp>
        <p:nvSpPr>
          <p:cNvPr id="32" name="Shape 30"/>
          <p:cNvSpPr/>
          <p:nvPr/>
        </p:nvSpPr>
        <p:spPr>
          <a:xfrm>
            <a:off x="685800" y="4041648"/>
            <a:ext cx="3246120" cy="1170432"/>
          </a:xfrm>
          <a:prstGeom prst="roundRect">
            <a:avLst>
              <a:gd name="adj" fmla="val 4688"/>
            </a:avLst>
          </a:prstGeom>
          <a:solidFill>
            <a:srgbClr val="111C42"/>
          </a:solidFill>
          <a:ln w="10160">
            <a:solidFill>
              <a:srgbClr val="2A3866">
                <a:alpha val="82000"/>
              </a:srgbClr>
            </a:solidFill>
            <a:prstDash val="solid"/>
          </a:ln>
        </p:spPr>
      </p:sp>
      <p:sp>
        <p:nvSpPr>
          <p:cNvPr id="33" name="Text 31"/>
          <p:cNvSpPr/>
          <p:nvPr/>
        </p:nvSpPr>
        <p:spPr>
          <a:xfrm>
            <a:off x="941832" y="4315968"/>
            <a:ext cx="1463040" cy="164592"/>
          </a:xfrm>
          <a:prstGeom prst="rect">
            <a:avLst/>
          </a:prstGeom>
          <a:noFill/>
          <a:ln/>
        </p:spPr>
        <p:txBody>
          <a:bodyPr wrap="square" lIns="0" tIns="0" rIns="0" bIns="0" rtlCol="0" anchor="ctr"/>
          <a:lstStyle/>
          <a:p>
            <a:pPr indent="0" marL="0">
              <a:buNone/>
            </a:pPr>
            <a:r>
              <a:rPr lang="en-US" sz="760" b="1" spc="125" kern="0" dirty="0">
                <a:solidFill>
                  <a:srgbClr val="38D9F2"/>
                </a:solidFill>
              </a:rPr>
              <a:t>MODEL CHOICE</a:t>
            </a:r>
            <a:endParaRPr lang="en-US" sz="760" dirty="0"/>
          </a:p>
        </p:txBody>
      </p:sp>
      <p:sp>
        <p:nvSpPr>
          <p:cNvPr id="34" name="Text 32"/>
          <p:cNvSpPr/>
          <p:nvPr/>
        </p:nvSpPr>
        <p:spPr>
          <a:xfrm>
            <a:off x="941832" y="4617720"/>
            <a:ext cx="2286000" cy="256032"/>
          </a:xfrm>
          <a:prstGeom prst="rect">
            <a:avLst/>
          </a:prstGeom>
          <a:noFill/>
          <a:ln/>
        </p:spPr>
        <p:txBody>
          <a:bodyPr wrap="square" lIns="0" tIns="0" rIns="0" bIns="0" rtlCol="0" anchor="ctr"/>
          <a:lstStyle/>
          <a:p>
            <a:pPr indent="0" marL="0">
              <a:buNone/>
            </a:pPr>
            <a:r>
              <a:rPr lang="en-US" sz="1600" b="1" dirty="0">
                <a:solidFill>
                  <a:srgbClr val="F8FAFF"/>
                </a:solidFill>
              </a:rPr>
              <a:t>Neutral XGBoost</a:t>
            </a:r>
            <a:endParaRPr lang="en-US" sz="1600" dirty="0"/>
          </a:p>
        </p:txBody>
      </p:sp>
      <p:sp>
        <p:nvSpPr>
          <p:cNvPr id="35" name="Text 33"/>
          <p:cNvSpPr/>
          <p:nvPr/>
        </p:nvSpPr>
        <p:spPr>
          <a:xfrm>
            <a:off x="941832" y="4901184"/>
            <a:ext cx="2560320" cy="201168"/>
          </a:xfrm>
          <a:prstGeom prst="rect">
            <a:avLst/>
          </a:prstGeom>
          <a:noFill/>
          <a:ln/>
        </p:spPr>
        <p:txBody>
          <a:bodyPr wrap="square" lIns="0" tIns="0" rIns="0" bIns="0" rtlCol="0" anchor="ctr"/>
          <a:lstStyle/>
          <a:p>
            <a:pPr indent="0" marL="0">
              <a:buNone/>
            </a:pPr>
            <a:r>
              <a:rPr lang="en-US" sz="830" dirty="0">
                <a:solidFill>
                  <a:srgbClr val="AAB5D6"/>
                </a:solidFill>
              </a:rPr>
              <a:t>Strong ranking + SHAP support + cleaner governance after removing grade/subgrade.</a:t>
            </a:r>
            <a:endParaRPr lang="en-US" sz="830" dirty="0"/>
          </a:p>
        </p:txBody>
      </p:sp>
      <p:sp>
        <p:nvSpPr>
          <p:cNvPr id="36" name="Shape 34"/>
          <p:cNvSpPr/>
          <p:nvPr/>
        </p:nvSpPr>
        <p:spPr>
          <a:xfrm>
            <a:off x="4480560" y="4041648"/>
            <a:ext cx="3246120" cy="1170432"/>
          </a:xfrm>
          <a:prstGeom prst="roundRect">
            <a:avLst>
              <a:gd name="adj" fmla="val 4688"/>
            </a:avLst>
          </a:prstGeom>
          <a:solidFill>
            <a:srgbClr val="111C42"/>
          </a:solidFill>
          <a:ln w="10160">
            <a:solidFill>
              <a:srgbClr val="2A3866">
                <a:alpha val="82000"/>
              </a:srgbClr>
            </a:solidFill>
            <a:prstDash val="solid"/>
          </a:ln>
        </p:spPr>
      </p:sp>
      <p:sp>
        <p:nvSpPr>
          <p:cNvPr id="37" name="Text 35"/>
          <p:cNvSpPr/>
          <p:nvPr/>
        </p:nvSpPr>
        <p:spPr>
          <a:xfrm>
            <a:off x="4736592" y="4315968"/>
            <a:ext cx="1463040" cy="164592"/>
          </a:xfrm>
          <a:prstGeom prst="rect">
            <a:avLst/>
          </a:prstGeom>
          <a:noFill/>
          <a:ln/>
        </p:spPr>
        <p:txBody>
          <a:bodyPr wrap="square" lIns="0" tIns="0" rIns="0" bIns="0" rtlCol="0" anchor="ctr"/>
          <a:lstStyle/>
          <a:p>
            <a:pPr indent="0" marL="0">
              <a:buNone/>
            </a:pPr>
            <a:r>
              <a:rPr lang="en-US" sz="760" b="1" spc="125" kern="0" dirty="0">
                <a:solidFill>
                  <a:srgbClr val="F4C95D"/>
                </a:solidFill>
              </a:rPr>
              <a:t>POLICY CHOICE</a:t>
            </a:r>
            <a:endParaRPr lang="en-US" sz="760" dirty="0"/>
          </a:p>
        </p:txBody>
      </p:sp>
      <p:sp>
        <p:nvSpPr>
          <p:cNvPr id="38" name="Text 36"/>
          <p:cNvSpPr/>
          <p:nvPr/>
        </p:nvSpPr>
        <p:spPr>
          <a:xfrm>
            <a:off x="4736592" y="4617720"/>
            <a:ext cx="2286000" cy="256032"/>
          </a:xfrm>
          <a:prstGeom prst="rect">
            <a:avLst/>
          </a:prstGeom>
          <a:noFill/>
          <a:ln/>
        </p:spPr>
        <p:txBody>
          <a:bodyPr wrap="square" lIns="0" tIns="0" rIns="0" bIns="0" rtlCol="0" anchor="ctr"/>
          <a:lstStyle/>
          <a:p>
            <a:pPr indent="0" marL="0">
              <a:buNone/>
            </a:pPr>
            <a:r>
              <a:rPr lang="en-US" sz="1600" b="1" dirty="0">
                <a:solidFill>
                  <a:srgbClr val="F8FAFF"/>
                </a:solidFill>
              </a:rPr>
              <a:t>Cap review volume</a:t>
            </a:r>
            <a:endParaRPr lang="en-US" sz="1600" dirty="0"/>
          </a:p>
        </p:txBody>
      </p:sp>
      <p:sp>
        <p:nvSpPr>
          <p:cNvPr id="39" name="Text 37"/>
          <p:cNvSpPr/>
          <p:nvPr/>
        </p:nvSpPr>
        <p:spPr>
          <a:xfrm>
            <a:off x="4736592" y="4901184"/>
            <a:ext cx="2560320" cy="201168"/>
          </a:xfrm>
          <a:prstGeom prst="rect">
            <a:avLst/>
          </a:prstGeom>
          <a:noFill/>
          <a:ln/>
        </p:spPr>
        <p:txBody>
          <a:bodyPr wrap="square" lIns="0" tIns="0" rIns="0" bIns="0" rtlCol="0" anchor="ctr"/>
          <a:lstStyle/>
          <a:p>
            <a:pPr indent="0" marL="0">
              <a:buNone/>
            </a:pPr>
            <a:r>
              <a:rPr lang="en-US" sz="830" dirty="0">
                <a:solidFill>
                  <a:srgbClr val="AAB5D6"/>
                </a:solidFill>
              </a:rPr>
              <a:t>Avoid unconstrained best-F1 behavior that would flag too much of the portfolio.</a:t>
            </a:r>
            <a:endParaRPr lang="en-US" sz="830" dirty="0"/>
          </a:p>
        </p:txBody>
      </p:sp>
      <p:sp>
        <p:nvSpPr>
          <p:cNvPr id="40" name="Shape 38"/>
          <p:cNvSpPr/>
          <p:nvPr/>
        </p:nvSpPr>
        <p:spPr>
          <a:xfrm>
            <a:off x="8257032" y="4041648"/>
            <a:ext cx="2788920" cy="1170432"/>
          </a:xfrm>
          <a:prstGeom prst="roundRect">
            <a:avLst>
              <a:gd name="adj" fmla="val 4688"/>
            </a:avLst>
          </a:prstGeom>
          <a:solidFill>
            <a:srgbClr val="111C42"/>
          </a:solidFill>
          <a:ln w="10160">
            <a:solidFill>
              <a:srgbClr val="2A3866">
                <a:alpha val="82000"/>
              </a:srgbClr>
            </a:solidFill>
            <a:prstDash val="solid"/>
          </a:ln>
        </p:spPr>
      </p:sp>
      <p:sp>
        <p:nvSpPr>
          <p:cNvPr id="41" name="Text 39"/>
          <p:cNvSpPr/>
          <p:nvPr/>
        </p:nvSpPr>
        <p:spPr>
          <a:xfrm>
            <a:off x="8513064" y="4315968"/>
            <a:ext cx="1280160" cy="164592"/>
          </a:xfrm>
          <a:prstGeom prst="rect">
            <a:avLst/>
          </a:prstGeom>
          <a:noFill/>
          <a:ln/>
        </p:spPr>
        <p:txBody>
          <a:bodyPr wrap="square" lIns="0" tIns="0" rIns="0" bIns="0" rtlCol="0" anchor="ctr"/>
          <a:lstStyle/>
          <a:p>
            <a:pPr indent="0" marL="0">
              <a:buNone/>
            </a:pPr>
            <a:r>
              <a:rPr lang="en-US" sz="760" b="1" spc="125" kern="0" dirty="0">
                <a:solidFill>
                  <a:srgbClr val="15C99B"/>
                </a:solidFill>
              </a:rPr>
              <a:t>AI CHOICE</a:t>
            </a:r>
            <a:endParaRPr lang="en-US" sz="760" dirty="0"/>
          </a:p>
        </p:txBody>
      </p:sp>
      <p:sp>
        <p:nvSpPr>
          <p:cNvPr id="42" name="Text 40"/>
          <p:cNvSpPr/>
          <p:nvPr/>
        </p:nvSpPr>
        <p:spPr>
          <a:xfrm>
            <a:off x="8513064" y="4617720"/>
            <a:ext cx="1920240" cy="256032"/>
          </a:xfrm>
          <a:prstGeom prst="rect">
            <a:avLst/>
          </a:prstGeom>
          <a:noFill/>
          <a:ln/>
        </p:spPr>
        <p:txBody>
          <a:bodyPr wrap="square" lIns="0" tIns="0" rIns="0" bIns="0" rtlCol="0" anchor="ctr"/>
          <a:lstStyle/>
          <a:p>
            <a:pPr indent="0" marL="0">
              <a:buNone/>
            </a:pPr>
            <a:r>
              <a:rPr lang="en-US" sz="1600" b="1" dirty="0">
                <a:solidFill>
                  <a:srgbClr val="F8FAFF"/>
                </a:solidFill>
              </a:rPr>
              <a:t>RAG + judge</a:t>
            </a:r>
            <a:endParaRPr lang="en-US" sz="1600" dirty="0"/>
          </a:p>
        </p:txBody>
      </p:sp>
      <p:sp>
        <p:nvSpPr>
          <p:cNvPr id="43" name="Text 41"/>
          <p:cNvSpPr/>
          <p:nvPr/>
        </p:nvSpPr>
        <p:spPr>
          <a:xfrm>
            <a:off x="8513064" y="4901184"/>
            <a:ext cx="2148840" cy="201168"/>
          </a:xfrm>
          <a:prstGeom prst="rect">
            <a:avLst/>
          </a:prstGeom>
          <a:noFill/>
          <a:ln/>
        </p:spPr>
        <p:txBody>
          <a:bodyPr wrap="square" lIns="0" tIns="0" rIns="0" bIns="0" rtlCol="0" anchor="ctr"/>
          <a:lstStyle/>
          <a:p>
            <a:pPr indent="0" marL="0">
              <a:buNone/>
            </a:pPr>
            <a:r>
              <a:rPr lang="en-US" sz="830" dirty="0">
                <a:solidFill>
                  <a:srgbClr val="AAB5D6"/>
                </a:solidFill>
              </a:rPr>
              <a:t>Compare against no-RAG using the same SHAP-selected reasons.</a:t>
            </a:r>
            <a:endParaRPr lang="en-US" sz="830" dirty="0"/>
          </a:p>
        </p:txBody>
      </p:sp>
      <p:sp>
        <p:nvSpPr>
          <p:cNvPr id="44" name="Text 42"/>
          <p:cNvSpPr/>
          <p:nvPr/>
        </p:nvSpPr>
        <p:spPr>
          <a:xfrm>
            <a:off x="502920" y="6537960"/>
            <a:ext cx="10607040" cy="146304"/>
          </a:xfrm>
          <a:prstGeom prst="rect">
            <a:avLst/>
          </a:prstGeom>
          <a:noFill/>
          <a:ln/>
        </p:spPr>
        <p:txBody>
          <a:bodyPr wrap="square" lIns="0" tIns="0" rIns="0" bIns="0" rtlCol="0" anchor="ctr"/>
          <a:lstStyle/>
          <a:p>
            <a:pPr indent="0" marL="0">
              <a:buNone/>
            </a:pPr>
            <a:r>
              <a:rPr lang="en-US" sz="680" dirty="0">
                <a:solidFill>
                  <a:srgbClr val="7885AA"/>
                </a:solidFill>
              </a:rPr>
              <a:t>Rubric: Methods — learning algorithms and AI models used.</a:t>
            </a:r>
            <a:endParaRPr lang="en-US" sz="680" dirty="0"/>
          </a:p>
        </p:txBody>
      </p:sp>
      <p:sp>
        <p:nvSpPr>
          <p:cNvPr id="45" name="Text 43"/>
          <p:cNvSpPr/>
          <p:nvPr/>
        </p:nvSpPr>
        <p:spPr>
          <a:xfrm>
            <a:off x="11292840" y="6492240"/>
            <a:ext cx="320040" cy="146304"/>
          </a:xfrm>
          <a:prstGeom prst="rect">
            <a:avLst/>
          </a:prstGeom>
          <a:noFill/>
          <a:ln/>
        </p:spPr>
        <p:txBody>
          <a:bodyPr wrap="square" lIns="0" tIns="0" rIns="0" bIns="0" rtlCol="0" anchor="ctr"/>
          <a:lstStyle/>
          <a:p>
            <a:pPr algn="r" indent="0" marL="0">
              <a:buNone/>
            </a:pPr>
            <a:r>
              <a:rPr lang="en-US" sz="780" b="1" dirty="0">
                <a:solidFill>
                  <a:srgbClr val="7885AA"/>
                </a:solidFill>
              </a:rPr>
              <a:t>05</a:t>
            </a:r>
            <a:endParaRPr lang="en-US" sz="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D"/>
        </a:solidFill>
      </p:bgPr>
    </p:bg>
    <p:spTree>
      <p:nvGrpSpPr>
        <p:cNvPr id="1" name=""/>
        <p:cNvGrpSpPr/>
        <p:nvPr/>
      </p:nvGrpSpPr>
      <p:grpSpPr>
        <a:xfrm>
          <a:off x="0" y="0"/>
          <a:ext cx="0" cy="0"/>
          <a:chOff x="0" y="0"/>
          <a:chExt cx="0" cy="0"/>
        </a:xfrm>
      </p:grpSpPr>
      <p:sp>
        <p:nvSpPr>
          <p:cNvPr id="2" name="Text 0"/>
          <p:cNvSpPr/>
          <p:nvPr/>
        </p:nvSpPr>
        <p:spPr>
          <a:xfrm>
            <a:off x="502920" y="228600"/>
            <a:ext cx="2606040" cy="164592"/>
          </a:xfrm>
          <a:prstGeom prst="rect">
            <a:avLst/>
          </a:prstGeom>
          <a:noFill/>
          <a:ln/>
        </p:spPr>
        <p:txBody>
          <a:bodyPr wrap="square" lIns="0" tIns="0" rIns="0" bIns="0" rtlCol="0" anchor="ctr"/>
          <a:lstStyle/>
          <a:p>
            <a:pPr indent="0" marL="0">
              <a:buNone/>
            </a:pPr>
            <a:r>
              <a:rPr lang="en-US" sz="830" b="1" spc="170" kern="0" dirty="0">
                <a:solidFill>
                  <a:srgbClr val="3A7AFE"/>
                </a:solidFill>
              </a:rPr>
              <a:t>RESULTS</a:t>
            </a:r>
            <a:endParaRPr lang="en-US" sz="830" dirty="0"/>
          </a:p>
        </p:txBody>
      </p:sp>
      <p:sp>
        <p:nvSpPr>
          <p:cNvPr id="3" name="Text 1"/>
          <p:cNvSpPr/>
          <p:nvPr/>
        </p:nvSpPr>
        <p:spPr>
          <a:xfrm>
            <a:off x="502920" y="502920"/>
            <a:ext cx="9509760" cy="457200"/>
          </a:xfrm>
          <a:prstGeom prst="rect">
            <a:avLst/>
          </a:prstGeom>
          <a:noFill/>
          <a:ln/>
        </p:spPr>
        <p:txBody>
          <a:bodyPr wrap="square" lIns="0" tIns="0" rIns="0" bIns="0" rtlCol="0" anchor="ctr"/>
          <a:lstStyle/>
          <a:p>
            <a:pPr indent="0" marL="0">
              <a:buNone/>
            </a:pPr>
            <a:r>
              <a:rPr lang="en-US" sz="2350" b="1" dirty="0">
                <a:solidFill>
                  <a:srgbClr val="17213F"/>
                </a:solidFill>
                <a:latin typeface="Aptos Display" pitchFamily="34" charset="0"/>
                <a:ea typeface="Aptos Display" pitchFamily="34" charset="-122"/>
                <a:cs typeface="Aptos Display" pitchFamily="34" charset="-120"/>
              </a:rPr>
              <a:t>The model concentrates default risk into a usable review queue</a:t>
            </a:r>
            <a:endParaRPr lang="en-US" sz="2350" dirty="0"/>
          </a:p>
        </p:txBody>
      </p:sp>
      <p:sp>
        <p:nvSpPr>
          <p:cNvPr id="4" name="Text 2"/>
          <p:cNvSpPr/>
          <p:nvPr/>
        </p:nvSpPr>
        <p:spPr>
          <a:xfrm>
            <a:off x="9966960" y="292608"/>
            <a:ext cx="1719072" cy="164592"/>
          </a:xfrm>
          <a:prstGeom prst="rect">
            <a:avLst/>
          </a:prstGeom>
          <a:noFill/>
          <a:ln/>
        </p:spPr>
        <p:txBody>
          <a:bodyPr wrap="square" lIns="0" tIns="0" rIns="0" bIns="0" rtlCol="0" anchor="ctr"/>
          <a:lstStyle/>
          <a:p>
            <a:pPr algn="r" indent="0" marL="0">
              <a:buNone/>
            </a:pPr>
            <a:r>
              <a:rPr lang="en-US" sz="870" b="1" dirty="0">
                <a:solidFill>
                  <a:srgbClr val="5F6F99"/>
                </a:solidFill>
              </a:rPr>
              <a:t>Sidd · 3:15–4:00</a:t>
            </a:r>
            <a:endParaRPr lang="en-US" sz="870" dirty="0"/>
          </a:p>
        </p:txBody>
      </p:sp>
      <p:sp>
        <p:nvSpPr>
          <p:cNvPr id="5" name="Shape 3"/>
          <p:cNvSpPr/>
          <p:nvPr/>
        </p:nvSpPr>
        <p:spPr>
          <a:xfrm>
            <a:off x="502920" y="1042416"/>
            <a:ext cx="11109960" cy="0"/>
          </a:xfrm>
          <a:prstGeom prst="line">
            <a:avLst/>
          </a:prstGeom>
          <a:noFill/>
          <a:ln w="12700">
            <a:solidFill>
              <a:srgbClr val="DCE3F3"/>
            </a:solidFill>
            <a:prstDash val="solid"/>
          </a:ln>
        </p:spPr>
      </p:sp>
      <p:sp>
        <p:nvSpPr>
          <p:cNvPr id="6" name="Text 4"/>
          <p:cNvSpPr/>
          <p:nvPr/>
        </p:nvSpPr>
        <p:spPr>
          <a:xfrm>
            <a:off x="566928" y="1243584"/>
            <a:ext cx="10287000" cy="292608"/>
          </a:xfrm>
          <a:prstGeom prst="rect">
            <a:avLst/>
          </a:prstGeom>
          <a:noFill/>
          <a:ln/>
        </p:spPr>
        <p:txBody>
          <a:bodyPr wrap="square" lIns="0" tIns="0" rIns="0" bIns="0" rtlCol="0" anchor="ctr"/>
          <a:lstStyle/>
          <a:p>
            <a:pPr indent="0" marL="0">
              <a:buNone/>
            </a:pPr>
            <a:r>
              <a:rPr lang="en-US" sz="1650" b="1" dirty="0">
                <a:solidFill>
                  <a:srgbClr val="17213F"/>
                </a:solidFill>
              </a:rPr>
              <a:t>The winning outcome is not perfect prediction; it is actionable risk concentration under a business cap.</a:t>
            </a:r>
            <a:endParaRPr lang="en-US" sz="1650" dirty="0"/>
          </a:p>
        </p:txBody>
      </p:sp>
      <p:sp>
        <p:nvSpPr>
          <p:cNvPr id="7" name="Shape 5"/>
          <p:cNvSpPr/>
          <p:nvPr/>
        </p:nvSpPr>
        <p:spPr>
          <a:xfrm>
            <a:off x="713232" y="1828800"/>
            <a:ext cx="2331720" cy="1024128"/>
          </a:xfrm>
          <a:prstGeom prst="roundRect">
            <a:avLst>
              <a:gd name="adj" fmla="val 5357"/>
            </a:avLst>
          </a:prstGeom>
          <a:solidFill>
            <a:srgbClr val="FFFFFF"/>
          </a:solidFill>
          <a:ln w="10160">
            <a:solidFill>
              <a:srgbClr val="D7DEEF">
                <a:alpha val="82000"/>
              </a:srgbClr>
            </a:solidFill>
            <a:prstDash val="solid"/>
          </a:ln>
          <a:effectLst>
            <a:outerShdw sx="100000" sy="100000" kx="0" ky="0" algn="bl" rotWithShape="0" blurRad="52028928200000000" dist="104057856400000000" dir="583200000000000000000">
              <a:srgbClr val="030716">
                <a:alpha val="18000000000000000000"/>
              </a:srgbClr>
            </a:outerShdw>
          </a:effectLst>
        </p:spPr>
      </p:sp>
      <p:sp>
        <p:nvSpPr>
          <p:cNvPr id="8" name="Text 6"/>
          <p:cNvSpPr/>
          <p:nvPr/>
        </p:nvSpPr>
        <p:spPr>
          <a:xfrm>
            <a:off x="877824" y="2011680"/>
            <a:ext cx="1965960" cy="310896"/>
          </a:xfrm>
          <a:prstGeom prst="rect">
            <a:avLst/>
          </a:prstGeom>
          <a:noFill/>
          <a:ln/>
        </p:spPr>
        <p:txBody>
          <a:bodyPr wrap="square" lIns="0" tIns="0" rIns="0" bIns="0" rtlCol="0" anchor="ctr"/>
          <a:lstStyle/>
          <a:p>
            <a:pPr algn="ctr" indent="0" marL="0">
              <a:buNone/>
            </a:pPr>
            <a:r>
              <a:rPr lang="en-US" sz="2400" b="1" dirty="0">
                <a:solidFill>
                  <a:srgbClr val="3A7AFE"/>
                </a:solidFill>
              </a:rPr>
              <a:t>0.381</a:t>
            </a:r>
            <a:endParaRPr lang="en-US" sz="2400" dirty="0"/>
          </a:p>
        </p:txBody>
      </p:sp>
      <p:sp>
        <p:nvSpPr>
          <p:cNvPr id="9" name="Text 7"/>
          <p:cNvSpPr/>
          <p:nvPr/>
        </p:nvSpPr>
        <p:spPr>
          <a:xfrm>
            <a:off x="877824" y="2441448"/>
            <a:ext cx="1965960" cy="146304"/>
          </a:xfrm>
          <a:prstGeom prst="rect">
            <a:avLst/>
          </a:prstGeom>
          <a:noFill/>
          <a:ln/>
        </p:spPr>
        <p:txBody>
          <a:bodyPr wrap="square" lIns="0" tIns="0" rIns="0" bIns="0" rtlCol="0" anchor="ctr"/>
          <a:lstStyle/>
          <a:p>
            <a:pPr algn="ctr" indent="0" marL="0">
              <a:buNone/>
            </a:pPr>
            <a:r>
              <a:rPr lang="en-US" sz="880" b="1" dirty="0">
                <a:solidFill>
                  <a:srgbClr val="17213F"/>
                </a:solidFill>
              </a:rPr>
              <a:t>test PR-AUC</a:t>
            </a:r>
            <a:endParaRPr lang="en-US" sz="880" dirty="0"/>
          </a:p>
        </p:txBody>
      </p:sp>
      <p:sp>
        <p:nvSpPr>
          <p:cNvPr id="10" name="Shape 8"/>
          <p:cNvSpPr/>
          <p:nvPr/>
        </p:nvSpPr>
        <p:spPr>
          <a:xfrm>
            <a:off x="3502152" y="1828800"/>
            <a:ext cx="2331720" cy="1024128"/>
          </a:xfrm>
          <a:prstGeom prst="roundRect">
            <a:avLst>
              <a:gd name="adj" fmla="val 5357"/>
            </a:avLst>
          </a:prstGeom>
          <a:solidFill>
            <a:srgbClr val="FFFFFF"/>
          </a:solidFill>
          <a:ln w="10160">
            <a:solidFill>
              <a:srgbClr val="D7DEEF">
                <a:alpha val="82000"/>
              </a:srgbClr>
            </a:solidFill>
            <a:prstDash val="solid"/>
          </a:ln>
          <a:effectLst>
            <a:outerShdw sx="100000" sy="100000" kx="0" ky="0" algn="bl" rotWithShape="0" blurRad="660767388140000000000" dist="1.32153477628e+21" dir="3.4992e+25">
              <a:srgbClr val="030716">
                <a:alpha val="1.8e+24"/>
              </a:srgbClr>
            </a:outerShdw>
          </a:effectLst>
        </p:spPr>
      </p:sp>
      <p:sp>
        <p:nvSpPr>
          <p:cNvPr id="11" name="Text 9"/>
          <p:cNvSpPr/>
          <p:nvPr/>
        </p:nvSpPr>
        <p:spPr>
          <a:xfrm>
            <a:off x="3666744" y="2011680"/>
            <a:ext cx="1965960" cy="310896"/>
          </a:xfrm>
          <a:prstGeom prst="rect">
            <a:avLst/>
          </a:prstGeom>
          <a:noFill/>
          <a:ln/>
        </p:spPr>
        <p:txBody>
          <a:bodyPr wrap="square" lIns="0" tIns="0" rIns="0" bIns="0" rtlCol="0" anchor="ctr"/>
          <a:lstStyle/>
          <a:p>
            <a:pPr algn="ctr" indent="0" marL="0">
              <a:buNone/>
            </a:pPr>
            <a:r>
              <a:rPr lang="en-US" sz="2400" b="1" dirty="0">
                <a:solidFill>
                  <a:srgbClr val="7C5CFF"/>
                </a:solidFill>
              </a:rPr>
              <a:t>40.1%</a:t>
            </a:r>
            <a:endParaRPr lang="en-US" sz="2400" dirty="0"/>
          </a:p>
        </p:txBody>
      </p:sp>
      <p:sp>
        <p:nvSpPr>
          <p:cNvPr id="12" name="Text 10"/>
          <p:cNvSpPr/>
          <p:nvPr/>
        </p:nvSpPr>
        <p:spPr>
          <a:xfrm>
            <a:off x="3666744" y="2441448"/>
            <a:ext cx="1965960" cy="146304"/>
          </a:xfrm>
          <a:prstGeom prst="rect">
            <a:avLst/>
          </a:prstGeom>
          <a:noFill/>
          <a:ln/>
        </p:spPr>
        <p:txBody>
          <a:bodyPr wrap="square" lIns="0" tIns="0" rIns="0" bIns="0" rtlCol="0" anchor="ctr"/>
          <a:lstStyle/>
          <a:p>
            <a:pPr algn="ctr" indent="0" marL="0">
              <a:buNone/>
            </a:pPr>
            <a:r>
              <a:rPr lang="en-US" sz="880" b="1" dirty="0">
                <a:solidFill>
                  <a:srgbClr val="17213F"/>
                </a:solidFill>
              </a:rPr>
              <a:t>bad rate in top 20%</a:t>
            </a:r>
            <a:endParaRPr lang="en-US" sz="880" dirty="0"/>
          </a:p>
        </p:txBody>
      </p:sp>
      <p:sp>
        <p:nvSpPr>
          <p:cNvPr id="13" name="Shape 11"/>
          <p:cNvSpPr/>
          <p:nvPr/>
        </p:nvSpPr>
        <p:spPr>
          <a:xfrm>
            <a:off x="6291072" y="1828800"/>
            <a:ext cx="2331720" cy="1024128"/>
          </a:xfrm>
          <a:prstGeom prst="roundRect">
            <a:avLst>
              <a:gd name="adj" fmla="val 5357"/>
            </a:avLst>
          </a:prstGeom>
          <a:solidFill>
            <a:srgbClr val="FFFFFF"/>
          </a:solidFill>
          <a:ln w="10160">
            <a:solidFill>
              <a:srgbClr val="D7DEEF">
                <a:alpha val="82000"/>
              </a:srgbClr>
            </a:solidFill>
            <a:prstDash val="solid"/>
          </a:ln>
          <a:effectLst>
            <a:outerShdw sx="100000" sy="100000" kx="0" ky="0" algn="bl" rotWithShape="0" blurRad="8.391745829378e+24" dist="1.6783491658756e+25" dir="2.09952e+30">
              <a:srgbClr val="030716">
                <a:alpha val="1.8e+29"/>
              </a:srgbClr>
            </a:outerShdw>
          </a:effectLst>
        </p:spPr>
      </p:sp>
      <p:sp>
        <p:nvSpPr>
          <p:cNvPr id="14" name="Text 12"/>
          <p:cNvSpPr/>
          <p:nvPr/>
        </p:nvSpPr>
        <p:spPr>
          <a:xfrm>
            <a:off x="6455664" y="2011680"/>
            <a:ext cx="1965960" cy="310896"/>
          </a:xfrm>
          <a:prstGeom prst="rect">
            <a:avLst/>
          </a:prstGeom>
          <a:noFill/>
          <a:ln/>
        </p:spPr>
        <p:txBody>
          <a:bodyPr wrap="square" lIns="0" tIns="0" rIns="0" bIns="0" rtlCol="0" anchor="ctr"/>
          <a:lstStyle/>
          <a:p>
            <a:pPr algn="ctr" indent="0" marL="0">
              <a:buNone/>
            </a:pPr>
            <a:r>
              <a:rPr lang="en-US" sz="2400" b="1" dirty="0">
                <a:solidFill>
                  <a:srgbClr val="15C99B"/>
                </a:solidFill>
              </a:rPr>
              <a:t>1.91×</a:t>
            </a:r>
            <a:endParaRPr lang="en-US" sz="2400" dirty="0"/>
          </a:p>
        </p:txBody>
      </p:sp>
      <p:sp>
        <p:nvSpPr>
          <p:cNvPr id="15" name="Text 13"/>
          <p:cNvSpPr/>
          <p:nvPr/>
        </p:nvSpPr>
        <p:spPr>
          <a:xfrm>
            <a:off x="6455664" y="2441448"/>
            <a:ext cx="1965960" cy="146304"/>
          </a:xfrm>
          <a:prstGeom prst="rect">
            <a:avLst/>
          </a:prstGeom>
          <a:noFill/>
          <a:ln/>
        </p:spPr>
        <p:txBody>
          <a:bodyPr wrap="square" lIns="0" tIns="0" rIns="0" bIns="0" rtlCol="0" anchor="ctr"/>
          <a:lstStyle/>
          <a:p>
            <a:pPr algn="ctr" indent="0" marL="0">
              <a:buNone/>
            </a:pPr>
            <a:r>
              <a:rPr lang="en-US" sz="880" b="1" dirty="0">
                <a:solidFill>
                  <a:srgbClr val="17213F"/>
                </a:solidFill>
              </a:rPr>
              <a:t>lift over base rate</a:t>
            </a:r>
            <a:endParaRPr lang="en-US" sz="880" dirty="0"/>
          </a:p>
        </p:txBody>
      </p:sp>
      <p:sp>
        <p:nvSpPr>
          <p:cNvPr id="16" name="Shape 14"/>
          <p:cNvSpPr/>
          <p:nvPr/>
        </p:nvSpPr>
        <p:spPr>
          <a:xfrm>
            <a:off x="9079992" y="1828800"/>
            <a:ext cx="2331720" cy="1024128"/>
          </a:xfrm>
          <a:prstGeom prst="roundRect">
            <a:avLst>
              <a:gd name="adj" fmla="val 5357"/>
            </a:avLst>
          </a:prstGeom>
          <a:solidFill>
            <a:srgbClr val="FFFFFF"/>
          </a:solidFill>
          <a:ln w="10160">
            <a:solidFill>
              <a:srgbClr val="D7DEEF">
                <a:alpha val="82000"/>
              </a:srgbClr>
            </a:solidFill>
            <a:prstDash val="solid"/>
          </a:ln>
          <a:effectLst>
            <a:outerShdw sx="100000" sy="100000" kx="0" ky="0" algn="bl" rotWithShape="0" blurRad="1.0657517203310059e+29" dist="2.1315034406620118e+29" dir="1.259712e+35">
              <a:srgbClr val="030716">
                <a:alpha val="1.7999999999999998e+34"/>
              </a:srgbClr>
            </a:outerShdw>
          </a:effectLst>
        </p:spPr>
      </p:sp>
      <p:sp>
        <p:nvSpPr>
          <p:cNvPr id="17" name="Text 15"/>
          <p:cNvSpPr/>
          <p:nvPr/>
        </p:nvSpPr>
        <p:spPr>
          <a:xfrm>
            <a:off x="9244584" y="2011680"/>
            <a:ext cx="1965960" cy="310896"/>
          </a:xfrm>
          <a:prstGeom prst="rect">
            <a:avLst/>
          </a:prstGeom>
          <a:noFill/>
          <a:ln/>
        </p:spPr>
        <p:txBody>
          <a:bodyPr wrap="square" lIns="0" tIns="0" rIns="0" bIns="0" rtlCol="0" anchor="ctr"/>
          <a:lstStyle/>
          <a:p>
            <a:pPr algn="ctr" indent="0" marL="0">
              <a:buNone/>
            </a:pPr>
            <a:r>
              <a:rPr lang="en-US" sz="2400" b="1" dirty="0">
                <a:solidFill>
                  <a:srgbClr val="F4C95D"/>
                </a:solidFill>
              </a:rPr>
              <a:t>38.1%</a:t>
            </a:r>
            <a:endParaRPr lang="en-US" sz="2400" dirty="0"/>
          </a:p>
        </p:txBody>
      </p:sp>
      <p:sp>
        <p:nvSpPr>
          <p:cNvPr id="18" name="Text 16"/>
          <p:cNvSpPr/>
          <p:nvPr/>
        </p:nvSpPr>
        <p:spPr>
          <a:xfrm>
            <a:off x="9244584" y="2441448"/>
            <a:ext cx="1965960" cy="146304"/>
          </a:xfrm>
          <a:prstGeom prst="rect">
            <a:avLst/>
          </a:prstGeom>
          <a:noFill/>
          <a:ln/>
        </p:spPr>
        <p:txBody>
          <a:bodyPr wrap="square" lIns="0" tIns="0" rIns="0" bIns="0" rtlCol="0" anchor="ctr"/>
          <a:lstStyle/>
          <a:p>
            <a:pPr algn="ctr" indent="0" marL="0">
              <a:buNone/>
            </a:pPr>
            <a:r>
              <a:rPr lang="en-US" sz="880" b="1" dirty="0">
                <a:solidFill>
                  <a:srgbClr val="17213F"/>
                </a:solidFill>
              </a:rPr>
              <a:t>defaults captured</a:t>
            </a:r>
            <a:endParaRPr lang="en-US" sz="880" dirty="0"/>
          </a:p>
        </p:txBody>
      </p:sp>
      <p:sp>
        <p:nvSpPr>
          <p:cNvPr id="19" name="Shape 17"/>
          <p:cNvSpPr/>
          <p:nvPr/>
        </p:nvSpPr>
        <p:spPr>
          <a:xfrm>
            <a:off x="713232" y="3246120"/>
            <a:ext cx="5074920" cy="2395728"/>
          </a:xfrm>
          <a:prstGeom prst="roundRect">
            <a:avLst>
              <a:gd name="adj" fmla="val 2290"/>
            </a:avLst>
          </a:prstGeom>
          <a:solidFill>
            <a:srgbClr val="FFFFFF"/>
          </a:solidFill>
          <a:ln w="10160">
            <a:solidFill>
              <a:srgbClr val="D7DEEF">
                <a:alpha val="82000"/>
              </a:srgbClr>
            </a:solidFill>
            <a:prstDash val="solid"/>
          </a:ln>
          <a:effectLst>
            <a:outerShdw sx="100000" sy="100000" kx="0" ky="0" algn="bl" rotWithShape="0" blurRad="1.3535046848203775e+33" dist="2.707009369640755e+33" dir="7.558272e+39">
              <a:srgbClr val="030716">
                <a:alpha val="1.8e+39"/>
              </a:srgbClr>
            </a:outerShdw>
          </a:effectLst>
        </p:spPr>
      </p:sp>
      <p:sp>
        <p:nvSpPr>
          <p:cNvPr id="20" name="Text 18"/>
          <p:cNvSpPr/>
          <p:nvPr/>
        </p:nvSpPr>
        <p:spPr>
          <a:xfrm>
            <a:off x="1024128" y="3538728"/>
            <a:ext cx="1828800" cy="164592"/>
          </a:xfrm>
          <a:prstGeom prst="rect">
            <a:avLst/>
          </a:prstGeom>
          <a:noFill/>
          <a:ln/>
        </p:spPr>
        <p:txBody>
          <a:bodyPr wrap="square" lIns="0" tIns="0" rIns="0" bIns="0" rtlCol="0" anchor="ctr"/>
          <a:lstStyle/>
          <a:p>
            <a:pPr indent="0" marL="0">
              <a:buNone/>
            </a:pPr>
            <a:r>
              <a:rPr lang="en-US" sz="760" b="1" spc="125" kern="0" dirty="0">
                <a:solidFill>
                  <a:srgbClr val="3A7AFE"/>
                </a:solidFill>
              </a:rPr>
              <a:t>OBSERVED BAD RATE</a:t>
            </a:r>
            <a:endParaRPr lang="en-US" sz="760" dirty="0"/>
          </a:p>
        </p:txBody>
      </p:sp>
      <p:sp>
        <p:nvSpPr>
          <p:cNvPr id="21" name="Text 19"/>
          <p:cNvSpPr/>
          <p:nvPr/>
        </p:nvSpPr>
        <p:spPr>
          <a:xfrm>
            <a:off x="1024128" y="4078224"/>
            <a:ext cx="1600200" cy="155448"/>
          </a:xfrm>
          <a:prstGeom prst="rect">
            <a:avLst/>
          </a:prstGeom>
          <a:noFill/>
          <a:ln/>
        </p:spPr>
        <p:txBody>
          <a:bodyPr wrap="square" lIns="0" tIns="0" rIns="0" bIns="0" rtlCol="0" anchor="ctr"/>
          <a:lstStyle/>
          <a:p>
            <a:pPr indent="0" marL="0">
              <a:buNone/>
            </a:pPr>
            <a:r>
              <a:rPr lang="en-US" sz="860" dirty="0">
                <a:solidFill>
                  <a:srgbClr val="17213F"/>
                </a:solidFill>
              </a:rPr>
              <a:t>Portfolio base</a:t>
            </a:r>
            <a:endParaRPr lang="en-US" sz="860" dirty="0"/>
          </a:p>
        </p:txBody>
      </p:sp>
      <p:sp>
        <p:nvSpPr>
          <p:cNvPr id="22" name="Shape 20"/>
          <p:cNvSpPr/>
          <p:nvPr/>
        </p:nvSpPr>
        <p:spPr>
          <a:xfrm>
            <a:off x="2761488" y="4041648"/>
            <a:ext cx="2194560" cy="329184"/>
          </a:xfrm>
          <a:prstGeom prst="rect">
            <a:avLst/>
          </a:prstGeom>
          <a:solidFill>
            <a:srgbClr val="EBEFF7"/>
          </a:solidFill>
          <a:ln w="12700">
            <a:solidFill>
              <a:srgbClr val="FFFFFF">
                <a:alpha val="0"/>
              </a:srgbClr>
            </a:solidFill>
            <a:prstDash val="solid"/>
          </a:ln>
        </p:spPr>
      </p:sp>
      <p:sp>
        <p:nvSpPr>
          <p:cNvPr id="23" name="Shape 21"/>
          <p:cNvSpPr/>
          <p:nvPr/>
        </p:nvSpPr>
        <p:spPr>
          <a:xfrm>
            <a:off x="2761488" y="4041648"/>
            <a:ext cx="1024128" cy="329184"/>
          </a:xfrm>
          <a:prstGeom prst="rect">
            <a:avLst/>
          </a:prstGeom>
          <a:solidFill>
            <a:srgbClr val="AAB5D6"/>
          </a:solidFill>
          <a:ln w="12700">
            <a:solidFill>
              <a:srgbClr val="FFFFFF">
                <a:alpha val="0"/>
              </a:srgbClr>
            </a:solidFill>
            <a:prstDash val="solid"/>
          </a:ln>
        </p:spPr>
      </p:sp>
      <p:sp>
        <p:nvSpPr>
          <p:cNvPr id="24" name="Text 22"/>
          <p:cNvSpPr/>
          <p:nvPr/>
        </p:nvSpPr>
        <p:spPr>
          <a:xfrm>
            <a:off x="5010912" y="4078224"/>
            <a:ext cx="384048" cy="146304"/>
          </a:xfrm>
          <a:prstGeom prst="rect">
            <a:avLst/>
          </a:prstGeom>
          <a:noFill/>
          <a:ln/>
        </p:spPr>
        <p:txBody>
          <a:bodyPr wrap="square" lIns="0" tIns="0" rIns="0" bIns="0" rtlCol="0" anchor="ctr"/>
          <a:lstStyle/>
          <a:p>
            <a:pPr algn="r" indent="0" marL="0">
              <a:buNone/>
            </a:pPr>
            <a:r>
              <a:rPr lang="en-US" sz="880" b="1" dirty="0">
                <a:solidFill>
                  <a:srgbClr val="17213F"/>
                </a:solidFill>
              </a:rPr>
              <a:t>21.0%</a:t>
            </a:r>
            <a:endParaRPr lang="en-US" sz="880" dirty="0"/>
          </a:p>
        </p:txBody>
      </p:sp>
      <p:sp>
        <p:nvSpPr>
          <p:cNvPr id="25" name="Text 23"/>
          <p:cNvSpPr/>
          <p:nvPr/>
        </p:nvSpPr>
        <p:spPr>
          <a:xfrm>
            <a:off x="1024128" y="4764024"/>
            <a:ext cx="1600200" cy="155448"/>
          </a:xfrm>
          <a:prstGeom prst="rect">
            <a:avLst/>
          </a:prstGeom>
          <a:noFill/>
          <a:ln/>
        </p:spPr>
        <p:txBody>
          <a:bodyPr wrap="square" lIns="0" tIns="0" rIns="0" bIns="0" rtlCol="0" anchor="ctr"/>
          <a:lstStyle/>
          <a:p>
            <a:pPr indent="0" marL="0">
              <a:buNone/>
            </a:pPr>
            <a:r>
              <a:rPr lang="en-US" sz="860" dirty="0">
                <a:solidFill>
                  <a:srgbClr val="17213F"/>
                </a:solidFill>
              </a:rPr>
              <a:t>Top 20% risk queue</a:t>
            </a:r>
            <a:endParaRPr lang="en-US" sz="860" dirty="0"/>
          </a:p>
        </p:txBody>
      </p:sp>
      <p:sp>
        <p:nvSpPr>
          <p:cNvPr id="26" name="Shape 24"/>
          <p:cNvSpPr/>
          <p:nvPr/>
        </p:nvSpPr>
        <p:spPr>
          <a:xfrm>
            <a:off x="2761488" y="4727448"/>
            <a:ext cx="2194560" cy="329184"/>
          </a:xfrm>
          <a:prstGeom prst="rect">
            <a:avLst/>
          </a:prstGeom>
          <a:solidFill>
            <a:srgbClr val="EBEFF7"/>
          </a:solidFill>
          <a:ln w="12700">
            <a:solidFill>
              <a:srgbClr val="FFFFFF">
                <a:alpha val="0"/>
              </a:srgbClr>
            </a:solidFill>
            <a:prstDash val="solid"/>
          </a:ln>
        </p:spPr>
      </p:sp>
      <p:sp>
        <p:nvSpPr>
          <p:cNvPr id="27" name="Shape 25"/>
          <p:cNvSpPr/>
          <p:nvPr/>
        </p:nvSpPr>
        <p:spPr>
          <a:xfrm>
            <a:off x="2761488" y="4727448"/>
            <a:ext cx="1955597" cy="329184"/>
          </a:xfrm>
          <a:prstGeom prst="rect">
            <a:avLst/>
          </a:prstGeom>
          <a:solidFill>
            <a:srgbClr val="7C5CFF"/>
          </a:solidFill>
          <a:ln w="12700">
            <a:solidFill>
              <a:srgbClr val="FFFFFF">
                <a:alpha val="0"/>
              </a:srgbClr>
            </a:solidFill>
            <a:prstDash val="solid"/>
          </a:ln>
        </p:spPr>
      </p:sp>
      <p:sp>
        <p:nvSpPr>
          <p:cNvPr id="28" name="Text 26"/>
          <p:cNvSpPr/>
          <p:nvPr/>
        </p:nvSpPr>
        <p:spPr>
          <a:xfrm>
            <a:off x="5010912" y="4764024"/>
            <a:ext cx="384048" cy="146304"/>
          </a:xfrm>
          <a:prstGeom prst="rect">
            <a:avLst/>
          </a:prstGeom>
          <a:noFill/>
          <a:ln/>
        </p:spPr>
        <p:txBody>
          <a:bodyPr wrap="square" lIns="0" tIns="0" rIns="0" bIns="0" rtlCol="0" anchor="ctr"/>
          <a:lstStyle/>
          <a:p>
            <a:pPr algn="r" indent="0" marL="0">
              <a:buNone/>
            </a:pPr>
            <a:r>
              <a:rPr lang="en-US" sz="880" b="1" dirty="0">
                <a:solidFill>
                  <a:srgbClr val="17213F"/>
                </a:solidFill>
              </a:rPr>
              <a:t>40.1%</a:t>
            </a:r>
            <a:endParaRPr lang="en-US" sz="880" dirty="0"/>
          </a:p>
        </p:txBody>
      </p:sp>
      <p:sp>
        <p:nvSpPr>
          <p:cNvPr id="29" name="Text 27"/>
          <p:cNvSpPr/>
          <p:nvPr/>
        </p:nvSpPr>
        <p:spPr>
          <a:xfrm>
            <a:off x="1024128" y="5266944"/>
            <a:ext cx="4206240" cy="164592"/>
          </a:xfrm>
          <a:prstGeom prst="rect">
            <a:avLst/>
          </a:prstGeom>
          <a:noFill/>
          <a:ln/>
        </p:spPr>
        <p:txBody>
          <a:bodyPr wrap="square" lIns="0" tIns="0" rIns="0" bIns="0" rtlCol="0" anchor="ctr"/>
          <a:lstStyle/>
          <a:p>
            <a:pPr indent="0" marL="0">
              <a:buNone/>
            </a:pPr>
            <a:r>
              <a:rPr lang="en-US" sz="860" b="1" dirty="0">
                <a:solidFill>
                  <a:srgbClr val="17213F"/>
                </a:solidFill>
              </a:rPr>
              <a:t>At fixed capacity, the review queue is almost twice as risky as the base portfolio.</a:t>
            </a:r>
            <a:endParaRPr lang="en-US" sz="860" dirty="0"/>
          </a:p>
        </p:txBody>
      </p:sp>
      <p:sp>
        <p:nvSpPr>
          <p:cNvPr id="30" name="Shape 28"/>
          <p:cNvSpPr/>
          <p:nvPr/>
        </p:nvSpPr>
        <p:spPr>
          <a:xfrm>
            <a:off x="6199632" y="3246120"/>
            <a:ext cx="5102352" cy="2395728"/>
          </a:xfrm>
          <a:prstGeom prst="roundRect">
            <a:avLst>
              <a:gd name="adj" fmla="val 2290"/>
            </a:avLst>
          </a:prstGeom>
          <a:solidFill>
            <a:srgbClr val="FFFFFF"/>
          </a:solidFill>
          <a:ln w="10160">
            <a:solidFill>
              <a:srgbClr val="D7DEEF">
                <a:alpha val="82000"/>
              </a:srgbClr>
            </a:solidFill>
            <a:prstDash val="solid"/>
          </a:ln>
          <a:effectLst>
            <a:outerShdw sx="100000" sy="100000" kx="0" ky="0" algn="bl" rotWithShape="0" blurRad="1.7189509497218795e+37" dist="3.437901899443759e+37" dir="4.5349632000000006e+44">
              <a:srgbClr val="030716">
                <a:alpha val="1.8e+44"/>
              </a:srgbClr>
            </a:outerShdw>
          </a:effectLst>
        </p:spPr>
      </p:sp>
      <p:sp>
        <p:nvSpPr>
          <p:cNvPr id="31" name="Text 29"/>
          <p:cNvSpPr/>
          <p:nvPr/>
        </p:nvSpPr>
        <p:spPr>
          <a:xfrm>
            <a:off x="6510528" y="3538728"/>
            <a:ext cx="1828800" cy="164592"/>
          </a:xfrm>
          <a:prstGeom prst="rect">
            <a:avLst/>
          </a:prstGeom>
          <a:noFill/>
          <a:ln/>
        </p:spPr>
        <p:txBody>
          <a:bodyPr wrap="square" lIns="0" tIns="0" rIns="0" bIns="0" rtlCol="0" anchor="ctr"/>
          <a:lstStyle/>
          <a:p>
            <a:pPr indent="0" marL="0">
              <a:buNone/>
            </a:pPr>
            <a:r>
              <a:rPr lang="en-US" sz="760" b="1" spc="125" kern="0" dirty="0">
                <a:solidFill>
                  <a:srgbClr val="F4C95D"/>
                </a:solidFill>
              </a:rPr>
              <a:t>CAPPED POLICY</a:t>
            </a:r>
            <a:endParaRPr lang="en-US" sz="760" dirty="0"/>
          </a:p>
        </p:txBody>
      </p:sp>
      <p:sp>
        <p:nvSpPr>
          <p:cNvPr id="32" name="Text 30"/>
          <p:cNvSpPr/>
          <p:nvPr/>
        </p:nvSpPr>
        <p:spPr>
          <a:xfrm>
            <a:off x="6510528" y="3950208"/>
            <a:ext cx="1371600" cy="292608"/>
          </a:xfrm>
          <a:prstGeom prst="rect">
            <a:avLst/>
          </a:prstGeom>
          <a:noFill/>
          <a:ln/>
        </p:spPr>
        <p:txBody>
          <a:bodyPr wrap="square" lIns="0" tIns="0" rIns="0" bIns="0" rtlCol="0" anchor="ctr"/>
          <a:lstStyle/>
          <a:p>
            <a:pPr indent="0" marL="0">
              <a:buNone/>
            </a:pPr>
            <a:r>
              <a:rPr lang="en-US" sz="2400" b="1" dirty="0">
                <a:solidFill>
                  <a:srgbClr val="F4C95D"/>
                </a:solidFill>
              </a:rPr>
              <a:t>19.47%</a:t>
            </a:r>
            <a:endParaRPr lang="en-US" sz="2400" dirty="0"/>
          </a:p>
        </p:txBody>
      </p:sp>
      <p:sp>
        <p:nvSpPr>
          <p:cNvPr id="33" name="Text 31"/>
          <p:cNvSpPr/>
          <p:nvPr/>
        </p:nvSpPr>
        <p:spPr>
          <a:xfrm>
            <a:off x="7991856" y="4041648"/>
            <a:ext cx="2468880" cy="155448"/>
          </a:xfrm>
          <a:prstGeom prst="rect">
            <a:avLst/>
          </a:prstGeom>
          <a:noFill/>
          <a:ln/>
        </p:spPr>
        <p:txBody>
          <a:bodyPr wrap="square" lIns="0" tIns="0" rIns="0" bIns="0" rtlCol="0" anchor="ctr"/>
          <a:lstStyle/>
          <a:p>
            <a:pPr indent="0" marL="0">
              <a:buNone/>
            </a:pPr>
            <a:r>
              <a:rPr lang="en-US" sz="920" dirty="0">
                <a:solidFill>
                  <a:srgbClr val="17213F"/>
                </a:solidFill>
              </a:rPr>
              <a:t>flagged for review / reject</a:t>
            </a:r>
            <a:endParaRPr lang="en-US" sz="920" dirty="0"/>
          </a:p>
        </p:txBody>
      </p:sp>
      <p:sp>
        <p:nvSpPr>
          <p:cNvPr id="34" name="Shape 32"/>
          <p:cNvSpPr/>
          <p:nvPr/>
        </p:nvSpPr>
        <p:spPr>
          <a:xfrm>
            <a:off x="6510528" y="4498848"/>
            <a:ext cx="4160520" cy="0"/>
          </a:xfrm>
          <a:prstGeom prst="line">
            <a:avLst/>
          </a:prstGeom>
          <a:noFill/>
          <a:ln w="12700">
            <a:solidFill>
              <a:srgbClr val="E3E8F4"/>
            </a:solidFill>
            <a:prstDash val="solid"/>
          </a:ln>
        </p:spPr>
      </p:sp>
      <p:sp>
        <p:nvSpPr>
          <p:cNvPr id="35" name="Text 33"/>
          <p:cNvSpPr/>
          <p:nvPr/>
        </p:nvSpPr>
        <p:spPr>
          <a:xfrm>
            <a:off x="6510528" y="4773168"/>
            <a:ext cx="2057400" cy="146304"/>
          </a:xfrm>
          <a:prstGeom prst="rect">
            <a:avLst/>
          </a:prstGeom>
          <a:noFill/>
          <a:ln/>
        </p:spPr>
        <p:txBody>
          <a:bodyPr wrap="square" lIns="0" tIns="0" rIns="0" bIns="0" rtlCol="0" anchor="ctr"/>
          <a:lstStyle/>
          <a:p>
            <a:pPr indent="0" marL="0">
              <a:buNone/>
            </a:pPr>
            <a:r>
              <a:rPr lang="en-US" sz="870" dirty="0">
                <a:solidFill>
                  <a:srgbClr val="536180"/>
                </a:solidFill>
              </a:rPr>
              <a:t>Approved-group bad rate</a:t>
            </a:r>
            <a:endParaRPr lang="en-US" sz="870" dirty="0"/>
          </a:p>
        </p:txBody>
      </p:sp>
      <p:sp>
        <p:nvSpPr>
          <p:cNvPr id="36" name="Text 34"/>
          <p:cNvSpPr/>
          <p:nvPr/>
        </p:nvSpPr>
        <p:spPr>
          <a:xfrm>
            <a:off x="8851392" y="4672584"/>
            <a:ext cx="1143000" cy="274320"/>
          </a:xfrm>
          <a:prstGeom prst="rect">
            <a:avLst/>
          </a:prstGeom>
          <a:noFill/>
          <a:ln/>
        </p:spPr>
        <p:txBody>
          <a:bodyPr wrap="square" lIns="0" tIns="0" rIns="0" bIns="0" rtlCol="0" anchor="ctr"/>
          <a:lstStyle/>
          <a:p>
            <a:pPr algn="r" indent="0" marL="0">
              <a:buNone/>
            </a:pPr>
            <a:r>
              <a:rPr lang="en-US" sz="1800" b="1" dirty="0">
                <a:solidFill>
                  <a:srgbClr val="15C99B"/>
                </a:solidFill>
              </a:rPr>
              <a:t>16.34%</a:t>
            </a:r>
            <a:endParaRPr lang="en-US" sz="1800" dirty="0"/>
          </a:p>
        </p:txBody>
      </p:sp>
      <p:sp>
        <p:nvSpPr>
          <p:cNvPr id="37" name="Text 35"/>
          <p:cNvSpPr/>
          <p:nvPr/>
        </p:nvSpPr>
        <p:spPr>
          <a:xfrm>
            <a:off x="6510528" y="5138928"/>
            <a:ext cx="2057400" cy="146304"/>
          </a:xfrm>
          <a:prstGeom prst="rect">
            <a:avLst/>
          </a:prstGeom>
          <a:noFill/>
          <a:ln/>
        </p:spPr>
        <p:txBody>
          <a:bodyPr wrap="square" lIns="0" tIns="0" rIns="0" bIns="0" rtlCol="0" anchor="ctr"/>
          <a:lstStyle/>
          <a:p>
            <a:pPr indent="0" marL="0">
              <a:buNone/>
            </a:pPr>
            <a:r>
              <a:rPr lang="en-US" sz="870" dirty="0">
                <a:solidFill>
                  <a:srgbClr val="536180"/>
                </a:solidFill>
              </a:rPr>
              <a:t>Illustrative portfolio value</a:t>
            </a:r>
            <a:endParaRPr lang="en-US" sz="870" dirty="0"/>
          </a:p>
        </p:txBody>
      </p:sp>
      <p:sp>
        <p:nvSpPr>
          <p:cNvPr id="38" name="Text 36"/>
          <p:cNvSpPr/>
          <p:nvPr/>
        </p:nvSpPr>
        <p:spPr>
          <a:xfrm>
            <a:off x="8732520" y="5029200"/>
            <a:ext cx="1261872" cy="274320"/>
          </a:xfrm>
          <a:prstGeom prst="rect">
            <a:avLst/>
          </a:prstGeom>
          <a:noFill/>
          <a:ln/>
        </p:spPr>
        <p:txBody>
          <a:bodyPr wrap="square" lIns="0" tIns="0" rIns="0" bIns="0" rtlCol="0" anchor="ctr"/>
          <a:lstStyle/>
          <a:p>
            <a:pPr algn="r" indent="0" marL="0">
              <a:buNone/>
            </a:pPr>
            <a:r>
              <a:rPr lang="en-US" sz="1800" b="1" dirty="0">
                <a:solidFill>
                  <a:srgbClr val="3A7AFE"/>
                </a:solidFill>
              </a:rPr>
              <a:t>$120M</a:t>
            </a:r>
            <a:endParaRPr lang="en-US" sz="1800" dirty="0"/>
          </a:p>
        </p:txBody>
      </p:sp>
      <p:sp>
        <p:nvSpPr>
          <p:cNvPr id="39" name="Text 37"/>
          <p:cNvSpPr/>
          <p:nvPr/>
        </p:nvSpPr>
        <p:spPr>
          <a:xfrm>
            <a:off x="502920" y="6537960"/>
            <a:ext cx="10607040" cy="146304"/>
          </a:xfrm>
          <a:prstGeom prst="rect">
            <a:avLst/>
          </a:prstGeom>
          <a:noFill/>
          <a:ln/>
        </p:spPr>
        <p:txBody>
          <a:bodyPr wrap="square" lIns="0" tIns="0" rIns="0" bIns="0" rtlCol="0" anchor="ctr"/>
          <a:lstStyle/>
          <a:p>
            <a:pPr indent="0" marL="0">
              <a:buNone/>
            </a:pPr>
            <a:r>
              <a:rPr lang="en-US" sz="680" dirty="0">
                <a:solidFill>
                  <a:srgbClr val="7280A2"/>
                </a:solidFill>
              </a:rPr>
              <a:t>Project result artifacts: final model recommendation, top-20% fixed review volume policy, capped economic policy.</a:t>
            </a:r>
            <a:endParaRPr lang="en-US" sz="680" dirty="0"/>
          </a:p>
        </p:txBody>
      </p:sp>
      <p:sp>
        <p:nvSpPr>
          <p:cNvPr id="40" name="Text 38"/>
          <p:cNvSpPr/>
          <p:nvPr/>
        </p:nvSpPr>
        <p:spPr>
          <a:xfrm>
            <a:off x="11292840" y="6492240"/>
            <a:ext cx="320040" cy="146304"/>
          </a:xfrm>
          <a:prstGeom prst="rect">
            <a:avLst/>
          </a:prstGeom>
          <a:noFill/>
          <a:ln/>
        </p:spPr>
        <p:txBody>
          <a:bodyPr wrap="square" lIns="0" tIns="0" rIns="0" bIns="0" rtlCol="0" anchor="ctr"/>
          <a:lstStyle/>
          <a:p>
            <a:pPr algn="r" indent="0" marL="0">
              <a:buNone/>
            </a:pPr>
            <a:r>
              <a:rPr lang="en-US" sz="780" b="1" dirty="0">
                <a:solidFill>
                  <a:srgbClr val="7280A2"/>
                </a:solidFill>
              </a:rPr>
              <a:t>06</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024"/>
        </a:solidFill>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8D9F2">
              <a:alpha val="45000"/>
            </a:srgbClr>
          </a:solidFill>
          <a:ln w="12700">
            <a:solidFill>
              <a:srgbClr val="FFFFFF">
                <a:alpha val="0"/>
              </a:srgbClr>
            </a:solidFill>
            <a:prstDash val="solid"/>
          </a:ln>
        </p:spPr>
      </p:sp>
      <p:sp>
        <p:nvSpPr>
          <p:cNvPr id="3" name="Shape 1"/>
          <p:cNvSpPr/>
          <p:nvPr/>
        </p:nvSpPr>
        <p:spPr>
          <a:xfrm>
            <a:off x="0" y="6821424"/>
            <a:ext cx="12191695" cy="36576"/>
          </a:xfrm>
          <a:prstGeom prst="rect">
            <a:avLst/>
          </a:prstGeom>
          <a:solidFill>
            <a:srgbClr val="3A7AFE">
              <a:alpha val="30000"/>
            </a:srgbClr>
          </a:solidFill>
          <a:ln w="12700">
            <a:solidFill>
              <a:srgbClr val="FFFFFF">
                <a:alpha val="0"/>
              </a:srgbClr>
            </a:solidFill>
            <a:prstDash val="solid"/>
          </a:ln>
        </p:spPr>
      </p:sp>
      <p:sp>
        <p:nvSpPr>
          <p:cNvPr id="4" name="Text 2"/>
          <p:cNvSpPr/>
          <p:nvPr/>
        </p:nvSpPr>
        <p:spPr>
          <a:xfrm>
            <a:off x="502920" y="228600"/>
            <a:ext cx="2606040" cy="164592"/>
          </a:xfrm>
          <a:prstGeom prst="rect">
            <a:avLst/>
          </a:prstGeom>
          <a:noFill/>
          <a:ln/>
        </p:spPr>
        <p:txBody>
          <a:bodyPr wrap="square" lIns="0" tIns="0" rIns="0" bIns="0" rtlCol="0" anchor="ctr"/>
          <a:lstStyle/>
          <a:p>
            <a:pPr indent="0" marL="0">
              <a:buNone/>
            </a:pPr>
            <a:r>
              <a:rPr lang="en-US" sz="830" b="1" spc="170" kern="0" dirty="0">
                <a:solidFill>
                  <a:srgbClr val="38D9F2"/>
                </a:solidFill>
              </a:rPr>
              <a:t>RESULTS</a:t>
            </a:r>
            <a:endParaRPr lang="en-US" sz="830" dirty="0"/>
          </a:p>
        </p:txBody>
      </p:sp>
      <p:sp>
        <p:nvSpPr>
          <p:cNvPr id="5" name="Text 3"/>
          <p:cNvSpPr/>
          <p:nvPr/>
        </p:nvSpPr>
        <p:spPr>
          <a:xfrm>
            <a:off x="502920" y="502920"/>
            <a:ext cx="9509760" cy="457200"/>
          </a:xfrm>
          <a:prstGeom prst="rect">
            <a:avLst/>
          </a:prstGeom>
          <a:noFill/>
          <a:ln/>
        </p:spPr>
        <p:txBody>
          <a:bodyPr wrap="square" lIns="0" tIns="0" rIns="0" bIns="0" rtlCol="0" anchor="ctr"/>
          <a:lstStyle/>
          <a:p>
            <a:pPr indent="0" marL="0">
              <a:buNone/>
            </a:pPr>
            <a:r>
              <a:rPr lang="en-US" sz="2350" b="1" dirty="0">
                <a:solidFill>
                  <a:srgbClr val="F8FAFF"/>
                </a:solidFill>
                <a:latin typeface="Aptos Display" pitchFamily="34" charset="0"/>
                <a:ea typeface="Aptos Display" pitchFamily="34" charset="-122"/>
                <a:cs typeface="Aptos Display" pitchFamily="34" charset="-120"/>
              </a:rPr>
              <a:t>RAG improved legal specificity, but the prototype still needs guardrails</a:t>
            </a:r>
            <a:endParaRPr lang="en-US" sz="2350" dirty="0"/>
          </a:p>
        </p:txBody>
      </p:sp>
      <p:sp>
        <p:nvSpPr>
          <p:cNvPr id="6" name="Text 4"/>
          <p:cNvSpPr/>
          <p:nvPr/>
        </p:nvSpPr>
        <p:spPr>
          <a:xfrm>
            <a:off x="9966960" y="292608"/>
            <a:ext cx="1719072" cy="164592"/>
          </a:xfrm>
          <a:prstGeom prst="rect">
            <a:avLst/>
          </a:prstGeom>
          <a:noFill/>
          <a:ln/>
        </p:spPr>
        <p:txBody>
          <a:bodyPr wrap="square" lIns="0" tIns="0" rIns="0" bIns="0" rtlCol="0" anchor="ctr"/>
          <a:lstStyle/>
          <a:p>
            <a:pPr algn="r" indent="0" marL="0">
              <a:buNone/>
            </a:pPr>
            <a:r>
              <a:rPr lang="en-US" sz="870" b="1" dirty="0">
                <a:solidFill>
                  <a:srgbClr val="AAB5D6"/>
                </a:solidFill>
              </a:rPr>
              <a:t>Sidd · 4:00–4:30</a:t>
            </a:r>
            <a:endParaRPr lang="en-US" sz="870" dirty="0"/>
          </a:p>
        </p:txBody>
      </p:sp>
      <p:sp>
        <p:nvSpPr>
          <p:cNvPr id="7" name="Shape 5"/>
          <p:cNvSpPr/>
          <p:nvPr/>
        </p:nvSpPr>
        <p:spPr>
          <a:xfrm>
            <a:off x="502920" y="1042416"/>
            <a:ext cx="11109960" cy="0"/>
          </a:xfrm>
          <a:prstGeom prst="line">
            <a:avLst/>
          </a:prstGeom>
          <a:noFill/>
          <a:ln w="12700">
            <a:solidFill>
              <a:srgbClr val="2A3866"/>
            </a:solidFill>
            <a:prstDash val="solid"/>
          </a:ln>
        </p:spPr>
      </p:sp>
      <p:sp>
        <p:nvSpPr>
          <p:cNvPr id="8" name="Text 6"/>
          <p:cNvSpPr/>
          <p:nvPr/>
        </p:nvSpPr>
        <p:spPr>
          <a:xfrm>
            <a:off x="566928" y="1243584"/>
            <a:ext cx="7863840" cy="292608"/>
          </a:xfrm>
          <a:prstGeom prst="rect">
            <a:avLst/>
          </a:prstGeom>
          <a:noFill/>
          <a:ln/>
        </p:spPr>
        <p:txBody>
          <a:bodyPr wrap="square" lIns="0" tIns="0" rIns="0" bIns="0" rtlCol="0" anchor="ctr"/>
          <a:lstStyle/>
          <a:p>
            <a:pPr indent="0" marL="0">
              <a:buNone/>
            </a:pPr>
            <a:r>
              <a:rPr lang="en-US" sz="1680" b="1" dirty="0">
                <a:solidFill>
                  <a:srgbClr val="F8FAFF"/>
                </a:solidFill>
              </a:rPr>
              <a:t>Paired experiment: same SHAP reasons, different access to regulatory evidence.</a:t>
            </a:r>
            <a:endParaRPr lang="en-US" sz="1680" dirty="0"/>
          </a:p>
        </p:txBody>
      </p:sp>
      <p:sp>
        <p:nvSpPr>
          <p:cNvPr id="9" name="Shape 7"/>
          <p:cNvSpPr/>
          <p:nvPr/>
        </p:nvSpPr>
        <p:spPr>
          <a:xfrm>
            <a:off x="685800" y="1847088"/>
            <a:ext cx="4526280" cy="3611880"/>
          </a:xfrm>
          <a:prstGeom prst="roundRect">
            <a:avLst>
              <a:gd name="adj" fmla="val 1519"/>
            </a:avLst>
          </a:prstGeom>
          <a:solidFill>
            <a:srgbClr val="111C42"/>
          </a:solidFill>
          <a:ln w="10160">
            <a:solidFill>
              <a:srgbClr val="2A3866">
                <a:alpha val="82000"/>
              </a:srgbClr>
            </a:solidFill>
            <a:prstDash val="solid"/>
          </a:ln>
        </p:spPr>
      </p:sp>
      <p:sp>
        <p:nvSpPr>
          <p:cNvPr id="10" name="Text 8"/>
          <p:cNvSpPr/>
          <p:nvPr/>
        </p:nvSpPr>
        <p:spPr>
          <a:xfrm>
            <a:off x="960120" y="2148840"/>
            <a:ext cx="3200400" cy="164592"/>
          </a:xfrm>
          <a:prstGeom prst="rect">
            <a:avLst/>
          </a:prstGeom>
          <a:noFill/>
          <a:ln/>
        </p:spPr>
        <p:txBody>
          <a:bodyPr wrap="square" lIns="0" tIns="0" rIns="0" bIns="0" rtlCol="0" anchor="ctr"/>
          <a:lstStyle/>
          <a:p>
            <a:pPr indent="0" marL="0">
              <a:buNone/>
            </a:pPr>
            <a:r>
              <a:rPr lang="en-US" sz="760" b="1" spc="125" kern="0" dirty="0">
                <a:solidFill>
                  <a:srgbClr val="38D9F2"/>
                </a:solidFill>
              </a:rPr>
              <a:t>OVERALL STATUTORY-ACCURACY SCORE</a:t>
            </a:r>
            <a:endParaRPr lang="en-US" sz="760" dirty="0"/>
          </a:p>
        </p:txBody>
      </p:sp>
      <p:sp>
        <p:nvSpPr>
          <p:cNvPr id="11" name="Shape 9"/>
          <p:cNvSpPr/>
          <p:nvPr/>
        </p:nvSpPr>
        <p:spPr>
          <a:xfrm>
            <a:off x="1463040" y="3538728"/>
            <a:ext cx="1051560" cy="1261872"/>
          </a:xfrm>
          <a:prstGeom prst="rect">
            <a:avLst/>
          </a:prstGeom>
          <a:solidFill>
            <a:srgbClr val="64708E"/>
          </a:solidFill>
          <a:ln w="12700">
            <a:solidFill>
              <a:srgbClr val="FFFFFF">
                <a:alpha val="0"/>
              </a:srgbClr>
            </a:solidFill>
            <a:prstDash val="solid"/>
          </a:ln>
        </p:spPr>
      </p:sp>
      <p:sp>
        <p:nvSpPr>
          <p:cNvPr id="12" name="Text 10"/>
          <p:cNvSpPr/>
          <p:nvPr/>
        </p:nvSpPr>
        <p:spPr>
          <a:xfrm>
            <a:off x="1463040" y="3236976"/>
            <a:ext cx="1051560" cy="201168"/>
          </a:xfrm>
          <a:prstGeom prst="rect">
            <a:avLst/>
          </a:prstGeom>
          <a:noFill/>
          <a:ln/>
        </p:spPr>
        <p:txBody>
          <a:bodyPr wrap="square" lIns="0" tIns="0" rIns="0" bIns="0" rtlCol="0" anchor="ctr"/>
          <a:lstStyle/>
          <a:p>
            <a:pPr algn="ctr" indent="0" marL="0">
              <a:buNone/>
            </a:pPr>
            <a:r>
              <a:rPr lang="en-US" sz="1800" b="1" dirty="0">
                <a:solidFill>
                  <a:srgbClr val="F8FAFF"/>
                </a:solidFill>
              </a:rPr>
              <a:t>0.60</a:t>
            </a:r>
            <a:endParaRPr lang="en-US" sz="1800" dirty="0"/>
          </a:p>
        </p:txBody>
      </p:sp>
      <p:sp>
        <p:nvSpPr>
          <p:cNvPr id="13" name="Text 11"/>
          <p:cNvSpPr/>
          <p:nvPr/>
        </p:nvSpPr>
        <p:spPr>
          <a:xfrm>
            <a:off x="1463040" y="4983480"/>
            <a:ext cx="1051560" cy="146304"/>
          </a:xfrm>
          <a:prstGeom prst="rect">
            <a:avLst/>
          </a:prstGeom>
          <a:noFill/>
          <a:ln/>
        </p:spPr>
        <p:txBody>
          <a:bodyPr wrap="square" lIns="0" tIns="0" rIns="0" bIns="0" rtlCol="0" anchor="ctr"/>
          <a:lstStyle/>
          <a:p>
            <a:pPr algn="ctr" indent="0" marL="0">
              <a:buNone/>
            </a:pPr>
            <a:r>
              <a:rPr lang="en-US" sz="860" b="1" dirty="0">
                <a:solidFill>
                  <a:srgbClr val="E8EDFA"/>
                </a:solidFill>
              </a:rPr>
              <a:t>No-RAG</a:t>
            </a:r>
            <a:endParaRPr lang="en-US" sz="860" dirty="0"/>
          </a:p>
        </p:txBody>
      </p:sp>
      <p:sp>
        <p:nvSpPr>
          <p:cNvPr id="14" name="Shape 12"/>
          <p:cNvSpPr/>
          <p:nvPr/>
        </p:nvSpPr>
        <p:spPr>
          <a:xfrm>
            <a:off x="3063240" y="3202229"/>
            <a:ext cx="1051560" cy="1598371"/>
          </a:xfrm>
          <a:prstGeom prst="rect">
            <a:avLst/>
          </a:prstGeom>
          <a:solidFill>
            <a:srgbClr val="15C99B"/>
          </a:solidFill>
          <a:ln w="12700">
            <a:solidFill>
              <a:srgbClr val="FFFFFF">
                <a:alpha val="0"/>
              </a:srgbClr>
            </a:solidFill>
            <a:prstDash val="solid"/>
          </a:ln>
        </p:spPr>
      </p:sp>
      <p:sp>
        <p:nvSpPr>
          <p:cNvPr id="15" name="Text 13"/>
          <p:cNvSpPr/>
          <p:nvPr/>
        </p:nvSpPr>
        <p:spPr>
          <a:xfrm>
            <a:off x="3063240" y="2900477"/>
            <a:ext cx="1051560" cy="201168"/>
          </a:xfrm>
          <a:prstGeom prst="rect">
            <a:avLst/>
          </a:prstGeom>
          <a:noFill/>
          <a:ln/>
        </p:spPr>
        <p:txBody>
          <a:bodyPr wrap="square" lIns="0" tIns="0" rIns="0" bIns="0" rtlCol="0" anchor="ctr"/>
          <a:lstStyle/>
          <a:p>
            <a:pPr algn="ctr" indent="0" marL="0">
              <a:buNone/>
            </a:pPr>
            <a:r>
              <a:rPr lang="en-US" sz="1800" b="1" dirty="0">
                <a:solidFill>
                  <a:srgbClr val="F8FAFF"/>
                </a:solidFill>
              </a:rPr>
              <a:t>0.76</a:t>
            </a:r>
            <a:endParaRPr lang="en-US" sz="1800" dirty="0"/>
          </a:p>
        </p:txBody>
      </p:sp>
      <p:sp>
        <p:nvSpPr>
          <p:cNvPr id="16" name="Text 14"/>
          <p:cNvSpPr/>
          <p:nvPr/>
        </p:nvSpPr>
        <p:spPr>
          <a:xfrm>
            <a:off x="3063240" y="4983480"/>
            <a:ext cx="1051560" cy="146304"/>
          </a:xfrm>
          <a:prstGeom prst="rect">
            <a:avLst/>
          </a:prstGeom>
          <a:noFill/>
          <a:ln/>
        </p:spPr>
        <p:txBody>
          <a:bodyPr wrap="square" lIns="0" tIns="0" rIns="0" bIns="0" rtlCol="0" anchor="ctr"/>
          <a:lstStyle/>
          <a:p>
            <a:pPr algn="ctr" indent="0" marL="0">
              <a:buNone/>
            </a:pPr>
            <a:r>
              <a:rPr lang="en-US" sz="860" b="1" dirty="0">
                <a:solidFill>
                  <a:srgbClr val="E8EDFA"/>
                </a:solidFill>
              </a:rPr>
              <a:t>RAG</a:t>
            </a:r>
            <a:endParaRPr lang="en-US" sz="860" dirty="0"/>
          </a:p>
        </p:txBody>
      </p:sp>
      <p:sp>
        <p:nvSpPr>
          <p:cNvPr id="17" name="Shape 15"/>
          <p:cNvSpPr/>
          <p:nvPr/>
        </p:nvSpPr>
        <p:spPr>
          <a:xfrm>
            <a:off x="1097280" y="4800600"/>
            <a:ext cx="3566160" cy="0"/>
          </a:xfrm>
          <a:prstGeom prst="line">
            <a:avLst/>
          </a:prstGeom>
          <a:noFill/>
          <a:ln w="12700">
            <a:solidFill>
              <a:srgbClr val="2A3866"/>
            </a:solidFill>
            <a:prstDash val="solid"/>
          </a:ln>
        </p:spPr>
      </p:sp>
      <p:sp>
        <p:nvSpPr>
          <p:cNvPr id="18" name="Shape 16"/>
          <p:cNvSpPr/>
          <p:nvPr/>
        </p:nvSpPr>
        <p:spPr>
          <a:xfrm>
            <a:off x="3520440" y="2331720"/>
            <a:ext cx="1143000" cy="301752"/>
          </a:xfrm>
          <a:prstGeom prst="roundRect">
            <a:avLst>
              <a:gd name="adj" fmla="val 18182"/>
            </a:avLst>
          </a:prstGeom>
          <a:solidFill>
            <a:srgbClr val="15C99B">
              <a:alpha val="25000"/>
            </a:srgbClr>
          </a:solidFill>
          <a:ln w="10160">
            <a:solidFill>
              <a:srgbClr val="15C99B">
                <a:alpha val="55000"/>
              </a:srgbClr>
            </a:solidFill>
            <a:prstDash val="solid"/>
          </a:ln>
        </p:spPr>
      </p:sp>
      <p:sp>
        <p:nvSpPr>
          <p:cNvPr id="19" name="Text 17"/>
          <p:cNvSpPr/>
          <p:nvPr/>
        </p:nvSpPr>
        <p:spPr>
          <a:xfrm>
            <a:off x="3575304" y="2400300"/>
            <a:ext cx="1033272" cy="137160"/>
          </a:xfrm>
          <a:prstGeom prst="rect">
            <a:avLst/>
          </a:prstGeom>
          <a:noFill/>
          <a:ln/>
        </p:spPr>
        <p:txBody>
          <a:bodyPr wrap="square" lIns="0" tIns="0" rIns="0" bIns="0" rtlCol="0" anchor="ctr"/>
          <a:lstStyle/>
          <a:p>
            <a:pPr algn="ctr" indent="0" marL="0">
              <a:buNone/>
            </a:pPr>
            <a:r>
              <a:rPr lang="en-US" sz="780" b="1" dirty="0">
                <a:solidFill>
                  <a:srgbClr val="F8FAFF"/>
                </a:solidFill>
              </a:rPr>
              <a:t>+0.16 absolute</a:t>
            </a:r>
            <a:endParaRPr lang="en-US" sz="780" dirty="0"/>
          </a:p>
        </p:txBody>
      </p:sp>
      <p:sp>
        <p:nvSpPr>
          <p:cNvPr id="20" name="Text 18"/>
          <p:cNvSpPr/>
          <p:nvPr/>
        </p:nvSpPr>
        <p:spPr>
          <a:xfrm>
            <a:off x="960120" y="5230368"/>
            <a:ext cx="3703320" cy="164592"/>
          </a:xfrm>
          <a:prstGeom prst="rect">
            <a:avLst/>
          </a:prstGeom>
          <a:noFill/>
          <a:ln/>
        </p:spPr>
        <p:txBody>
          <a:bodyPr wrap="square" lIns="0" tIns="0" rIns="0" bIns="0" rtlCol="0" anchor="ctr"/>
          <a:lstStyle/>
          <a:p>
            <a:pPr algn="ctr" indent="0" marL="0">
              <a:buNone/>
            </a:pPr>
            <a:r>
              <a:rPr lang="en-US" sz="800" dirty="0">
                <a:solidFill>
                  <a:srgbClr val="AAB5D6"/>
                </a:solidFill>
              </a:rPr>
              <a:t>n = 5 letters per mode; preliminary evidence only</a:t>
            </a:r>
            <a:endParaRPr lang="en-US" sz="800" dirty="0"/>
          </a:p>
        </p:txBody>
      </p:sp>
      <p:sp>
        <p:nvSpPr>
          <p:cNvPr id="21" name="Shape 19"/>
          <p:cNvSpPr/>
          <p:nvPr/>
        </p:nvSpPr>
        <p:spPr>
          <a:xfrm>
            <a:off x="5532120" y="1847088"/>
            <a:ext cx="5760720" cy="3611880"/>
          </a:xfrm>
          <a:prstGeom prst="roundRect">
            <a:avLst>
              <a:gd name="adj" fmla="val 1519"/>
            </a:avLst>
          </a:prstGeom>
          <a:solidFill>
            <a:srgbClr val="111C42"/>
          </a:solidFill>
          <a:ln w="10160">
            <a:solidFill>
              <a:srgbClr val="2A3866">
                <a:alpha val="82000"/>
              </a:srgbClr>
            </a:solidFill>
            <a:prstDash val="solid"/>
          </a:ln>
        </p:spPr>
      </p:sp>
      <p:sp>
        <p:nvSpPr>
          <p:cNvPr id="22" name="Text 20"/>
          <p:cNvSpPr/>
          <p:nvPr/>
        </p:nvSpPr>
        <p:spPr>
          <a:xfrm>
            <a:off x="5806440" y="2148840"/>
            <a:ext cx="1828800" cy="164592"/>
          </a:xfrm>
          <a:prstGeom prst="rect">
            <a:avLst/>
          </a:prstGeom>
          <a:noFill/>
          <a:ln/>
        </p:spPr>
        <p:txBody>
          <a:bodyPr wrap="square" lIns="0" tIns="0" rIns="0" bIns="0" rtlCol="0" anchor="ctr"/>
          <a:lstStyle/>
          <a:p>
            <a:pPr indent="0" marL="0">
              <a:buNone/>
            </a:pPr>
            <a:r>
              <a:rPr lang="en-US" sz="760" b="1" spc="125" kern="0" dirty="0">
                <a:solidFill>
                  <a:srgbClr val="38D9F2"/>
                </a:solidFill>
              </a:rPr>
              <a:t>RUBRIC FINDINGS</a:t>
            </a:r>
            <a:endParaRPr lang="en-US" sz="760" dirty="0"/>
          </a:p>
        </p:txBody>
      </p:sp>
      <p:sp>
        <p:nvSpPr>
          <p:cNvPr id="23" name="Text 21"/>
          <p:cNvSpPr/>
          <p:nvPr/>
        </p:nvSpPr>
        <p:spPr>
          <a:xfrm>
            <a:off x="9189720" y="2523744"/>
            <a:ext cx="640080" cy="146304"/>
          </a:xfrm>
          <a:prstGeom prst="rect">
            <a:avLst/>
          </a:prstGeom>
          <a:noFill/>
          <a:ln/>
        </p:spPr>
        <p:txBody>
          <a:bodyPr wrap="square" lIns="0" tIns="0" rIns="0" bIns="0" rtlCol="0" anchor="ctr"/>
          <a:lstStyle/>
          <a:p>
            <a:pPr algn="ctr" indent="0" marL="0">
              <a:buNone/>
            </a:pPr>
            <a:r>
              <a:rPr lang="en-US" sz="770" b="1" dirty="0">
                <a:solidFill>
                  <a:srgbClr val="AAB5D6"/>
                </a:solidFill>
              </a:rPr>
              <a:t>No-RAG</a:t>
            </a:r>
            <a:endParaRPr lang="en-US" sz="770" dirty="0"/>
          </a:p>
        </p:txBody>
      </p:sp>
      <p:sp>
        <p:nvSpPr>
          <p:cNvPr id="24" name="Text 22"/>
          <p:cNvSpPr/>
          <p:nvPr/>
        </p:nvSpPr>
        <p:spPr>
          <a:xfrm>
            <a:off x="10195560" y="2523744"/>
            <a:ext cx="640080" cy="146304"/>
          </a:xfrm>
          <a:prstGeom prst="rect">
            <a:avLst/>
          </a:prstGeom>
          <a:noFill/>
          <a:ln/>
        </p:spPr>
        <p:txBody>
          <a:bodyPr wrap="square" lIns="0" tIns="0" rIns="0" bIns="0" rtlCol="0" anchor="ctr"/>
          <a:lstStyle/>
          <a:p>
            <a:pPr algn="ctr" indent="0" marL="0">
              <a:buNone/>
            </a:pPr>
            <a:r>
              <a:rPr lang="en-US" sz="770" b="1" dirty="0">
                <a:solidFill>
                  <a:srgbClr val="15C99B"/>
                </a:solidFill>
              </a:rPr>
              <a:t>RAG</a:t>
            </a:r>
            <a:endParaRPr lang="en-US" sz="770" dirty="0"/>
          </a:p>
        </p:txBody>
      </p:sp>
      <p:sp>
        <p:nvSpPr>
          <p:cNvPr id="25" name="Shape 23"/>
          <p:cNvSpPr/>
          <p:nvPr/>
        </p:nvSpPr>
        <p:spPr>
          <a:xfrm>
            <a:off x="5806440" y="3163824"/>
            <a:ext cx="5074920" cy="0"/>
          </a:xfrm>
          <a:prstGeom prst="line">
            <a:avLst/>
          </a:prstGeom>
          <a:noFill/>
          <a:ln w="8890">
            <a:solidFill>
              <a:srgbClr val="2A3866"/>
            </a:solidFill>
            <a:prstDash val="solid"/>
          </a:ln>
        </p:spPr>
      </p:sp>
      <p:sp>
        <p:nvSpPr>
          <p:cNvPr id="26" name="Text 24"/>
          <p:cNvSpPr/>
          <p:nvPr/>
        </p:nvSpPr>
        <p:spPr>
          <a:xfrm>
            <a:off x="5806440" y="2907792"/>
            <a:ext cx="2926080" cy="146304"/>
          </a:xfrm>
          <a:prstGeom prst="rect">
            <a:avLst/>
          </a:prstGeom>
          <a:noFill/>
          <a:ln/>
        </p:spPr>
        <p:txBody>
          <a:bodyPr wrap="square" lIns="0" tIns="0" rIns="0" bIns="0" rtlCol="0" anchor="ctr"/>
          <a:lstStyle/>
          <a:p>
            <a:pPr indent="0" marL="0">
              <a:buNone/>
            </a:pPr>
            <a:r>
              <a:rPr lang="en-US" sz="830" dirty="0">
                <a:solidFill>
                  <a:srgbClr val="E8EDFA"/>
                </a:solidFill>
              </a:rPr>
              <a:t>Reasons match SHAP reasons</a:t>
            </a:r>
            <a:endParaRPr lang="en-US" sz="830" dirty="0"/>
          </a:p>
        </p:txBody>
      </p:sp>
      <p:sp>
        <p:nvSpPr>
          <p:cNvPr id="27" name="Text 25"/>
          <p:cNvSpPr/>
          <p:nvPr/>
        </p:nvSpPr>
        <p:spPr>
          <a:xfrm>
            <a:off x="9189720" y="2907792"/>
            <a:ext cx="640080" cy="146304"/>
          </a:xfrm>
          <a:prstGeom prst="rect">
            <a:avLst/>
          </a:prstGeom>
          <a:noFill/>
          <a:ln/>
        </p:spPr>
        <p:txBody>
          <a:bodyPr wrap="square" lIns="0" tIns="0" rIns="0" bIns="0" rtlCol="0" anchor="ctr"/>
          <a:lstStyle/>
          <a:p>
            <a:pPr algn="ctr" indent="0" marL="0">
              <a:buNone/>
            </a:pPr>
            <a:r>
              <a:rPr lang="en-US" sz="830" b="1" dirty="0">
                <a:solidFill>
                  <a:srgbClr val="AAB5D6"/>
                </a:solidFill>
              </a:rPr>
              <a:t>1.00</a:t>
            </a:r>
            <a:endParaRPr lang="en-US" sz="830" dirty="0"/>
          </a:p>
        </p:txBody>
      </p:sp>
      <p:sp>
        <p:nvSpPr>
          <p:cNvPr id="28" name="Text 26"/>
          <p:cNvSpPr/>
          <p:nvPr/>
        </p:nvSpPr>
        <p:spPr>
          <a:xfrm>
            <a:off x="10195560" y="2907792"/>
            <a:ext cx="640080" cy="146304"/>
          </a:xfrm>
          <a:prstGeom prst="rect">
            <a:avLst/>
          </a:prstGeom>
          <a:noFill/>
          <a:ln/>
        </p:spPr>
        <p:txBody>
          <a:bodyPr wrap="square" lIns="0" tIns="0" rIns="0" bIns="0" rtlCol="0" anchor="ctr"/>
          <a:lstStyle/>
          <a:p>
            <a:pPr algn="ctr" indent="0" marL="0">
              <a:buNone/>
            </a:pPr>
            <a:r>
              <a:rPr lang="en-US" sz="830" b="1" dirty="0">
                <a:solidFill>
                  <a:srgbClr val="15C99B"/>
                </a:solidFill>
              </a:rPr>
              <a:t>1.00</a:t>
            </a:r>
            <a:endParaRPr lang="en-US" sz="830" dirty="0"/>
          </a:p>
        </p:txBody>
      </p:sp>
      <p:sp>
        <p:nvSpPr>
          <p:cNvPr id="29" name="Shape 27"/>
          <p:cNvSpPr/>
          <p:nvPr/>
        </p:nvSpPr>
        <p:spPr>
          <a:xfrm>
            <a:off x="5806440" y="3557016"/>
            <a:ext cx="5074920" cy="0"/>
          </a:xfrm>
          <a:prstGeom prst="line">
            <a:avLst/>
          </a:prstGeom>
          <a:noFill/>
          <a:ln w="8890">
            <a:solidFill>
              <a:srgbClr val="2A3866"/>
            </a:solidFill>
            <a:prstDash val="solid"/>
          </a:ln>
        </p:spPr>
      </p:sp>
      <p:sp>
        <p:nvSpPr>
          <p:cNvPr id="30" name="Text 28"/>
          <p:cNvSpPr/>
          <p:nvPr/>
        </p:nvSpPr>
        <p:spPr>
          <a:xfrm>
            <a:off x="5806440" y="3300984"/>
            <a:ext cx="2926080" cy="146304"/>
          </a:xfrm>
          <a:prstGeom prst="rect">
            <a:avLst/>
          </a:prstGeom>
          <a:noFill/>
          <a:ln/>
        </p:spPr>
        <p:txBody>
          <a:bodyPr wrap="square" lIns="0" tIns="0" rIns="0" bIns="0" rtlCol="0" anchor="ctr"/>
          <a:lstStyle/>
          <a:p>
            <a:pPr indent="0" marL="0">
              <a:buNone/>
            </a:pPr>
            <a:r>
              <a:rPr lang="en-US" sz="830" dirty="0">
                <a:solidFill>
                  <a:srgbClr val="E8EDFA"/>
                </a:solidFill>
              </a:rPr>
              <a:t>FCRA 60-day window</a:t>
            </a:r>
            <a:endParaRPr lang="en-US" sz="830" dirty="0"/>
          </a:p>
        </p:txBody>
      </p:sp>
      <p:sp>
        <p:nvSpPr>
          <p:cNvPr id="31" name="Text 29"/>
          <p:cNvSpPr/>
          <p:nvPr/>
        </p:nvSpPr>
        <p:spPr>
          <a:xfrm>
            <a:off x="9189720" y="3300984"/>
            <a:ext cx="640080" cy="146304"/>
          </a:xfrm>
          <a:prstGeom prst="rect">
            <a:avLst/>
          </a:prstGeom>
          <a:noFill/>
          <a:ln/>
        </p:spPr>
        <p:txBody>
          <a:bodyPr wrap="square" lIns="0" tIns="0" rIns="0" bIns="0" rtlCol="0" anchor="ctr"/>
          <a:lstStyle/>
          <a:p>
            <a:pPr algn="ctr" indent="0" marL="0">
              <a:buNone/>
            </a:pPr>
            <a:r>
              <a:rPr lang="en-US" sz="830" b="1" dirty="0">
                <a:solidFill>
                  <a:srgbClr val="AAB5D6"/>
                </a:solidFill>
              </a:rPr>
              <a:t>1.00</a:t>
            </a:r>
            <a:endParaRPr lang="en-US" sz="830" dirty="0"/>
          </a:p>
        </p:txBody>
      </p:sp>
      <p:sp>
        <p:nvSpPr>
          <p:cNvPr id="32" name="Text 30"/>
          <p:cNvSpPr/>
          <p:nvPr/>
        </p:nvSpPr>
        <p:spPr>
          <a:xfrm>
            <a:off x="10195560" y="3300984"/>
            <a:ext cx="640080" cy="146304"/>
          </a:xfrm>
          <a:prstGeom prst="rect">
            <a:avLst/>
          </a:prstGeom>
          <a:noFill/>
          <a:ln/>
        </p:spPr>
        <p:txBody>
          <a:bodyPr wrap="square" lIns="0" tIns="0" rIns="0" bIns="0" rtlCol="0" anchor="ctr"/>
          <a:lstStyle/>
          <a:p>
            <a:pPr algn="ctr" indent="0" marL="0">
              <a:buNone/>
            </a:pPr>
            <a:r>
              <a:rPr lang="en-US" sz="830" b="1" dirty="0">
                <a:solidFill>
                  <a:srgbClr val="15C99B"/>
                </a:solidFill>
              </a:rPr>
              <a:t>1.00</a:t>
            </a:r>
            <a:endParaRPr lang="en-US" sz="830" dirty="0"/>
          </a:p>
        </p:txBody>
      </p:sp>
      <p:sp>
        <p:nvSpPr>
          <p:cNvPr id="33" name="Shape 31"/>
          <p:cNvSpPr/>
          <p:nvPr/>
        </p:nvSpPr>
        <p:spPr>
          <a:xfrm>
            <a:off x="5806440" y="3950208"/>
            <a:ext cx="5074920" cy="0"/>
          </a:xfrm>
          <a:prstGeom prst="line">
            <a:avLst/>
          </a:prstGeom>
          <a:noFill/>
          <a:ln w="8890">
            <a:solidFill>
              <a:srgbClr val="2A3866"/>
            </a:solidFill>
            <a:prstDash val="solid"/>
          </a:ln>
        </p:spPr>
      </p:sp>
      <p:sp>
        <p:nvSpPr>
          <p:cNvPr id="34" name="Text 32"/>
          <p:cNvSpPr/>
          <p:nvPr/>
        </p:nvSpPr>
        <p:spPr>
          <a:xfrm>
            <a:off x="5806440" y="3694176"/>
            <a:ext cx="2926080" cy="146304"/>
          </a:xfrm>
          <a:prstGeom prst="rect">
            <a:avLst/>
          </a:prstGeom>
          <a:noFill/>
          <a:ln/>
        </p:spPr>
        <p:txBody>
          <a:bodyPr wrap="square" lIns="0" tIns="0" rIns="0" bIns="0" rtlCol="0" anchor="ctr"/>
          <a:lstStyle/>
          <a:p>
            <a:pPr indent="0" marL="0">
              <a:buNone/>
            </a:pPr>
            <a:r>
              <a:rPr lang="en-US" sz="830" dirty="0">
                <a:solidFill>
                  <a:srgbClr val="E8EDFA"/>
                </a:solidFill>
              </a:rPr>
              <a:t>Federal agency specificity</a:t>
            </a:r>
            <a:endParaRPr lang="en-US" sz="830" dirty="0"/>
          </a:p>
        </p:txBody>
      </p:sp>
      <p:sp>
        <p:nvSpPr>
          <p:cNvPr id="35" name="Text 33"/>
          <p:cNvSpPr/>
          <p:nvPr/>
        </p:nvSpPr>
        <p:spPr>
          <a:xfrm>
            <a:off x="9189720" y="3694176"/>
            <a:ext cx="640080" cy="146304"/>
          </a:xfrm>
          <a:prstGeom prst="rect">
            <a:avLst/>
          </a:prstGeom>
          <a:noFill/>
          <a:ln/>
        </p:spPr>
        <p:txBody>
          <a:bodyPr wrap="square" lIns="0" tIns="0" rIns="0" bIns="0" rtlCol="0" anchor="ctr"/>
          <a:lstStyle/>
          <a:p>
            <a:pPr algn="ctr" indent="0" marL="0">
              <a:buNone/>
            </a:pPr>
            <a:r>
              <a:rPr lang="en-US" sz="830" b="1" dirty="0">
                <a:solidFill>
                  <a:srgbClr val="AAB5D6"/>
                </a:solidFill>
              </a:rPr>
              <a:t>0.00</a:t>
            </a:r>
            <a:endParaRPr lang="en-US" sz="830" dirty="0"/>
          </a:p>
        </p:txBody>
      </p:sp>
      <p:sp>
        <p:nvSpPr>
          <p:cNvPr id="36" name="Text 34"/>
          <p:cNvSpPr/>
          <p:nvPr/>
        </p:nvSpPr>
        <p:spPr>
          <a:xfrm>
            <a:off x="10195560" y="3694176"/>
            <a:ext cx="640080" cy="146304"/>
          </a:xfrm>
          <a:prstGeom prst="rect">
            <a:avLst/>
          </a:prstGeom>
          <a:noFill/>
          <a:ln/>
        </p:spPr>
        <p:txBody>
          <a:bodyPr wrap="square" lIns="0" tIns="0" rIns="0" bIns="0" rtlCol="0" anchor="ctr"/>
          <a:lstStyle/>
          <a:p>
            <a:pPr algn="ctr" indent="0" marL="0">
              <a:buNone/>
            </a:pPr>
            <a:r>
              <a:rPr lang="en-US" sz="830" b="1" dirty="0">
                <a:solidFill>
                  <a:srgbClr val="F4C95D"/>
                </a:solidFill>
              </a:rPr>
              <a:t>0.40</a:t>
            </a:r>
            <a:endParaRPr lang="en-US" sz="830" dirty="0"/>
          </a:p>
        </p:txBody>
      </p:sp>
      <p:sp>
        <p:nvSpPr>
          <p:cNvPr id="37" name="Shape 35"/>
          <p:cNvSpPr/>
          <p:nvPr/>
        </p:nvSpPr>
        <p:spPr>
          <a:xfrm>
            <a:off x="5806440" y="4343400"/>
            <a:ext cx="5074920" cy="0"/>
          </a:xfrm>
          <a:prstGeom prst="line">
            <a:avLst/>
          </a:prstGeom>
          <a:noFill/>
          <a:ln w="8890">
            <a:solidFill>
              <a:srgbClr val="2A3866"/>
            </a:solidFill>
            <a:prstDash val="solid"/>
          </a:ln>
        </p:spPr>
      </p:sp>
      <p:sp>
        <p:nvSpPr>
          <p:cNvPr id="38" name="Text 36"/>
          <p:cNvSpPr/>
          <p:nvPr/>
        </p:nvSpPr>
        <p:spPr>
          <a:xfrm>
            <a:off x="5806440" y="4087368"/>
            <a:ext cx="2926080" cy="146304"/>
          </a:xfrm>
          <a:prstGeom prst="rect">
            <a:avLst/>
          </a:prstGeom>
          <a:noFill/>
          <a:ln/>
        </p:spPr>
        <p:txBody>
          <a:bodyPr wrap="square" lIns="0" tIns="0" rIns="0" bIns="0" rtlCol="0" anchor="ctr"/>
          <a:lstStyle/>
          <a:p>
            <a:pPr indent="0" marL="0">
              <a:buNone/>
            </a:pPr>
            <a:r>
              <a:rPr lang="en-US" sz="830" dirty="0">
                <a:solidFill>
                  <a:srgbClr val="E8EDFA"/>
                </a:solidFill>
              </a:rPr>
              <a:t>ECOA language</a:t>
            </a:r>
            <a:endParaRPr lang="en-US" sz="830" dirty="0"/>
          </a:p>
        </p:txBody>
      </p:sp>
      <p:sp>
        <p:nvSpPr>
          <p:cNvPr id="39" name="Text 37"/>
          <p:cNvSpPr/>
          <p:nvPr/>
        </p:nvSpPr>
        <p:spPr>
          <a:xfrm>
            <a:off x="9189720" y="4087368"/>
            <a:ext cx="640080" cy="146304"/>
          </a:xfrm>
          <a:prstGeom prst="rect">
            <a:avLst/>
          </a:prstGeom>
          <a:noFill/>
          <a:ln/>
        </p:spPr>
        <p:txBody>
          <a:bodyPr wrap="square" lIns="0" tIns="0" rIns="0" bIns="0" rtlCol="0" anchor="ctr"/>
          <a:lstStyle/>
          <a:p>
            <a:pPr algn="ctr" indent="0" marL="0">
              <a:buNone/>
            </a:pPr>
            <a:r>
              <a:rPr lang="en-US" sz="830" b="1" dirty="0">
                <a:solidFill>
                  <a:srgbClr val="AAB5D6"/>
                </a:solidFill>
              </a:rPr>
              <a:t>1.00</a:t>
            </a:r>
            <a:endParaRPr lang="en-US" sz="830" dirty="0"/>
          </a:p>
        </p:txBody>
      </p:sp>
      <p:sp>
        <p:nvSpPr>
          <p:cNvPr id="40" name="Text 38"/>
          <p:cNvSpPr/>
          <p:nvPr/>
        </p:nvSpPr>
        <p:spPr>
          <a:xfrm>
            <a:off x="10195560" y="4087368"/>
            <a:ext cx="640080" cy="146304"/>
          </a:xfrm>
          <a:prstGeom prst="rect">
            <a:avLst/>
          </a:prstGeom>
          <a:noFill/>
          <a:ln/>
        </p:spPr>
        <p:txBody>
          <a:bodyPr wrap="square" lIns="0" tIns="0" rIns="0" bIns="0" rtlCol="0" anchor="ctr"/>
          <a:lstStyle/>
          <a:p>
            <a:pPr algn="ctr" indent="0" marL="0">
              <a:buNone/>
            </a:pPr>
            <a:r>
              <a:rPr lang="en-US" sz="830" b="1" dirty="0">
                <a:solidFill>
                  <a:srgbClr val="15C99B"/>
                </a:solidFill>
              </a:rPr>
              <a:t>1.00</a:t>
            </a:r>
            <a:endParaRPr lang="en-US" sz="830" dirty="0"/>
          </a:p>
        </p:txBody>
      </p:sp>
      <p:sp>
        <p:nvSpPr>
          <p:cNvPr id="41" name="Shape 39"/>
          <p:cNvSpPr/>
          <p:nvPr/>
        </p:nvSpPr>
        <p:spPr>
          <a:xfrm>
            <a:off x="5806440" y="4736592"/>
            <a:ext cx="5074920" cy="0"/>
          </a:xfrm>
          <a:prstGeom prst="line">
            <a:avLst/>
          </a:prstGeom>
          <a:noFill/>
          <a:ln w="8890">
            <a:solidFill>
              <a:srgbClr val="2A3866"/>
            </a:solidFill>
            <a:prstDash val="solid"/>
          </a:ln>
        </p:spPr>
      </p:sp>
      <p:sp>
        <p:nvSpPr>
          <p:cNvPr id="42" name="Text 40"/>
          <p:cNvSpPr/>
          <p:nvPr/>
        </p:nvSpPr>
        <p:spPr>
          <a:xfrm>
            <a:off x="5806440" y="4480560"/>
            <a:ext cx="2926080" cy="146304"/>
          </a:xfrm>
          <a:prstGeom prst="rect">
            <a:avLst/>
          </a:prstGeom>
          <a:noFill/>
          <a:ln/>
        </p:spPr>
        <p:txBody>
          <a:bodyPr wrap="square" lIns="0" tIns="0" rIns="0" bIns="0" rtlCol="0" anchor="ctr"/>
          <a:lstStyle/>
          <a:p>
            <a:pPr indent="0" marL="0">
              <a:buNone/>
            </a:pPr>
            <a:r>
              <a:rPr lang="en-US" sz="830" dirty="0">
                <a:solidFill>
                  <a:srgbClr val="E8EDFA"/>
                </a:solidFill>
              </a:rPr>
              <a:t>No other legal errors</a:t>
            </a:r>
            <a:endParaRPr lang="en-US" sz="830" dirty="0"/>
          </a:p>
        </p:txBody>
      </p:sp>
      <p:sp>
        <p:nvSpPr>
          <p:cNvPr id="43" name="Text 41"/>
          <p:cNvSpPr/>
          <p:nvPr/>
        </p:nvSpPr>
        <p:spPr>
          <a:xfrm>
            <a:off x="9189720" y="4480560"/>
            <a:ext cx="640080" cy="146304"/>
          </a:xfrm>
          <a:prstGeom prst="rect">
            <a:avLst/>
          </a:prstGeom>
          <a:noFill/>
          <a:ln/>
        </p:spPr>
        <p:txBody>
          <a:bodyPr wrap="square" lIns="0" tIns="0" rIns="0" bIns="0" rtlCol="0" anchor="ctr"/>
          <a:lstStyle/>
          <a:p>
            <a:pPr algn="ctr" indent="0" marL="0">
              <a:buNone/>
            </a:pPr>
            <a:r>
              <a:rPr lang="en-US" sz="830" b="1" dirty="0">
                <a:solidFill>
                  <a:srgbClr val="AAB5D6"/>
                </a:solidFill>
              </a:rPr>
              <a:t>0.00</a:t>
            </a:r>
            <a:endParaRPr lang="en-US" sz="830" dirty="0"/>
          </a:p>
        </p:txBody>
      </p:sp>
      <p:sp>
        <p:nvSpPr>
          <p:cNvPr id="44" name="Text 42"/>
          <p:cNvSpPr/>
          <p:nvPr/>
        </p:nvSpPr>
        <p:spPr>
          <a:xfrm>
            <a:off x="10195560" y="4480560"/>
            <a:ext cx="640080" cy="146304"/>
          </a:xfrm>
          <a:prstGeom prst="rect">
            <a:avLst/>
          </a:prstGeom>
          <a:noFill/>
          <a:ln/>
        </p:spPr>
        <p:txBody>
          <a:bodyPr wrap="square" lIns="0" tIns="0" rIns="0" bIns="0" rtlCol="0" anchor="ctr"/>
          <a:lstStyle/>
          <a:p>
            <a:pPr algn="ctr" indent="0" marL="0">
              <a:buNone/>
            </a:pPr>
            <a:r>
              <a:rPr lang="en-US" sz="830" b="1" dirty="0">
                <a:solidFill>
                  <a:srgbClr val="F4C95D"/>
                </a:solidFill>
              </a:rPr>
              <a:t>0.40</a:t>
            </a:r>
            <a:endParaRPr lang="en-US" sz="830" dirty="0"/>
          </a:p>
        </p:txBody>
      </p:sp>
      <p:sp>
        <p:nvSpPr>
          <p:cNvPr id="45" name="Shape 43"/>
          <p:cNvSpPr/>
          <p:nvPr/>
        </p:nvSpPr>
        <p:spPr>
          <a:xfrm>
            <a:off x="960120" y="5833872"/>
            <a:ext cx="10012680" cy="438912"/>
          </a:xfrm>
          <a:prstGeom prst="roundRect">
            <a:avLst>
              <a:gd name="adj" fmla="val 12500"/>
            </a:avLst>
          </a:prstGeom>
          <a:solidFill>
            <a:srgbClr val="162657"/>
          </a:solidFill>
          <a:ln w="10160">
            <a:solidFill>
              <a:srgbClr val="F4C95D">
                <a:alpha val="82000"/>
              </a:srgbClr>
            </a:solidFill>
            <a:prstDash val="solid"/>
          </a:ln>
        </p:spPr>
      </p:sp>
      <p:sp>
        <p:nvSpPr>
          <p:cNvPr id="46" name="Text 44"/>
          <p:cNvSpPr/>
          <p:nvPr/>
        </p:nvSpPr>
        <p:spPr>
          <a:xfrm>
            <a:off x="1143000" y="5961888"/>
            <a:ext cx="9646920" cy="128016"/>
          </a:xfrm>
          <a:prstGeom prst="rect">
            <a:avLst/>
          </a:prstGeom>
          <a:noFill/>
          <a:ln/>
        </p:spPr>
        <p:txBody>
          <a:bodyPr wrap="square" lIns="0" tIns="0" rIns="0" bIns="0" rtlCol="0" anchor="ctr"/>
          <a:lstStyle/>
          <a:p>
            <a:pPr algn="ctr" indent="0" marL="0">
              <a:buNone/>
            </a:pPr>
            <a:r>
              <a:rPr lang="en-US" sz="860" b="1" dirty="0">
                <a:solidFill>
                  <a:srgbClr val="E8EDFA"/>
                </a:solidFill>
              </a:rPr>
              <a:t>Senior risk takeaway: retrieval helps, but production requires deterministic validators, larger samples, fair-lending review, and compliance sign-off.</a:t>
            </a:r>
            <a:endParaRPr lang="en-US" sz="860" dirty="0"/>
          </a:p>
        </p:txBody>
      </p:sp>
      <p:sp>
        <p:nvSpPr>
          <p:cNvPr id="47" name="Text 45"/>
          <p:cNvSpPr/>
          <p:nvPr/>
        </p:nvSpPr>
        <p:spPr>
          <a:xfrm>
            <a:off x="502920" y="6537960"/>
            <a:ext cx="10607040" cy="146304"/>
          </a:xfrm>
          <a:prstGeom prst="rect">
            <a:avLst/>
          </a:prstGeom>
          <a:noFill/>
          <a:ln/>
        </p:spPr>
        <p:txBody>
          <a:bodyPr wrap="square" lIns="0" tIns="0" rIns="0" bIns="0" rtlCol="0" anchor="ctr"/>
          <a:lstStyle/>
          <a:p>
            <a:pPr indent="0" marL="0">
              <a:buNone/>
            </a:pPr>
            <a:r>
              <a:rPr lang="en-US" sz="680" dirty="0">
                <a:solidFill>
                  <a:srgbClr val="7885AA"/>
                </a:solidFill>
              </a:rPr>
              <a:t>Project generation results: blind judge over 5 RAG and 5 no-RAG adverse-action-style letters.</a:t>
            </a:r>
            <a:endParaRPr lang="en-US" sz="680" dirty="0"/>
          </a:p>
        </p:txBody>
      </p:sp>
      <p:sp>
        <p:nvSpPr>
          <p:cNvPr id="48" name="Text 46"/>
          <p:cNvSpPr/>
          <p:nvPr/>
        </p:nvSpPr>
        <p:spPr>
          <a:xfrm>
            <a:off x="11292840" y="6492240"/>
            <a:ext cx="320040" cy="146304"/>
          </a:xfrm>
          <a:prstGeom prst="rect">
            <a:avLst/>
          </a:prstGeom>
          <a:noFill/>
          <a:ln/>
        </p:spPr>
        <p:txBody>
          <a:bodyPr wrap="square" lIns="0" tIns="0" rIns="0" bIns="0" rtlCol="0" anchor="ctr"/>
          <a:lstStyle/>
          <a:p>
            <a:pPr algn="r" indent="0" marL="0">
              <a:buNone/>
            </a:pPr>
            <a:r>
              <a:rPr lang="en-US" sz="780" b="1" dirty="0">
                <a:solidFill>
                  <a:srgbClr val="7885AA"/>
                </a:solidFill>
              </a:rPr>
              <a:t>07</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024"/>
        </a:solidFill>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8D9F2">
              <a:alpha val="45000"/>
            </a:srgbClr>
          </a:solidFill>
          <a:ln w="12700">
            <a:solidFill>
              <a:srgbClr val="FFFFFF">
                <a:alpha val="0"/>
              </a:srgbClr>
            </a:solidFill>
            <a:prstDash val="solid"/>
          </a:ln>
        </p:spPr>
      </p:sp>
      <p:sp>
        <p:nvSpPr>
          <p:cNvPr id="3" name="Shape 1"/>
          <p:cNvSpPr/>
          <p:nvPr/>
        </p:nvSpPr>
        <p:spPr>
          <a:xfrm>
            <a:off x="0" y="6821424"/>
            <a:ext cx="12191695" cy="36576"/>
          </a:xfrm>
          <a:prstGeom prst="rect">
            <a:avLst/>
          </a:prstGeom>
          <a:solidFill>
            <a:srgbClr val="3A7AFE">
              <a:alpha val="30000"/>
            </a:srgbClr>
          </a:solidFill>
          <a:ln w="12700">
            <a:solidFill>
              <a:srgbClr val="FFFFFF">
                <a:alpha val="0"/>
              </a:srgbClr>
            </a:solidFill>
            <a:prstDash val="solid"/>
          </a:ln>
        </p:spPr>
      </p:sp>
      <p:sp>
        <p:nvSpPr>
          <p:cNvPr id="4" name="Text 2"/>
          <p:cNvSpPr/>
          <p:nvPr/>
        </p:nvSpPr>
        <p:spPr>
          <a:xfrm>
            <a:off x="502920" y="228600"/>
            <a:ext cx="2606040" cy="164592"/>
          </a:xfrm>
          <a:prstGeom prst="rect">
            <a:avLst/>
          </a:prstGeom>
          <a:noFill/>
          <a:ln/>
        </p:spPr>
        <p:txBody>
          <a:bodyPr wrap="square" lIns="0" tIns="0" rIns="0" bIns="0" rtlCol="0" anchor="ctr"/>
          <a:lstStyle/>
          <a:p>
            <a:pPr indent="0" marL="0">
              <a:buNone/>
            </a:pPr>
            <a:r>
              <a:rPr lang="en-US" sz="830" b="1" spc="170" kern="0" dirty="0">
                <a:solidFill>
                  <a:srgbClr val="38D9F2"/>
                </a:solidFill>
              </a:rPr>
              <a:t>DEMO</a:t>
            </a:r>
            <a:endParaRPr lang="en-US" sz="830" dirty="0"/>
          </a:p>
        </p:txBody>
      </p:sp>
      <p:sp>
        <p:nvSpPr>
          <p:cNvPr id="5" name="Text 3"/>
          <p:cNvSpPr/>
          <p:nvPr/>
        </p:nvSpPr>
        <p:spPr>
          <a:xfrm>
            <a:off x="502920" y="502920"/>
            <a:ext cx="9509760" cy="457200"/>
          </a:xfrm>
          <a:prstGeom prst="rect">
            <a:avLst/>
          </a:prstGeom>
          <a:noFill/>
          <a:ln/>
        </p:spPr>
        <p:txBody>
          <a:bodyPr wrap="square" lIns="0" tIns="0" rIns="0" bIns="0" rtlCol="0" anchor="ctr"/>
          <a:lstStyle/>
          <a:p>
            <a:pPr indent="0" marL="0">
              <a:buNone/>
            </a:pPr>
            <a:r>
              <a:rPr lang="en-US" sz="2350" b="1" dirty="0">
                <a:solidFill>
                  <a:srgbClr val="F8FAFF"/>
                </a:solidFill>
                <a:latin typeface="Aptos Display" pitchFamily="34" charset="0"/>
                <a:ea typeface="Aptos Display" pitchFamily="34" charset="-122"/>
                <a:cs typeface="Aptos Display" pitchFamily="34" charset="-120"/>
              </a:rPr>
              <a:t>Show the live application, not a screenshot</a:t>
            </a:r>
            <a:endParaRPr lang="en-US" sz="2350" dirty="0"/>
          </a:p>
        </p:txBody>
      </p:sp>
      <p:sp>
        <p:nvSpPr>
          <p:cNvPr id="6" name="Text 4"/>
          <p:cNvSpPr/>
          <p:nvPr/>
        </p:nvSpPr>
        <p:spPr>
          <a:xfrm>
            <a:off x="9966960" y="292608"/>
            <a:ext cx="1719072" cy="164592"/>
          </a:xfrm>
          <a:prstGeom prst="rect">
            <a:avLst/>
          </a:prstGeom>
          <a:noFill/>
          <a:ln/>
        </p:spPr>
        <p:txBody>
          <a:bodyPr wrap="square" lIns="0" tIns="0" rIns="0" bIns="0" rtlCol="0" anchor="ctr"/>
          <a:lstStyle/>
          <a:p>
            <a:pPr algn="r" indent="0" marL="0">
              <a:buNone/>
            </a:pPr>
            <a:r>
              <a:rPr lang="en-US" sz="870" b="1" dirty="0">
                <a:solidFill>
                  <a:srgbClr val="AAB5D6"/>
                </a:solidFill>
              </a:rPr>
              <a:t>Sidd · 4:30–5:20</a:t>
            </a:r>
            <a:endParaRPr lang="en-US" sz="870" dirty="0"/>
          </a:p>
        </p:txBody>
      </p:sp>
      <p:sp>
        <p:nvSpPr>
          <p:cNvPr id="7" name="Shape 5"/>
          <p:cNvSpPr/>
          <p:nvPr/>
        </p:nvSpPr>
        <p:spPr>
          <a:xfrm>
            <a:off x="502920" y="1042416"/>
            <a:ext cx="11109960" cy="0"/>
          </a:xfrm>
          <a:prstGeom prst="line">
            <a:avLst/>
          </a:prstGeom>
          <a:noFill/>
          <a:ln w="12700">
            <a:solidFill>
              <a:srgbClr val="2A3866"/>
            </a:solidFill>
            <a:prstDash val="solid"/>
          </a:ln>
        </p:spPr>
      </p:sp>
      <p:sp>
        <p:nvSpPr>
          <p:cNvPr id="8" name="Text 6"/>
          <p:cNvSpPr/>
          <p:nvPr/>
        </p:nvSpPr>
        <p:spPr>
          <a:xfrm>
            <a:off x="566928" y="1243584"/>
            <a:ext cx="7680960" cy="292608"/>
          </a:xfrm>
          <a:prstGeom prst="rect">
            <a:avLst/>
          </a:prstGeom>
          <a:noFill/>
          <a:ln/>
        </p:spPr>
        <p:txBody>
          <a:bodyPr wrap="square" lIns="0" tIns="0" rIns="0" bIns="0" rtlCol="0" anchor="ctr"/>
          <a:lstStyle/>
          <a:p>
            <a:pPr indent="0" marL="0">
              <a:buNone/>
            </a:pPr>
            <a:r>
              <a:rPr lang="en-US" sz="1700" b="1" dirty="0">
                <a:solidFill>
                  <a:srgbClr val="F8FAFF"/>
                </a:solidFill>
              </a:rPr>
              <a:t>Recording move: switch to the browser and click through three tabs.</a:t>
            </a:r>
            <a:endParaRPr lang="en-US" sz="1700" dirty="0"/>
          </a:p>
        </p:txBody>
      </p:sp>
      <p:sp>
        <p:nvSpPr>
          <p:cNvPr id="9" name="Shape 7"/>
          <p:cNvSpPr/>
          <p:nvPr/>
        </p:nvSpPr>
        <p:spPr>
          <a:xfrm>
            <a:off x="777240" y="1874520"/>
            <a:ext cx="6492240" cy="3611880"/>
          </a:xfrm>
          <a:prstGeom prst="roundRect">
            <a:avLst>
              <a:gd name="adj" fmla="val 1519"/>
            </a:avLst>
          </a:prstGeom>
          <a:solidFill>
            <a:srgbClr val="111C42"/>
          </a:solidFill>
          <a:ln w="10160">
            <a:solidFill>
              <a:srgbClr val="3A7AFE">
                <a:alpha val="82000"/>
              </a:srgbClr>
            </a:solidFill>
            <a:prstDash val="solid"/>
          </a:ln>
        </p:spPr>
      </p:sp>
      <p:sp>
        <p:nvSpPr>
          <p:cNvPr id="10" name="Text 8"/>
          <p:cNvSpPr/>
          <p:nvPr/>
        </p:nvSpPr>
        <p:spPr>
          <a:xfrm>
            <a:off x="1051560" y="2176272"/>
            <a:ext cx="1554480" cy="164592"/>
          </a:xfrm>
          <a:prstGeom prst="rect">
            <a:avLst/>
          </a:prstGeom>
          <a:noFill/>
          <a:ln/>
        </p:spPr>
        <p:txBody>
          <a:bodyPr wrap="square" lIns="0" tIns="0" rIns="0" bIns="0" rtlCol="0" anchor="ctr"/>
          <a:lstStyle/>
          <a:p>
            <a:pPr indent="0" marL="0">
              <a:buNone/>
            </a:pPr>
            <a:r>
              <a:rPr lang="en-US" sz="760" b="1" spc="125" kern="0" dirty="0">
                <a:solidFill>
                  <a:srgbClr val="38D9F2"/>
                </a:solidFill>
              </a:rPr>
              <a:t>DEMO SEQUENCE</a:t>
            </a:r>
            <a:endParaRPr lang="en-US" sz="760" dirty="0"/>
          </a:p>
        </p:txBody>
      </p:sp>
      <p:sp>
        <p:nvSpPr>
          <p:cNvPr id="11" name="Text 9"/>
          <p:cNvSpPr/>
          <p:nvPr/>
        </p:nvSpPr>
        <p:spPr>
          <a:xfrm>
            <a:off x="1051560" y="2697480"/>
            <a:ext cx="384048" cy="164592"/>
          </a:xfrm>
          <a:prstGeom prst="rect">
            <a:avLst/>
          </a:prstGeom>
          <a:noFill/>
          <a:ln/>
        </p:spPr>
        <p:txBody>
          <a:bodyPr wrap="square" lIns="0" tIns="0" rIns="0" bIns="0" rtlCol="0" anchor="ctr"/>
          <a:lstStyle/>
          <a:p>
            <a:pPr indent="0" marL="0">
              <a:buNone/>
            </a:pPr>
            <a:r>
              <a:rPr lang="en-US" sz="850" b="1" dirty="0">
                <a:solidFill>
                  <a:srgbClr val="38D9F2"/>
                </a:solidFill>
              </a:rPr>
              <a:t>01</a:t>
            </a:r>
            <a:endParaRPr lang="en-US" sz="850" dirty="0"/>
          </a:p>
        </p:txBody>
      </p:sp>
      <p:sp>
        <p:nvSpPr>
          <p:cNvPr id="12" name="Shape 10"/>
          <p:cNvSpPr/>
          <p:nvPr/>
        </p:nvSpPr>
        <p:spPr>
          <a:xfrm>
            <a:off x="1527048" y="2779776"/>
            <a:ext cx="384048" cy="0"/>
          </a:xfrm>
          <a:prstGeom prst="line">
            <a:avLst/>
          </a:prstGeom>
          <a:noFill/>
          <a:ln w="12700">
            <a:solidFill>
              <a:srgbClr val="2A3866"/>
            </a:solidFill>
            <a:prstDash val="solid"/>
          </a:ln>
        </p:spPr>
      </p:sp>
      <p:sp>
        <p:nvSpPr>
          <p:cNvPr id="13" name="Text 11"/>
          <p:cNvSpPr/>
          <p:nvPr/>
        </p:nvSpPr>
        <p:spPr>
          <a:xfrm>
            <a:off x="2057400" y="2660904"/>
            <a:ext cx="1188720" cy="201168"/>
          </a:xfrm>
          <a:prstGeom prst="rect">
            <a:avLst/>
          </a:prstGeom>
          <a:noFill/>
          <a:ln/>
        </p:spPr>
        <p:txBody>
          <a:bodyPr wrap="square" lIns="0" tIns="0" rIns="0" bIns="0" rtlCol="0" anchor="ctr"/>
          <a:lstStyle/>
          <a:p>
            <a:pPr indent="0" marL="0">
              <a:buNone/>
            </a:pPr>
            <a:r>
              <a:rPr lang="en-US" sz="1250" b="1" dirty="0">
                <a:solidFill>
                  <a:srgbClr val="F8FAFF"/>
                </a:solidFill>
              </a:rPr>
              <a:t>Overview</a:t>
            </a:r>
            <a:endParaRPr lang="en-US" sz="1250" dirty="0"/>
          </a:p>
        </p:txBody>
      </p:sp>
      <p:sp>
        <p:nvSpPr>
          <p:cNvPr id="14" name="Text 12"/>
          <p:cNvSpPr/>
          <p:nvPr/>
        </p:nvSpPr>
        <p:spPr>
          <a:xfrm>
            <a:off x="3429000" y="2679192"/>
            <a:ext cx="3127248" cy="182880"/>
          </a:xfrm>
          <a:prstGeom prst="rect">
            <a:avLst/>
          </a:prstGeom>
          <a:noFill/>
          <a:ln/>
        </p:spPr>
        <p:txBody>
          <a:bodyPr wrap="square" lIns="0" tIns="0" rIns="0" bIns="0" rtlCol="0" anchor="ctr"/>
          <a:lstStyle/>
          <a:p>
            <a:pPr indent="0" marL="0">
              <a:buNone/>
            </a:pPr>
            <a:r>
              <a:rPr lang="en-US" sz="940" dirty="0">
                <a:solidFill>
                  <a:srgbClr val="AAB5D6"/>
                </a:solidFill>
              </a:rPr>
              <a:t>Point to the pipeline and the 0.60 → 0.76 score.</a:t>
            </a:r>
            <a:endParaRPr lang="en-US" sz="940" dirty="0"/>
          </a:p>
        </p:txBody>
      </p:sp>
      <p:sp>
        <p:nvSpPr>
          <p:cNvPr id="15" name="Text 13"/>
          <p:cNvSpPr/>
          <p:nvPr/>
        </p:nvSpPr>
        <p:spPr>
          <a:xfrm>
            <a:off x="1051560" y="3410712"/>
            <a:ext cx="384048" cy="164592"/>
          </a:xfrm>
          <a:prstGeom prst="rect">
            <a:avLst/>
          </a:prstGeom>
          <a:noFill/>
          <a:ln/>
        </p:spPr>
        <p:txBody>
          <a:bodyPr wrap="square" lIns="0" tIns="0" rIns="0" bIns="0" rtlCol="0" anchor="ctr"/>
          <a:lstStyle/>
          <a:p>
            <a:pPr indent="0" marL="0">
              <a:buNone/>
            </a:pPr>
            <a:r>
              <a:rPr lang="en-US" sz="850" b="1" dirty="0">
                <a:solidFill>
                  <a:srgbClr val="7C5CFF"/>
                </a:solidFill>
              </a:rPr>
              <a:t>02</a:t>
            </a:r>
            <a:endParaRPr lang="en-US" sz="850" dirty="0"/>
          </a:p>
        </p:txBody>
      </p:sp>
      <p:sp>
        <p:nvSpPr>
          <p:cNvPr id="16" name="Shape 14"/>
          <p:cNvSpPr/>
          <p:nvPr/>
        </p:nvSpPr>
        <p:spPr>
          <a:xfrm>
            <a:off x="1527048" y="3493008"/>
            <a:ext cx="384048" cy="0"/>
          </a:xfrm>
          <a:prstGeom prst="line">
            <a:avLst/>
          </a:prstGeom>
          <a:noFill/>
          <a:ln w="12700">
            <a:solidFill>
              <a:srgbClr val="2A3866"/>
            </a:solidFill>
            <a:prstDash val="solid"/>
          </a:ln>
        </p:spPr>
      </p:sp>
      <p:sp>
        <p:nvSpPr>
          <p:cNvPr id="17" name="Text 15"/>
          <p:cNvSpPr/>
          <p:nvPr/>
        </p:nvSpPr>
        <p:spPr>
          <a:xfrm>
            <a:off x="2057400" y="3374136"/>
            <a:ext cx="1188720" cy="201168"/>
          </a:xfrm>
          <a:prstGeom prst="rect">
            <a:avLst/>
          </a:prstGeom>
          <a:noFill/>
          <a:ln/>
        </p:spPr>
        <p:txBody>
          <a:bodyPr wrap="square" lIns="0" tIns="0" rIns="0" bIns="0" rtlCol="0" anchor="ctr"/>
          <a:lstStyle/>
          <a:p>
            <a:pPr indent="0" marL="0">
              <a:buNone/>
            </a:pPr>
            <a:r>
              <a:rPr lang="en-US" sz="1250" b="1" dirty="0">
                <a:solidFill>
                  <a:srgbClr val="F8FAFF"/>
                </a:solidFill>
              </a:rPr>
              <a:t>Letters</a:t>
            </a:r>
            <a:endParaRPr lang="en-US" sz="1250" dirty="0"/>
          </a:p>
        </p:txBody>
      </p:sp>
      <p:sp>
        <p:nvSpPr>
          <p:cNvPr id="18" name="Text 16"/>
          <p:cNvSpPr/>
          <p:nvPr/>
        </p:nvSpPr>
        <p:spPr>
          <a:xfrm>
            <a:off x="3429000" y="3392424"/>
            <a:ext cx="3127248" cy="182880"/>
          </a:xfrm>
          <a:prstGeom prst="rect">
            <a:avLst/>
          </a:prstGeom>
          <a:noFill/>
          <a:ln/>
        </p:spPr>
        <p:txBody>
          <a:bodyPr wrap="square" lIns="0" tIns="0" rIns="0" bIns="0" rtlCol="0" anchor="ctr"/>
          <a:lstStyle/>
          <a:p>
            <a:pPr indent="0" marL="0">
              <a:buNone/>
            </a:pPr>
            <a:r>
              <a:rPr lang="en-US" sz="940" dirty="0">
                <a:solidFill>
                  <a:srgbClr val="AAB5D6"/>
                </a:solidFill>
              </a:rPr>
              <a:t>Open one borrower and compare RAG vs no-RAG side by side.</a:t>
            </a:r>
            <a:endParaRPr lang="en-US" sz="940" dirty="0"/>
          </a:p>
        </p:txBody>
      </p:sp>
      <p:sp>
        <p:nvSpPr>
          <p:cNvPr id="19" name="Text 17"/>
          <p:cNvSpPr/>
          <p:nvPr/>
        </p:nvSpPr>
        <p:spPr>
          <a:xfrm>
            <a:off x="1051560" y="4123944"/>
            <a:ext cx="384048" cy="164592"/>
          </a:xfrm>
          <a:prstGeom prst="rect">
            <a:avLst/>
          </a:prstGeom>
          <a:noFill/>
          <a:ln/>
        </p:spPr>
        <p:txBody>
          <a:bodyPr wrap="square" lIns="0" tIns="0" rIns="0" bIns="0" rtlCol="0" anchor="ctr"/>
          <a:lstStyle/>
          <a:p>
            <a:pPr indent="0" marL="0">
              <a:buNone/>
            </a:pPr>
            <a:r>
              <a:rPr lang="en-US" sz="850" b="1" dirty="0">
                <a:solidFill>
                  <a:srgbClr val="15C99B"/>
                </a:solidFill>
              </a:rPr>
              <a:t>03</a:t>
            </a:r>
            <a:endParaRPr lang="en-US" sz="850" dirty="0"/>
          </a:p>
        </p:txBody>
      </p:sp>
      <p:sp>
        <p:nvSpPr>
          <p:cNvPr id="20" name="Shape 18"/>
          <p:cNvSpPr/>
          <p:nvPr/>
        </p:nvSpPr>
        <p:spPr>
          <a:xfrm>
            <a:off x="1527048" y="4206240"/>
            <a:ext cx="384048" cy="0"/>
          </a:xfrm>
          <a:prstGeom prst="line">
            <a:avLst/>
          </a:prstGeom>
          <a:noFill/>
          <a:ln w="12700">
            <a:solidFill>
              <a:srgbClr val="2A3866"/>
            </a:solidFill>
            <a:prstDash val="solid"/>
          </a:ln>
        </p:spPr>
      </p:sp>
      <p:sp>
        <p:nvSpPr>
          <p:cNvPr id="21" name="Text 19"/>
          <p:cNvSpPr/>
          <p:nvPr/>
        </p:nvSpPr>
        <p:spPr>
          <a:xfrm>
            <a:off x="2057400" y="4087368"/>
            <a:ext cx="1188720" cy="201168"/>
          </a:xfrm>
          <a:prstGeom prst="rect">
            <a:avLst/>
          </a:prstGeom>
          <a:noFill/>
          <a:ln/>
        </p:spPr>
        <p:txBody>
          <a:bodyPr wrap="square" lIns="0" tIns="0" rIns="0" bIns="0" rtlCol="0" anchor="ctr"/>
          <a:lstStyle/>
          <a:p>
            <a:pPr indent="0" marL="0">
              <a:buNone/>
            </a:pPr>
            <a:r>
              <a:rPr lang="en-US" sz="1250" b="1" dirty="0">
                <a:solidFill>
                  <a:srgbClr val="F8FAFF"/>
                </a:solidFill>
              </a:rPr>
              <a:t>Evaluation</a:t>
            </a:r>
            <a:endParaRPr lang="en-US" sz="1250" dirty="0"/>
          </a:p>
        </p:txBody>
      </p:sp>
      <p:sp>
        <p:nvSpPr>
          <p:cNvPr id="22" name="Text 20"/>
          <p:cNvSpPr/>
          <p:nvPr/>
        </p:nvSpPr>
        <p:spPr>
          <a:xfrm>
            <a:off x="3429000" y="4105656"/>
            <a:ext cx="3127248" cy="182880"/>
          </a:xfrm>
          <a:prstGeom prst="rect">
            <a:avLst/>
          </a:prstGeom>
          <a:noFill/>
          <a:ln/>
        </p:spPr>
        <p:txBody>
          <a:bodyPr wrap="square" lIns="0" tIns="0" rIns="0" bIns="0" rtlCol="0" anchor="ctr"/>
          <a:lstStyle/>
          <a:p>
            <a:pPr indent="0" marL="0">
              <a:buNone/>
            </a:pPr>
            <a:r>
              <a:rPr lang="en-US" sz="940" dirty="0">
                <a:solidFill>
                  <a:srgbClr val="AAB5D6"/>
                </a:solidFill>
              </a:rPr>
              <a:t>Show the five checks and call out remaining agency-specificity weakness.</a:t>
            </a:r>
            <a:endParaRPr lang="en-US" sz="940" dirty="0"/>
          </a:p>
        </p:txBody>
      </p:sp>
      <p:sp>
        <p:nvSpPr>
          <p:cNvPr id="23" name="Text 21">
            <a:hlinkClick r:id="rId1" tooltip=""/>
          </p:cNvPr>
          <p:cNvSpPr/>
          <p:nvPr/>
        </p:nvSpPr>
        <p:spPr>
          <a:xfrm>
            <a:off x="1051560" y="5230368"/>
            <a:ext cx="5166360" cy="182880"/>
          </a:xfrm>
          <a:prstGeom prst="rect">
            <a:avLst/>
          </a:prstGeom>
          <a:noFill/>
          <a:ln/>
        </p:spPr>
        <p:txBody>
          <a:bodyPr wrap="square" lIns="0" tIns="0" rIns="0" bIns="0" rtlCol="0" anchor="ctr"/>
          <a:lstStyle/>
          <a:p>
            <a:pPr indent="0" marL="0">
              <a:buNone/>
            </a:pPr>
            <a:r>
              <a:rPr lang="en-US" sz="1000" b="1" u="sng" dirty="0">
                <a:solidFill>
                  <a:srgbClr val="38D9F2"/>
                </a:solidFill>
                <a:hlinkClick r:id="rId1" invalidUrl="" action="" tgtFrame="" tooltip="" history="1" highlightClick="0" endSnd="0">
                  <a:extLst>
                    <a:ext uri="{A12FA001-AC4F-418D-AE19-62706E023703}">
                      <ahyp:hlinkClr xmlns:ahyp="http://schemas.microsoft.com/office/drawing/2018/hyperlinkcolor" val="tx"/>
                    </a:ext>
                  </a:extLst>
                </a:hlinkClick>
              </a:rPr>
              <a:t>Demo URL: lindaperez.github.io/CreditRiskRAG/</a:t>
            </a:r>
            <a:endParaRPr lang="en-US" sz="1000" dirty="0"/>
          </a:p>
        </p:txBody>
      </p:sp>
      <p:sp>
        <p:nvSpPr>
          <p:cNvPr id="24" name="Shape 22"/>
          <p:cNvSpPr/>
          <p:nvPr/>
        </p:nvSpPr>
        <p:spPr>
          <a:xfrm>
            <a:off x="7818120" y="1874520"/>
            <a:ext cx="3364992" cy="3611880"/>
          </a:xfrm>
          <a:prstGeom prst="roundRect">
            <a:avLst>
              <a:gd name="adj" fmla="val 1630"/>
            </a:avLst>
          </a:prstGeom>
          <a:solidFill>
            <a:srgbClr val="162657"/>
          </a:solidFill>
          <a:ln w="10160">
            <a:solidFill>
              <a:srgbClr val="15C99B">
                <a:alpha val="82000"/>
              </a:srgbClr>
            </a:solidFill>
            <a:prstDash val="solid"/>
          </a:ln>
        </p:spPr>
      </p:sp>
      <p:sp>
        <p:nvSpPr>
          <p:cNvPr id="25" name="Text 23"/>
          <p:cNvSpPr/>
          <p:nvPr/>
        </p:nvSpPr>
        <p:spPr>
          <a:xfrm>
            <a:off x="8138160" y="2176272"/>
            <a:ext cx="2011680" cy="164592"/>
          </a:xfrm>
          <a:prstGeom prst="rect">
            <a:avLst/>
          </a:prstGeom>
          <a:noFill/>
          <a:ln/>
        </p:spPr>
        <p:txBody>
          <a:bodyPr wrap="square" lIns="0" tIns="0" rIns="0" bIns="0" rtlCol="0" anchor="ctr"/>
          <a:lstStyle/>
          <a:p>
            <a:pPr indent="0" marL="0">
              <a:buNone/>
            </a:pPr>
            <a:r>
              <a:rPr lang="en-US" sz="760" b="1" spc="125" kern="0" dirty="0">
                <a:solidFill>
                  <a:srgbClr val="38D9F2"/>
                </a:solidFill>
              </a:rPr>
              <a:t>WHAT THE APP PROVES</a:t>
            </a:r>
            <a:endParaRPr lang="en-US" sz="760" dirty="0"/>
          </a:p>
        </p:txBody>
      </p:sp>
      <p:sp>
        <p:nvSpPr>
          <p:cNvPr id="26" name="Text 24"/>
          <p:cNvSpPr/>
          <p:nvPr/>
        </p:nvSpPr>
        <p:spPr>
          <a:xfrm>
            <a:off x="8183880" y="2706624"/>
            <a:ext cx="109728" cy="128016"/>
          </a:xfrm>
          <a:prstGeom prst="rect">
            <a:avLst/>
          </a:prstGeom>
          <a:noFill/>
          <a:ln/>
        </p:spPr>
        <p:txBody>
          <a:bodyPr wrap="square" lIns="0" tIns="0" rIns="0" bIns="0" rtlCol="0" anchor="ctr"/>
          <a:lstStyle/>
          <a:p>
            <a:pPr indent="0" marL="0">
              <a:buNone/>
            </a:pPr>
            <a:r>
              <a:rPr lang="en-US" sz="950" dirty="0">
                <a:solidFill>
                  <a:srgbClr val="15C99B"/>
                </a:solidFill>
              </a:rPr>
              <a:t>•</a:t>
            </a:r>
            <a:endParaRPr lang="en-US" sz="950" dirty="0"/>
          </a:p>
        </p:txBody>
      </p:sp>
      <p:sp>
        <p:nvSpPr>
          <p:cNvPr id="27" name="Text 25"/>
          <p:cNvSpPr/>
          <p:nvPr/>
        </p:nvSpPr>
        <p:spPr>
          <a:xfrm>
            <a:off x="8412480" y="2697480"/>
            <a:ext cx="2331720" cy="164592"/>
          </a:xfrm>
          <a:prstGeom prst="rect">
            <a:avLst/>
          </a:prstGeom>
          <a:noFill/>
          <a:ln/>
        </p:spPr>
        <p:txBody>
          <a:bodyPr wrap="square" lIns="0" tIns="0" rIns="0" bIns="0" rtlCol="0" anchor="ctr"/>
          <a:lstStyle/>
          <a:p>
            <a:pPr indent="0" marL="0">
              <a:buNone/>
            </a:pPr>
            <a:r>
              <a:rPr lang="en-US" sz="870" dirty="0">
                <a:solidFill>
                  <a:srgbClr val="E8EDFA"/>
                </a:solidFill>
              </a:rPr>
              <a:t>Risk score is connected to SHAP reasons.</a:t>
            </a:r>
            <a:endParaRPr lang="en-US" sz="870" dirty="0"/>
          </a:p>
        </p:txBody>
      </p:sp>
      <p:sp>
        <p:nvSpPr>
          <p:cNvPr id="28" name="Text 26"/>
          <p:cNvSpPr/>
          <p:nvPr/>
        </p:nvSpPr>
        <p:spPr>
          <a:xfrm>
            <a:off x="8183880" y="3227832"/>
            <a:ext cx="109728" cy="128016"/>
          </a:xfrm>
          <a:prstGeom prst="rect">
            <a:avLst/>
          </a:prstGeom>
          <a:noFill/>
          <a:ln/>
        </p:spPr>
        <p:txBody>
          <a:bodyPr wrap="square" lIns="0" tIns="0" rIns="0" bIns="0" rtlCol="0" anchor="ctr"/>
          <a:lstStyle/>
          <a:p>
            <a:pPr indent="0" marL="0">
              <a:buNone/>
            </a:pPr>
            <a:r>
              <a:rPr lang="en-US" sz="950" dirty="0">
                <a:solidFill>
                  <a:srgbClr val="15C99B"/>
                </a:solidFill>
              </a:rPr>
              <a:t>•</a:t>
            </a:r>
            <a:endParaRPr lang="en-US" sz="950" dirty="0"/>
          </a:p>
        </p:txBody>
      </p:sp>
      <p:sp>
        <p:nvSpPr>
          <p:cNvPr id="29" name="Text 27"/>
          <p:cNvSpPr/>
          <p:nvPr/>
        </p:nvSpPr>
        <p:spPr>
          <a:xfrm>
            <a:off x="8412480" y="3218688"/>
            <a:ext cx="2331720" cy="164592"/>
          </a:xfrm>
          <a:prstGeom prst="rect">
            <a:avLst/>
          </a:prstGeom>
          <a:noFill/>
          <a:ln/>
        </p:spPr>
        <p:txBody>
          <a:bodyPr wrap="square" lIns="0" tIns="0" rIns="0" bIns="0" rtlCol="0" anchor="ctr"/>
          <a:lstStyle/>
          <a:p>
            <a:pPr indent="0" marL="0">
              <a:buNone/>
            </a:pPr>
            <a:r>
              <a:rPr lang="en-US" sz="870" dirty="0">
                <a:solidFill>
                  <a:srgbClr val="E8EDFA"/>
                </a:solidFill>
              </a:rPr>
              <a:t>Reasons are connected to retrieved regulatory evidence.</a:t>
            </a:r>
            <a:endParaRPr lang="en-US" sz="870" dirty="0"/>
          </a:p>
        </p:txBody>
      </p:sp>
      <p:sp>
        <p:nvSpPr>
          <p:cNvPr id="30" name="Text 28"/>
          <p:cNvSpPr/>
          <p:nvPr/>
        </p:nvSpPr>
        <p:spPr>
          <a:xfrm>
            <a:off x="8183880" y="3749040"/>
            <a:ext cx="109728" cy="128016"/>
          </a:xfrm>
          <a:prstGeom prst="rect">
            <a:avLst/>
          </a:prstGeom>
          <a:noFill/>
          <a:ln/>
        </p:spPr>
        <p:txBody>
          <a:bodyPr wrap="square" lIns="0" tIns="0" rIns="0" bIns="0" rtlCol="0" anchor="ctr"/>
          <a:lstStyle/>
          <a:p>
            <a:pPr indent="0" marL="0">
              <a:buNone/>
            </a:pPr>
            <a:r>
              <a:rPr lang="en-US" sz="950" dirty="0">
                <a:solidFill>
                  <a:srgbClr val="15C99B"/>
                </a:solidFill>
              </a:rPr>
              <a:t>•</a:t>
            </a:r>
            <a:endParaRPr lang="en-US" sz="950" dirty="0"/>
          </a:p>
        </p:txBody>
      </p:sp>
      <p:sp>
        <p:nvSpPr>
          <p:cNvPr id="31" name="Text 29"/>
          <p:cNvSpPr/>
          <p:nvPr/>
        </p:nvSpPr>
        <p:spPr>
          <a:xfrm>
            <a:off x="8412480" y="3739896"/>
            <a:ext cx="2331720" cy="164592"/>
          </a:xfrm>
          <a:prstGeom prst="rect">
            <a:avLst/>
          </a:prstGeom>
          <a:noFill/>
          <a:ln/>
        </p:spPr>
        <p:txBody>
          <a:bodyPr wrap="square" lIns="0" tIns="0" rIns="0" bIns="0" rtlCol="0" anchor="ctr"/>
          <a:lstStyle/>
          <a:p>
            <a:pPr indent="0" marL="0">
              <a:buNone/>
            </a:pPr>
            <a:r>
              <a:rPr lang="en-US" sz="870" dirty="0">
                <a:solidFill>
                  <a:srgbClr val="E8EDFA"/>
                </a:solidFill>
              </a:rPr>
              <a:t>Generated letters are compared against a no-RAG control.</a:t>
            </a:r>
            <a:endParaRPr lang="en-US" sz="870" dirty="0"/>
          </a:p>
        </p:txBody>
      </p:sp>
      <p:sp>
        <p:nvSpPr>
          <p:cNvPr id="32" name="Text 30"/>
          <p:cNvSpPr/>
          <p:nvPr/>
        </p:nvSpPr>
        <p:spPr>
          <a:xfrm>
            <a:off x="8183880" y="4270248"/>
            <a:ext cx="109728" cy="128016"/>
          </a:xfrm>
          <a:prstGeom prst="rect">
            <a:avLst/>
          </a:prstGeom>
          <a:noFill/>
          <a:ln/>
        </p:spPr>
        <p:txBody>
          <a:bodyPr wrap="square" lIns="0" tIns="0" rIns="0" bIns="0" rtlCol="0" anchor="ctr"/>
          <a:lstStyle/>
          <a:p>
            <a:pPr indent="0" marL="0">
              <a:buNone/>
            </a:pPr>
            <a:r>
              <a:rPr lang="en-US" sz="950" dirty="0">
                <a:solidFill>
                  <a:srgbClr val="15C99B"/>
                </a:solidFill>
              </a:rPr>
              <a:t>•</a:t>
            </a:r>
            <a:endParaRPr lang="en-US" sz="950" dirty="0"/>
          </a:p>
        </p:txBody>
      </p:sp>
      <p:sp>
        <p:nvSpPr>
          <p:cNvPr id="33" name="Text 31"/>
          <p:cNvSpPr/>
          <p:nvPr/>
        </p:nvSpPr>
        <p:spPr>
          <a:xfrm>
            <a:off x="8412480" y="4261104"/>
            <a:ext cx="2331720" cy="164592"/>
          </a:xfrm>
          <a:prstGeom prst="rect">
            <a:avLst/>
          </a:prstGeom>
          <a:noFill/>
          <a:ln/>
        </p:spPr>
        <p:txBody>
          <a:bodyPr wrap="square" lIns="0" tIns="0" rIns="0" bIns="0" rtlCol="0" anchor="ctr"/>
          <a:lstStyle/>
          <a:p>
            <a:pPr indent="0" marL="0">
              <a:buNone/>
            </a:pPr>
            <a:r>
              <a:rPr lang="en-US" sz="870" dirty="0">
                <a:solidFill>
                  <a:srgbClr val="E8EDFA"/>
                </a:solidFill>
              </a:rPr>
              <a:t>The output includes an explicit quality assessment.</a:t>
            </a:r>
            <a:endParaRPr lang="en-US" sz="870" dirty="0"/>
          </a:p>
        </p:txBody>
      </p:sp>
      <p:pic>
        <p:nvPicPr>
          <p:cNvPr id="34" name="Image 0" descr="/mnt/data/demo_qr.png">    </p:cNvPr>
          <p:cNvPicPr>
            <a:picLocks noChangeAspect="1"/>
          </p:cNvPicPr>
          <p:nvPr/>
        </p:nvPicPr>
        <p:blipFill>
          <a:blip r:embed="rId2"/>
          <a:stretch>
            <a:fillRect/>
          </a:stretch>
        </p:blipFill>
        <p:spPr>
          <a:xfrm>
            <a:off x="10177272" y="5138928"/>
            <a:ext cx="566928" cy="566928"/>
          </a:xfrm>
          <a:prstGeom prst="rect">
            <a:avLst/>
          </a:prstGeom>
        </p:spPr>
      </p:pic>
      <p:sp>
        <p:nvSpPr>
          <p:cNvPr id="35" name="Text 32"/>
          <p:cNvSpPr/>
          <p:nvPr/>
        </p:nvSpPr>
        <p:spPr>
          <a:xfrm>
            <a:off x="868680" y="6035040"/>
            <a:ext cx="10149840" cy="182880"/>
          </a:xfrm>
          <a:prstGeom prst="rect">
            <a:avLst/>
          </a:prstGeom>
          <a:noFill/>
          <a:ln/>
        </p:spPr>
        <p:txBody>
          <a:bodyPr wrap="square" lIns="0" tIns="0" rIns="0" bIns="0" rtlCol="0" anchor="ctr"/>
          <a:lstStyle/>
          <a:p>
            <a:pPr algn="ctr" indent="0" marL="0">
              <a:buNone/>
            </a:pPr>
            <a:r>
              <a:rPr lang="en-US" sz="980" b="1" dirty="0">
                <a:solidFill>
                  <a:srgbClr val="F4C95D"/>
                </a:solidFill>
              </a:rPr>
              <a:t>Static reproducible demo: saved artifacts, no live API calls.</a:t>
            </a:r>
            <a:endParaRPr lang="en-US" sz="980" dirty="0"/>
          </a:p>
        </p:txBody>
      </p:sp>
      <p:sp>
        <p:nvSpPr>
          <p:cNvPr id="36" name="Text 33"/>
          <p:cNvSpPr/>
          <p:nvPr/>
        </p:nvSpPr>
        <p:spPr>
          <a:xfrm>
            <a:off x="502920" y="6537960"/>
            <a:ext cx="10607040" cy="146304"/>
          </a:xfrm>
          <a:prstGeom prst="rect">
            <a:avLst/>
          </a:prstGeom>
          <a:noFill/>
          <a:ln/>
        </p:spPr>
        <p:txBody>
          <a:bodyPr wrap="square" lIns="0" tIns="0" rIns="0" bIns="0" rtlCol="0" anchor="ctr"/>
          <a:lstStyle/>
          <a:p>
            <a:pPr indent="0" marL="0">
              <a:buNone/>
            </a:pPr>
            <a:r>
              <a:rPr lang="en-US" sz="680" dirty="0">
                <a:solidFill>
                  <a:srgbClr val="7885AA"/>
                </a:solidFill>
              </a:rPr>
              <a:t>Rubric: Demo — show the working application.</a:t>
            </a:r>
            <a:endParaRPr lang="en-US" sz="680" dirty="0"/>
          </a:p>
        </p:txBody>
      </p:sp>
      <p:sp>
        <p:nvSpPr>
          <p:cNvPr id="37" name="Text 34"/>
          <p:cNvSpPr/>
          <p:nvPr/>
        </p:nvSpPr>
        <p:spPr>
          <a:xfrm>
            <a:off x="11292840" y="6492240"/>
            <a:ext cx="320040" cy="146304"/>
          </a:xfrm>
          <a:prstGeom prst="rect">
            <a:avLst/>
          </a:prstGeom>
          <a:noFill/>
          <a:ln/>
        </p:spPr>
        <p:txBody>
          <a:bodyPr wrap="square" lIns="0" tIns="0" rIns="0" bIns="0" rtlCol="0" anchor="ctr"/>
          <a:lstStyle/>
          <a:p>
            <a:pPr algn="r" indent="0" marL="0">
              <a:buNone/>
            </a:pPr>
            <a:r>
              <a:rPr lang="en-US" sz="780" b="1" dirty="0">
                <a:solidFill>
                  <a:srgbClr val="7885AA"/>
                </a:solidFill>
              </a:rPr>
              <a:t>08</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024"/>
        </a:solidFill>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38D9F2">
              <a:alpha val="45000"/>
            </a:srgbClr>
          </a:solidFill>
          <a:ln w="12700">
            <a:solidFill>
              <a:srgbClr val="FFFFFF">
                <a:alpha val="0"/>
              </a:srgbClr>
            </a:solidFill>
            <a:prstDash val="solid"/>
          </a:ln>
        </p:spPr>
      </p:sp>
      <p:sp>
        <p:nvSpPr>
          <p:cNvPr id="3" name="Shape 1"/>
          <p:cNvSpPr/>
          <p:nvPr/>
        </p:nvSpPr>
        <p:spPr>
          <a:xfrm>
            <a:off x="0" y="6821424"/>
            <a:ext cx="12191695" cy="36576"/>
          </a:xfrm>
          <a:prstGeom prst="rect">
            <a:avLst/>
          </a:prstGeom>
          <a:solidFill>
            <a:srgbClr val="3A7AFE">
              <a:alpha val="30000"/>
            </a:srgbClr>
          </a:solidFill>
          <a:ln w="12700">
            <a:solidFill>
              <a:srgbClr val="FFFFFF">
                <a:alpha val="0"/>
              </a:srgbClr>
            </a:solidFill>
            <a:prstDash val="solid"/>
          </a:ln>
        </p:spPr>
      </p:sp>
      <p:sp>
        <p:nvSpPr>
          <p:cNvPr id="4" name="Text 2"/>
          <p:cNvSpPr/>
          <p:nvPr/>
        </p:nvSpPr>
        <p:spPr>
          <a:xfrm>
            <a:off x="502920" y="228600"/>
            <a:ext cx="2606040" cy="164592"/>
          </a:xfrm>
          <a:prstGeom prst="rect">
            <a:avLst/>
          </a:prstGeom>
          <a:noFill/>
          <a:ln/>
        </p:spPr>
        <p:txBody>
          <a:bodyPr wrap="square" lIns="0" tIns="0" rIns="0" bIns="0" rtlCol="0" anchor="ctr"/>
          <a:lstStyle/>
          <a:p>
            <a:pPr indent="0" marL="0">
              <a:buNone/>
            </a:pPr>
            <a:r>
              <a:rPr lang="en-US" sz="830" b="1" spc="170" kern="0" dirty="0">
                <a:solidFill>
                  <a:srgbClr val="38D9F2"/>
                </a:solidFill>
              </a:rPr>
              <a:t>TAKEAWAYS</a:t>
            </a:r>
            <a:endParaRPr lang="en-US" sz="830" dirty="0"/>
          </a:p>
        </p:txBody>
      </p:sp>
      <p:sp>
        <p:nvSpPr>
          <p:cNvPr id="5" name="Text 3"/>
          <p:cNvSpPr/>
          <p:nvPr/>
        </p:nvSpPr>
        <p:spPr>
          <a:xfrm>
            <a:off x="502920" y="502920"/>
            <a:ext cx="9509760" cy="457200"/>
          </a:xfrm>
          <a:prstGeom prst="rect">
            <a:avLst/>
          </a:prstGeom>
          <a:noFill/>
          <a:ln/>
        </p:spPr>
        <p:txBody>
          <a:bodyPr wrap="square" lIns="0" tIns="0" rIns="0" bIns="0" rtlCol="0" anchor="ctr"/>
          <a:lstStyle/>
          <a:p>
            <a:pPr indent="0" marL="0">
              <a:buNone/>
            </a:pPr>
            <a:r>
              <a:rPr lang="en-US" sz="2350" b="1" dirty="0">
                <a:solidFill>
                  <a:srgbClr val="F8FAFF"/>
                </a:solidFill>
                <a:latin typeface="Aptos Display" pitchFamily="34" charset="0"/>
                <a:ea typeface="Aptos Display" pitchFamily="34" charset="-122"/>
                <a:cs typeface="Aptos Display" pitchFamily="34" charset="-120"/>
              </a:rPr>
              <a:t>The classifier was only one layer of the solution</a:t>
            </a:r>
            <a:endParaRPr lang="en-US" sz="2350" dirty="0"/>
          </a:p>
        </p:txBody>
      </p:sp>
      <p:sp>
        <p:nvSpPr>
          <p:cNvPr id="6" name="Text 4"/>
          <p:cNvSpPr/>
          <p:nvPr/>
        </p:nvSpPr>
        <p:spPr>
          <a:xfrm>
            <a:off x="9966960" y="292608"/>
            <a:ext cx="1719072" cy="164592"/>
          </a:xfrm>
          <a:prstGeom prst="rect">
            <a:avLst/>
          </a:prstGeom>
          <a:noFill/>
          <a:ln/>
        </p:spPr>
        <p:txBody>
          <a:bodyPr wrap="square" lIns="0" tIns="0" rIns="0" bIns="0" rtlCol="0" anchor="ctr"/>
          <a:lstStyle/>
          <a:p>
            <a:pPr algn="r" indent="0" marL="0">
              <a:buNone/>
            </a:pPr>
            <a:r>
              <a:rPr lang="en-US" sz="870" b="1" dirty="0">
                <a:solidFill>
                  <a:srgbClr val="AAB5D6"/>
                </a:solidFill>
              </a:rPr>
              <a:t>Sidd · 5:20–5:40</a:t>
            </a:r>
            <a:endParaRPr lang="en-US" sz="870" dirty="0"/>
          </a:p>
        </p:txBody>
      </p:sp>
      <p:sp>
        <p:nvSpPr>
          <p:cNvPr id="7" name="Shape 5"/>
          <p:cNvSpPr/>
          <p:nvPr/>
        </p:nvSpPr>
        <p:spPr>
          <a:xfrm>
            <a:off x="502920" y="1042416"/>
            <a:ext cx="11109960" cy="0"/>
          </a:xfrm>
          <a:prstGeom prst="line">
            <a:avLst/>
          </a:prstGeom>
          <a:noFill/>
          <a:ln w="12700">
            <a:solidFill>
              <a:srgbClr val="2A3866"/>
            </a:solidFill>
            <a:prstDash val="solid"/>
          </a:ln>
        </p:spPr>
      </p:sp>
      <p:sp>
        <p:nvSpPr>
          <p:cNvPr id="8" name="Text 6"/>
          <p:cNvSpPr/>
          <p:nvPr/>
        </p:nvSpPr>
        <p:spPr>
          <a:xfrm>
            <a:off x="566928" y="1234440"/>
            <a:ext cx="6400800" cy="292608"/>
          </a:xfrm>
          <a:prstGeom prst="rect">
            <a:avLst/>
          </a:prstGeom>
          <a:noFill/>
          <a:ln/>
        </p:spPr>
        <p:txBody>
          <a:bodyPr wrap="square" lIns="0" tIns="0" rIns="0" bIns="0" rtlCol="0" anchor="ctr"/>
          <a:lstStyle/>
          <a:p>
            <a:pPr indent="0" marL="0">
              <a:buNone/>
            </a:pPr>
            <a:r>
              <a:rPr lang="en-US" sz="1700" b="1" dirty="0">
                <a:solidFill>
                  <a:srgbClr val="F8FAFF"/>
                </a:solidFill>
              </a:rPr>
              <a:t>What a production-minded review would care about:</a:t>
            </a:r>
            <a:endParaRPr lang="en-US" sz="1700" dirty="0"/>
          </a:p>
        </p:txBody>
      </p:sp>
      <p:sp>
        <p:nvSpPr>
          <p:cNvPr id="9" name="Text 7"/>
          <p:cNvSpPr/>
          <p:nvPr/>
        </p:nvSpPr>
        <p:spPr>
          <a:xfrm>
            <a:off x="749808" y="1874520"/>
            <a:ext cx="256032" cy="182880"/>
          </a:xfrm>
          <a:prstGeom prst="rect">
            <a:avLst/>
          </a:prstGeom>
          <a:noFill/>
          <a:ln/>
        </p:spPr>
        <p:txBody>
          <a:bodyPr wrap="square" lIns="0" tIns="0" rIns="0" bIns="0" rtlCol="0" anchor="ctr"/>
          <a:lstStyle/>
          <a:p>
            <a:pPr indent="0" marL="0">
              <a:buNone/>
            </a:pPr>
            <a:r>
              <a:rPr lang="en-US" sz="900" b="1" dirty="0">
                <a:solidFill>
                  <a:srgbClr val="3A7AFE"/>
                </a:solidFill>
              </a:rPr>
              <a:t>1</a:t>
            </a:r>
            <a:endParaRPr lang="en-US" sz="900" dirty="0"/>
          </a:p>
        </p:txBody>
      </p:sp>
      <p:sp>
        <p:nvSpPr>
          <p:cNvPr id="10" name="Shape 8"/>
          <p:cNvSpPr/>
          <p:nvPr/>
        </p:nvSpPr>
        <p:spPr>
          <a:xfrm>
            <a:off x="1133856" y="1965960"/>
            <a:ext cx="411480" cy="0"/>
          </a:xfrm>
          <a:prstGeom prst="line">
            <a:avLst/>
          </a:prstGeom>
          <a:noFill/>
          <a:ln w="12700">
            <a:solidFill>
              <a:srgbClr val="2A3866"/>
            </a:solidFill>
            <a:prstDash val="solid"/>
          </a:ln>
        </p:spPr>
      </p:sp>
      <p:sp>
        <p:nvSpPr>
          <p:cNvPr id="11" name="Text 9"/>
          <p:cNvSpPr/>
          <p:nvPr/>
        </p:nvSpPr>
        <p:spPr>
          <a:xfrm>
            <a:off x="1719072" y="1828800"/>
            <a:ext cx="4389120" cy="219456"/>
          </a:xfrm>
          <a:prstGeom prst="rect">
            <a:avLst/>
          </a:prstGeom>
          <a:noFill/>
          <a:ln/>
        </p:spPr>
        <p:txBody>
          <a:bodyPr wrap="square" lIns="0" tIns="0" rIns="0" bIns="0" rtlCol="0" anchor="ctr"/>
          <a:lstStyle/>
          <a:p>
            <a:pPr indent="0" marL="0">
              <a:buNone/>
            </a:pPr>
            <a:r>
              <a:rPr lang="en-US" sz="1350" b="1" dirty="0">
                <a:solidFill>
                  <a:srgbClr val="F8FAFF"/>
                </a:solidFill>
              </a:rPr>
              <a:t>Leakage-aware target and temporal validation</a:t>
            </a:r>
            <a:endParaRPr lang="en-US" sz="1350" dirty="0"/>
          </a:p>
        </p:txBody>
      </p:sp>
      <p:sp>
        <p:nvSpPr>
          <p:cNvPr id="12" name="Text 10"/>
          <p:cNvSpPr/>
          <p:nvPr/>
        </p:nvSpPr>
        <p:spPr>
          <a:xfrm>
            <a:off x="6400800" y="1856232"/>
            <a:ext cx="4114800" cy="182880"/>
          </a:xfrm>
          <a:prstGeom prst="rect">
            <a:avLst/>
          </a:prstGeom>
          <a:noFill/>
          <a:ln/>
        </p:spPr>
        <p:txBody>
          <a:bodyPr wrap="square" lIns="0" tIns="0" rIns="0" bIns="0" rtlCol="0" anchor="ctr"/>
          <a:lstStyle/>
          <a:p>
            <a:pPr indent="0" marL="0">
              <a:buNone/>
            </a:pPr>
            <a:r>
              <a:rPr lang="en-US" sz="970" dirty="0">
                <a:solidFill>
                  <a:srgbClr val="AAB5D6"/>
                </a:solidFill>
              </a:rPr>
              <a:t>Avoid inflated performance and deployment surprise.</a:t>
            </a:r>
            <a:endParaRPr lang="en-US" sz="970" dirty="0"/>
          </a:p>
        </p:txBody>
      </p:sp>
      <p:sp>
        <p:nvSpPr>
          <p:cNvPr id="13" name="Text 11"/>
          <p:cNvSpPr/>
          <p:nvPr/>
        </p:nvSpPr>
        <p:spPr>
          <a:xfrm>
            <a:off x="749808" y="2697480"/>
            <a:ext cx="256032" cy="182880"/>
          </a:xfrm>
          <a:prstGeom prst="rect">
            <a:avLst/>
          </a:prstGeom>
          <a:noFill/>
          <a:ln/>
        </p:spPr>
        <p:txBody>
          <a:bodyPr wrap="square" lIns="0" tIns="0" rIns="0" bIns="0" rtlCol="0" anchor="ctr"/>
          <a:lstStyle/>
          <a:p>
            <a:pPr indent="0" marL="0">
              <a:buNone/>
            </a:pPr>
            <a:r>
              <a:rPr lang="en-US" sz="900" b="1" dirty="0">
                <a:solidFill>
                  <a:srgbClr val="F4C95D"/>
                </a:solidFill>
              </a:rPr>
              <a:t>2</a:t>
            </a:r>
            <a:endParaRPr lang="en-US" sz="900" dirty="0"/>
          </a:p>
        </p:txBody>
      </p:sp>
      <p:sp>
        <p:nvSpPr>
          <p:cNvPr id="14" name="Shape 12"/>
          <p:cNvSpPr/>
          <p:nvPr/>
        </p:nvSpPr>
        <p:spPr>
          <a:xfrm>
            <a:off x="1133856" y="2788920"/>
            <a:ext cx="411480" cy="0"/>
          </a:xfrm>
          <a:prstGeom prst="line">
            <a:avLst/>
          </a:prstGeom>
          <a:noFill/>
          <a:ln w="12700">
            <a:solidFill>
              <a:srgbClr val="2A3866"/>
            </a:solidFill>
            <a:prstDash val="solid"/>
          </a:ln>
        </p:spPr>
      </p:sp>
      <p:sp>
        <p:nvSpPr>
          <p:cNvPr id="15" name="Text 13"/>
          <p:cNvSpPr/>
          <p:nvPr/>
        </p:nvSpPr>
        <p:spPr>
          <a:xfrm>
            <a:off x="1719072" y="2651760"/>
            <a:ext cx="4389120" cy="219456"/>
          </a:xfrm>
          <a:prstGeom prst="rect">
            <a:avLst/>
          </a:prstGeom>
          <a:noFill/>
          <a:ln/>
        </p:spPr>
        <p:txBody>
          <a:bodyPr wrap="square" lIns="0" tIns="0" rIns="0" bIns="0" rtlCol="0" anchor="ctr"/>
          <a:lstStyle/>
          <a:p>
            <a:pPr indent="0" marL="0">
              <a:buNone/>
            </a:pPr>
            <a:r>
              <a:rPr lang="en-US" sz="1350" b="1" dirty="0">
                <a:solidFill>
                  <a:srgbClr val="F8FAFF"/>
                </a:solidFill>
              </a:rPr>
              <a:t>Calibrated risk ranking with policy caps</a:t>
            </a:r>
            <a:endParaRPr lang="en-US" sz="1350" dirty="0"/>
          </a:p>
        </p:txBody>
      </p:sp>
      <p:sp>
        <p:nvSpPr>
          <p:cNvPr id="16" name="Text 14"/>
          <p:cNvSpPr/>
          <p:nvPr/>
        </p:nvSpPr>
        <p:spPr>
          <a:xfrm>
            <a:off x="6400800" y="2679192"/>
            <a:ext cx="4114800" cy="182880"/>
          </a:xfrm>
          <a:prstGeom prst="rect">
            <a:avLst/>
          </a:prstGeom>
          <a:noFill/>
          <a:ln/>
        </p:spPr>
        <p:txBody>
          <a:bodyPr wrap="square" lIns="0" tIns="0" rIns="0" bIns="0" rtlCol="0" anchor="ctr"/>
          <a:lstStyle/>
          <a:p>
            <a:pPr indent="0" marL="0">
              <a:buNone/>
            </a:pPr>
            <a:r>
              <a:rPr lang="en-US" sz="970" dirty="0">
                <a:solidFill>
                  <a:srgbClr val="AAB5D6"/>
                </a:solidFill>
              </a:rPr>
              <a:t>Make the model usable under operational constraints.</a:t>
            </a:r>
            <a:endParaRPr lang="en-US" sz="970" dirty="0"/>
          </a:p>
        </p:txBody>
      </p:sp>
      <p:sp>
        <p:nvSpPr>
          <p:cNvPr id="17" name="Text 15"/>
          <p:cNvSpPr/>
          <p:nvPr/>
        </p:nvSpPr>
        <p:spPr>
          <a:xfrm>
            <a:off x="749808" y="3520440"/>
            <a:ext cx="256032" cy="182880"/>
          </a:xfrm>
          <a:prstGeom prst="rect">
            <a:avLst/>
          </a:prstGeom>
          <a:noFill/>
          <a:ln/>
        </p:spPr>
        <p:txBody>
          <a:bodyPr wrap="square" lIns="0" tIns="0" rIns="0" bIns="0" rtlCol="0" anchor="ctr"/>
          <a:lstStyle/>
          <a:p>
            <a:pPr indent="0" marL="0">
              <a:buNone/>
            </a:pPr>
            <a:r>
              <a:rPr lang="en-US" sz="900" b="1" dirty="0">
                <a:solidFill>
                  <a:srgbClr val="15C99B"/>
                </a:solidFill>
              </a:rPr>
              <a:t>3</a:t>
            </a:r>
            <a:endParaRPr lang="en-US" sz="900" dirty="0"/>
          </a:p>
        </p:txBody>
      </p:sp>
      <p:sp>
        <p:nvSpPr>
          <p:cNvPr id="18" name="Shape 16"/>
          <p:cNvSpPr/>
          <p:nvPr/>
        </p:nvSpPr>
        <p:spPr>
          <a:xfrm>
            <a:off x="1133856" y="3611880"/>
            <a:ext cx="411480" cy="0"/>
          </a:xfrm>
          <a:prstGeom prst="line">
            <a:avLst/>
          </a:prstGeom>
          <a:noFill/>
          <a:ln w="12700">
            <a:solidFill>
              <a:srgbClr val="2A3866"/>
            </a:solidFill>
            <a:prstDash val="solid"/>
          </a:ln>
        </p:spPr>
      </p:sp>
      <p:sp>
        <p:nvSpPr>
          <p:cNvPr id="19" name="Text 17"/>
          <p:cNvSpPr/>
          <p:nvPr/>
        </p:nvSpPr>
        <p:spPr>
          <a:xfrm>
            <a:off x="1719072" y="3474720"/>
            <a:ext cx="4389120" cy="219456"/>
          </a:xfrm>
          <a:prstGeom prst="rect">
            <a:avLst/>
          </a:prstGeom>
          <a:noFill/>
          <a:ln/>
        </p:spPr>
        <p:txBody>
          <a:bodyPr wrap="square" lIns="0" tIns="0" rIns="0" bIns="0" rtlCol="0" anchor="ctr"/>
          <a:lstStyle/>
          <a:p>
            <a:pPr indent="0" marL="0">
              <a:buNone/>
            </a:pPr>
            <a:r>
              <a:rPr lang="en-US" sz="1350" b="1" dirty="0">
                <a:solidFill>
                  <a:srgbClr val="F8FAFF"/>
                </a:solidFill>
              </a:rPr>
              <a:t>SHAP + regulatory RAG + explicit judging</a:t>
            </a:r>
            <a:endParaRPr lang="en-US" sz="1350" dirty="0"/>
          </a:p>
        </p:txBody>
      </p:sp>
      <p:sp>
        <p:nvSpPr>
          <p:cNvPr id="20" name="Text 18"/>
          <p:cNvSpPr/>
          <p:nvPr/>
        </p:nvSpPr>
        <p:spPr>
          <a:xfrm>
            <a:off x="6400800" y="3502152"/>
            <a:ext cx="4114800" cy="182880"/>
          </a:xfrm>
          <a:prstGeom prst="rect">
            <a:avLst/>
          </a:prstGeom>
          <a:noFill/>
          <a:ln/>
        </p:spPr>
        <p:txBody>
          <a:bodyPr wrap="square" lIns="0" tIns="0" rIns="0" bIns="0" rtlCol="0" anchor="ctr"/>
          <a:lstStyle/>
          <a:p>
            <a:pPr indent="0" marL="0">
              <a:buNone/>
            </a:pPr>
            <a:r>
              <a:rPr lang="en-US" sz="970" dirty="0">
                <a:solidFill>
                  <a:srgbClr val="AAB5D6"/>
                </a:solidFill>
              </a:rPr>
              <a:t>Create an auditable explanation trail instead of fluent text.</a:t>
            </a:r>
            <a:endParaRPr lang="en-US" sz="970" dirty="0"/>
          </a:p>
        </p:txBody>
      </p:sp>
      <p:sp>
        <p:nvSpPr>
          <p:cNvPr id="21" name="Shape 19"/>
          <p:cNvSpPr/>
          <p:nvPr/>
        </p:nvSpPr>
        <p:spPr>
          <a:xfrm>
            <a:off x="960120" y="4892040"/>
            <a:ext cx="10149840" cy="768096"/>
          </a:xfrm>
          <a:prstGeom prst="roundRect">
            <a:avLst>
              <a:gd name="adj" fmla="val 7143"/>
            </a:avLst>
          </a:prstGeom>
          <a:solidFill>
            <a:srgbClr val="162657"/>
          </a:solidFill>
          <a:ln w="10160">
            <a:solidFill>
              <a:srgbClr val="F4C95D">
                <a:alpha val="82000"/>
              </a:srgbClr>
            </a:solidFill>
            <a:prstDash val="solid"/>
          </a:ln>
        </p:spPr>
      </p:sp>
      <p:sp>
        <p:nvSpPr>
          <p:cNvPr id="22" name="Text 20"/>
          <p:cNvSpPr/>
          <p:nvPr/>
        </p:nvSpPr>
        <p:spPr>
          <a:xfrm>
            <a:off x="1234440" y="5102352"/>
            <a:ext cx="914400" cy="164592"/>
          </a:xfrm>
          <a:prstGeom prst="rect">
            <a:avLst/>
          </a:prstGeom>
          <a:noFill/>
          <a:ln/>
        </p:spPr>
        <p:txBody>
          <a:bodyPr wrap="square" lIns="0" tIns="0" rIns="0" bIns="0" rtlCol="0" anchor="ctr"/>
          <a:lstStyle/>
          <a:p>
            <a:pPr indent="0" marL="0">
              <a:buNone/>
            </a:pPr>
            <a:r>
              <a:rPr lang="en-US" sz="830" b="1" spc="110" kern="0" dirty="0">
                <a:solidFill>
                  <a:srgbClr val="F4C95D"/>
                </a:solidFill>
              </a:rPr>
              <a:t>Next steps</a:t>
            </a:r>
            <a:endParaRPr lang="en-US" sz="830" dirty="0"/>
          </a:p>
        </p:txBody>
      </p:sp>
      <p:sp>
        <p:nvSpPr>
          <p:cNvPr id="23" name="Text 21"/>
          <p:cNvSpPr/>
          <p:nvPr/>
        </p:nvSpPr>
        <p:spPr>
          <a:xfrm>
            <a:off x="2331720" y="5084064"/>
            <a:ext cx="8138160" cy="182880"/>
          </a:xfrm>
          <a:prstGeom prst="rect">
            <a:avLst/>
          </a:prstGeom>
          <a:noFill/>
          <a:ln/>
        </p:spPr>
        <p:txBody>
          <a:bodyPr wrap="square" lIns="0" tIns="0" rIns="0" bIns="0" rtlCol="0" anchor="ctr"/>
          <a:lstStyle/>
          <a:p>
            <a:pPr algn="ctr" indent="0" marL="0">
              <a:buNone/>
            </a:pPr>
            <a:r>
              <a:rPr lang="en-US" sz="1020" b="1" dirty="0">
                <a:solidFill>
                  <a:srgbClr val="E8EDFA"/>
                </a:solidFill>
              </a:rPr>
              <a:t>larger evaluation · fair-lending / proxy-risk review · rule-based legal validators · monitoring · compliance sign-off</a:t>
            </a:r>
            <a:endParaRPr lang="en-US" sz="1020" dirty="0"/>
          </a:p>
        </p:txBody>
      </p:sp>
      <p:sp>
        <p:nvSpPr>
          <p:cNvPr id="24" name="Text 22"/>
          <p:cNvSpPr/>
          <p:nvPr/>
        </p:nvSpPr>
        <p:spPr>
          <a:xfrm>
            <a:off x="1097280" y="5989320"/>
            <a:ext cx="10012680" cy="347472"/>
          </a:xfrm>
          <a:prstGeom prst="rect">
            <a:avLst/>
          </a:prstGeom>
          <a:noFill/>
          <a:ln/>
        </p:spPr>
        <p:txBody>
          <a:bodyPr wrap="square" lIns="0" tIns="0" rIns="0" bIns="0" rtlCol="0" anchor="ctr"/>
          <a:lstStyle/>
          <a:p>
            <a:pPr algn="ctr" indent="0" marL="0">
              <a:buNone/>
            </a:pPr>
            <a:r>
              <a:rPr lang="en-US" sz="2200" b="1" dirty="0">
                <a:solidFill>
                  <a:srgbClr val="F8FAFF"/>
                </a:solidFill>
                <a:latin typeface="Aptos Display" pitchFamily="34" charset="0"/>
                <a:ea typeface="Aptos Display" pitchFamily="34" charset="-122"/>
                <a:cs typeface="Aptos Display" pitchFamily="34" charset="-120"/>
              </a:rPr>
              <a:t>CreditRiskRAG turns a risk score into an auditable decision workflow.</a:t>
            </a:r>
            <a:endParaRPr lang="en-US" sz="2200" dirty="0"/>
          </a:p>
        </p:txBody>
      </p:sp>
      <p:sp>
        <p:nvSpPr>
          <p:cNvPr id="25" name="Text 23"/>
          <p:cNvSpPr/>
          <p:nvPr/>
        </p:nvSpPr>
        <p:spPr>
          <a:xfrm>
            <a:off x="502920" y="6537960"/>
            <a:ext cx="10607040" cy="146304"/>
          </a:xfrm>
          <a:prstGeom prst="rect">
            <a:avLst/>
          </a:prstGeom>
          <a:noFill/>
          <a:ln/>
        </p:spPr>
        <p:txBody>
          <a:bodyPr wrap="square" lIns="0" tIns="0" rIns="0" bIns="0" rtlCol="0" anchor="ctr"/>
          <a:lstStyle/>
          <a:p>
            <a:pPr indent="0" marL="0">
              <a:buNone/>
            </a:pPr>
            <a:r>
              <a:rPr lang="en-US" sz="680" dirty="0">
                <a:solidFill>
                  <a:srgbClr val="7885AA"/>
                </a:solidFill>
              </a:rPr>
              <a:t>Thank you.</a:t>
            </a:r>
            <a:endParaRPr lang="en-US" sz="680" dirty="0"/>
          </a:p>
        </p:txBody>
      </p:sp>
      <p:sp>
        <p:nvSpPr>
          <p:cNvPr id="26" name="Text 24"/>
          <p:cNvSpPr/>
          <p:nvPr/>
        </p:nvSpPr>
        <p:spPr>
          <a:xfrm>
            <a:off x="11292840" y="6492240"/>
            <a:ext cx="320040" cy="146304"/>
          </a:xfrm>
          <a:prstGeom prst="rect">
            <a:avLst/>
          </a:prstGeom>
          <a:noFill/>
          <a:ln/>
        </p:spPr>
        <p:txBody>
          <a:bodyPr wrap="square" lIns="0" tIns="0" rIns="0" bIns="0" rtlCol="0" anchor="ctr"/>
          <a:lstStyle/>
          <a:p>
            <a:pPr algn="r" indent="0" marL="0">
              <a:buNone/>
            </a:pPr>
            <a:r>
              <a:rPr lang="en-US" sz="780" b="1" dirty="0">
                <a:solidFill>
                  <a:srgbClr val="7885AA"/>
                </a:solidFill>
              </a:rPr>
              <a:t>09</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Northeastern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CreditRiskRAG: credit-risk decision trace with RAG explanations</dc:title>
  <dc:subject>CS 6140 Machine Learning Final Project Pre-recorded Presentation</dc:subject>
  <dc:creator>Linda Perez Penaranda, Yashaswi Aryan, Siddharth Agarwal</dc:creator>
  <cp:lastModifiedBy>Linda Perez Penaranda, Yashaswi Aryan, Siddharth Agarwal</cp:lastModifiedBy>
  <cp:revision>1</cp:revision>
  <dcterms:created xsi:type="dcterms:W3CDTF">2026-07-26T02:52:52Z</dcterms:created>
  <dcterms:modified xsi:type="dcterms:W3CDTF">2026-07-26T02:52:52Z</dcterms:modified>
</cp:coreProperties>
</file>